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7.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Åbning" id="{8270608d-66b0-89a3-6578-56a6d7c7cefd}">
          <p14:sldIdLst>
            <p14:sldId id="256"/>
            <p14:sldId id="257"/>
            <p14:sldId id="258"/>
            <p14:sldId id="259"/>
            <p14:sldId id="260"/>
            <p14:sldId id="261"/>
          </p14:sldIdLst>
        </p14:section>
        <p14:section name="Som studerende" id="{50cc320e-3d9b-34e1-5efc-b7fcc0e1507f}">
          <p14:sldIdLst>
            <p14:sldId id="262"/>
            <p14:sldId id="263"/>
            <p14:sldId id="264"/>
            <p14:sldId id="265"/>
            <p14:sldId id="266"/>
            <p14:sldId id="267"/>
            <p14:sldId id="268"/>
            <p14:sldId id="269"/>
          </p14:sldIdLst>
        </p14:section>
        <p14:section name="Prompting" id="{1cb9d1cb-91f9-b0b4-8888-f3afdb9bc3af}">
          <p14:sldIdLst>
            <p14:sldId id="270"/>
            <p14:sldId id="271"/>
            <p14:sldId id="272"/>
            <p14:sldId id="273"/>
            <p14:sldId id="274"/>
            <p14:sldId id="275"/>
            <p14:sldId id="276"/>
          </p14:sldIdLst>
        </p14:section>
        <p14:section name="Excel og data" id="{126ce4de-2af4-e442-9d4e-eaf387735ba4}">
          <p14:sldIdLst>
            <p14:sldId id="277"/>
            <p14:sldId id="278"/>
            <p14:sldId id="279"/>
            <p14:sldId id="280"/>
            <p14:sldId id="281"/>
            <p14:sldId id="282"/>
            <p14:sldId id="283"/>
            <p14:sldId id="284"/>
            <p14:sldId id="285"/>
            <p14:sldId id="286"/>
            <p14:sldId id="287"/>
          </p14:sldIdLst>
        </p14:section>
        <p14:section name="AI i jobbet" id="{20923260-4a1d-0a11-aeaa-3800ce0efa1b}">
          <p14:sldIdLst>
            <p14:sldId id="288"/>
            <p14:sldId id="289"/>
            <p14:sldId id="290"/>
            <p14:sldId id="291"/>
            <p14:sldId id="292"/>
            <p14:sldId id="293"/>
            <p14:sldId id="294"/>
            <p14:sldId id="295"/>
            <p14:sldId id="296"/>
          </p14:sldIdLst>
        </p14:section>
        <p14:section name="Vibecoding" id="{309eab49-84a2-47c3-a8e7-c951813354ba}">
          <p14:sldIdLst>
            <p14:sldId id="297"/>
            <p14:sldId id="298"/>
            <p14:sldId id="299"/>
            <p14:sldId id="300"/>
            <p14:sldId id="301"/>
            <p14:sldId id="302"/>
          </p14:sldIdLst>
        </p14:section>
        <p14:section name="Afrunding" id="{1805b8d7-98c9-97fe-550e-3186418b0461}">
          <p14:sldIdLst>
            <p14:sldId id="303"/>
            <p14:sldId id="304"/>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Ros</c:v>
                </c:pt>
              </c:strCache>
            </c:strRef>
          </c:tx>
          <c:spPr>
            <a:solidFill>
              <a:srgbClr val="2C2C2E"/>
            </a:solidFill>
            <a:effectLst/>
          </c:spPr>
          <c:invertIfNegative val="0"/>
          <c:dLbls>
            <c:numFmt formatCode="0" sourceLinked="0"/>
            <c:txPr>
              <a:bodyPr/>
              <a:lstStyle/>
              <a:p>
                <a:pPr>
                  <a:defRPr b="0" i="0" strike="noStrike" sz="15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C2C2E"/>
              </a:solidFill>
              <a:effectLst/>
            </c:spPr>
          </c:dPt>
          <c:dPt>
            <c:idx val="1"/>
            <c:invertIfNegative val="0"/>
            <c:bubble3D val="0"/>
            <c:spPr>
              <a:solidFill>
                <a:srgbClr val="2C2C2E"/>
              </a:solidFill>
              <a:effectLst/>
            </c:spPr>
          </c:dPt>
          <c:dPt>
            <c:idx val="2"/>
            <c:invertIfNegative val="0"/>
            <c:bubble3D val="0"/>
            <c:spPr>
              <a:solidFill>
                <a:srgbClr val="2C2C2E"/>
              </a:solidFill>
              <a:effectLst/>
            </c:spPr>
          </c:dPt>
          <c:dPt>
            <c:idx val="3"/>
            <c:invertIfNegative val="0"/>
            <c:bubble3D val="0"/>
            <c:spPr>
              <a:solidFill>
                <a:srgbClr val="2C2C2E"/>
              </a:solidFill>
              <a:effectLst/>
            </c:spPr>
          </c:dPt>
          <c:cat>
            <c:multiLvlStrRef>
              <c:f>Sheet1!$A$2:$A$5</c:f>
              <c:multiLvlStrCache>
                <c:ptCount val="4"/>
                <c:lvl>
                  <c:pt idx="0">
                    <c:v>Personale</c:v>
                  </c:pt>
                  <c:pt idx="1">
                    <c:v>Beliggenhed og udsigt</c:v>
                  </c:pt>
                  <c:pt idx="2">
                    <c:v>Morgenmad</c:v>
                  </c:pt>
                  <c:pt idx="3">
                    <c:v>Værelset</c:v>
                  </c:pt>
                </c:lvl>
              </c:multiLvlStrCache>
            </c:multiLvlStrRef>
          </c:cat>
          <c:val>
            <c:numRef>
              <c:f>Sheet1!$B$2:$B$5</c:f>
              <c:numCache>
                <c:formatCode>General</c:formatCode>
                <c:ptCount val="4"/>
                <c:pt idx="0">
                  <c:v>34</c:v>
                </c:pt>
                <c:pt idx="1">
                  <c:v>30</c:v>
                </c:pt>
                <c:pt idx="2">
                  <c:v>27</c:v>
                </c:pt>
                <c:pt idx="3">
                  <c:v>26</c:v>
                </c:pt>
              </c:numCache>
            </c:numRef>
          </c:val>
        </c:ser>
        <c:dLbls>
          <c:numFmt formatCode="0" sourceLinked="0"/>
          <c:txPr>
            <a:bodyPr/>
            <a:lstStyle/>
            <a:p>
              <a:pPr>
                <a:defRPr b="0" i="0" strike="noStrike" sz="15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3A3A3C"/>
            </a:solidFill>
            <a:prstDash val="solid"/>
            <a:round/>
          </a:ln>
        </c:spPr>
        <c:txPr>
          <a:bodyPr/>
          <a:lstStyle/>
          <a:p>
            <a:pPr>
              <a:defRPr sz="15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4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A1A1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Klager</c:v>
                </c:pt>
              </c:strCache>
            </c:strRef>
          </c:tx>
          <c:spPr>
            <a:solidFill>
              <a:srgbClr val="009A92"/>
            </a:solidFill>
            <a:effectLst/>
          </c:spPr>
          <c:invertIfNegative val="0"/>
          <c:dLbls>
            <c:numFmt formatCode="0" sourceLinked="0"/>
            <c:txPr>
              <a:bodyPr/>
              <a:lstStyle/>
              <a:p>
                <a:pPr>
                  <a:defRPr b="0" i="0" strike="noStrike" sz="15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009A92"/>
              </a:solidFill>
              <a:effectLst/>
            </c:spPr>
          </c:dPt>
          <c:dPt>
            <c:idx val="1"/>
            <c:invertIfNegative val="0"/>
            <c:bubble3D val="0"/>
            <c:spPr>
              <a:solidFill>
                <a:srgbClr val="009A92"/>
              </a:solidFill>
              <a:effectLst/>
            </c:spPr>
          </c:dPt>
          <c:dPt>
            <c:idx val="2"/>
            <c:invertIfNegative val="0"/>
            <c:bubble3D val="0"/>
            <c:spPr>
              <a:solidFill>
                <a:srgbClr val="2C2C2E"/>
              </a:solidFill>
              <a:effectLst/>
            </c:spPr>
          </c:dPt>
          <c:dPt>
            <c:idx val="3"/>
            <c:invertIfNegative val="0"/>
            <c:bubble3D val="0"/>
            <c:spPr>
              <a:solidFill>
                <a:srgbClr val="2C2C2E"/>
              </a:solidFill>
              <a:effectLst/>
            </c:spPr>
          </c:dPt>
          <c:dPt>
            <c:idx val="4"/>
            <c:invertIfNegative val="0"/>
            <c:bubble3D val="0"/>
            <c:spPr>
              <a:solidFill>
                <a:srgbClr val="2C2C2E"/>
              </a:solidFill>
              <a:effectLst/>
            </c:spPr>
          </c:dPt>
          <c:cat>
            <c:multiLvlStrRef>
              <c:f>Sheet1!$A$2:$A$6</c:f>
              <c:multiLvlStrCache>
                <c:ptCount val="5"/>
                <c:lvl>
                  <c:pt idx="0">
                    <c:v>Check-in</c:v>
                  </c:pt>
                  <c:pt idx="1">
                    <c:v>Støj</c:v>
                  </c:pt>
                  <c:pt idx="2">
                    <c:v>Rengøring</c:v>
                  </c:pt>
                  <c:pt idx="3">
                    <c:v>Parkering</c:v>
                  </c:pt>
                  <c:pt idx="4">
                    <c:v>Wifi</c:v>
                  </c:pt>
                </c:lvl>
              </c:multiLvlStrCache>
            </c:multiLvlStrRef>
          </c:cat>
          <c:val>
            <c:numRef>
              <c:f>Sheet1!$B$2:$B$6</c:f>
              <c:numCache>
                <c:formatCode>General</c:formatCode>
                <c:ptCount val="5"/>
                <c:pt idx="0">
                  <c:v>19</c:v>
                </c:pt>
                <c:pt idx="1">
                  <c:v>19</c:v>
                </c:pt>
                <c:pt idx="2">
                  <c:v>7</c:v>
                </c:pt>
                <c:pt idx="3">
                  <c:v>6</c:v>
                </c:pt>
                <c:pt idx="4">
                  <c:v>4</c:v>
                </c:pt>
              </c:numCache>
            </c:numRef>
          </c:val>
        </c:ser>
        <c:dLbls>
          <c:numFmt formatCode="0" sourceLinked="0"/>
          <c:txPr>
            <a:bodyPr/>
            <a:lstStyle/>
            <a:p>
              <a:pPr>
                <a:defRPr b="0" i="0" strike="noStrike" sz="15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3A3A3C"/>
            </a:solidFill>
            <a:prstDash val="solid"/>
            <a:round/>
          </a:ln>
        </c:spPr>
        <c:txPr>
          <a:bodyPr/>
          <a:lstStyle/>
          <a:p>
            <a:pPr>
              <a:defRPr sz="15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4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A1A1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Rengøring</c:v>
                </c:pt>
              </c:strCache>
            </c:strRef>
          </c:tx>
          <c:spPr>
            <a:solidFill>
              <a:srgbClr val="2C2C2E"/>
            </a:solidFill>
            <a:effectLst/>
          </c:spPr>
          <c:invertIfNegative val="0"/>
          <c:dLbls>
            <c:numFmt formatCode="0" sourceLinked="0"/>
            <c:txPr>
              <a:bodyPr/>
              <a:lstStyle/>
              <a:p>
                <a:pPr>
                  <a:defRPr b="0" i="0" strike="noStrike" sz="18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C2C2E"/>
              </a:solidFill>
              <a:effectLst/>
            </c:spPr>
          </c:dPt>
          <c:dPt>
            <c:idx val="1"/>
            <c:invertIfNegative val="0"/>
            <c:bubble3D val="0"/>
            <c:spPr>
              <a:solidFill>
                <a:srgbClr val="2C2C2E"/>
              </a:solidFill>
              <a:effectLst/>
            </c:spPr>
          </c:dPt>
          <c:dPt>
            <c:idx val="2"/>
            <c:invertIfNegative val="0"/>
            <c:bubble3D val="0"/>
            <c:spPr>
              <a:solidFill>
                <a:srgbClr val="009A92"/>
              </a:solidFill>
              <a:effectLst/>
            </c:spPr>
          </c:dPt>
          <c:cat>
            <c:multiLvlStrRef>
              <c:f>Sheet1!$A$2:$A$4</c:f>
              <c:multiLvlStrCache>
                <c:ptCount val="3"/>
                <c:lvl>
                  <c:pt idx="0">
                    <c:v>Juli</c:v>
                  </c:pt>
                  <c:pt idx="1">
                    <c:v>August</c:v>
                  </c:pt>
                  <c:pt idx="2">
                    <c:v>September</c:v>
                  </c:pt>
                </c:lvl>
              </c:multiLvlStrCache>
            </c:multiLvlStrRef>
          </c:cat>
          <c:val>
            <c:numRef>
              <c:f>Sheet1!$B$2:$B$4</c:f>
              <c:numCache>
                <c:formatCode>General</c:formatCode>
                <c:ptCount val="3"/>
                <c:pt idx="0">
                  <c:v>0</c:v>
                </c:pt>
                <c:pt idx="1">
                  <c:v>0</c:v>
                </c:pt>
                <c:pt idx="2">
                  <c:v>7</c:v>
                </c:pt>
              </c:numCache>
            </c:numRef>
          </c:val>
        </c:ser>
        <c:dLbls>
          <c:numFmt formatCode="0" sourceLinked="0"/>
          <c:txPr>
            <a:bodyPr/>
            <a:lstStyle/>
            <a:p>
              <a:pPr>
                <a:defRPr b="0" i="0" strike="noStrike" sz="18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A1A1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RevPAR</c:v>
                </c:pt>
              </c:strCache>
            </c:strRef>
          </c:tx>
          <c:spPr>
            <a:solidFill>
              <a:srgbClr val="2C2C2E"/>
            </a:solidFill>
            <a:effectLst/>
          </c:spPr>
          <c:invertIfNegative val="0"/>
          <c:dLbls>
            <c:numFmt formatCode="#,##0&quot; kr.&quot;" sourceLinked="0"/>
            <c:txPr>
              <a:bodyPr/>
              <a:lstStyle/>
              <a:p>
                <a:pPr>
                  <a:defRPr b="0" i="0" strike="noStrike" sz="17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C2C2E"/>
              </a:solidFill>
              <a:effectLst/>
            </c:spPr>
          </c:dPt>
          <c:dPt>
            <c:idx val="1"/>
            <c:invertIfNegative val="0"/>
            <c:bubble3D val="0"/>
            <c:spPr>
              <a:solidFill>
                <a:srgbClr val="2C2C2E"/>
              </a:solidFill>
              <a:effectLst/>
            </c:spPr>
          </c:dPt>
          <c:dPt>
            <c:idx val="2"/>
            <c:invertIfNegative val="0"/>
            <c:bubble3D val="0"/>
            <c:spPr>
              <a:solidFill>
                <a:srgbClr val="009A92"/>
              </a:solidFill>
              <a:effectLst/>
            </c:spPr>
          </c:dPt>
          <c:cat>
            <c:multiLvlStrRef>
              <c:f>Sheet1!$A$2:$A$4</c:f>
              <c:multiLvlStrCache>
                <c:ptCount val="3"/>
                <c:lvl>
                  <c:pt idx="0">
                    <c:v>Juli</c:v>
                  </c:pt>
                  <c:pt idx="1">
                    <c:v>August</c:v>
                  </c:pt>
                  <c:pt idx="2">
                    <c:v>September</c:v>
                  </c:pt>
                </c:lvl>
              </c:multiLvlStrCache>
            </c:multiLvlStrRef>
          </c:cat>
          <c:val>
            <c:numRef>
              <c:f>Sheet1!$B$2:$B$4</c:f>
              <c:numCache>
                <c:formatCode>General</c:formatCode>
                <c:ptCount val="3"/>
                <c:pt idx="0">
                  <c:v>1143</c:v>
                </c:pt>
                <c:pt idx="1">
                  <c:v>1014</c:v>
                </c:pt>
                <c:pt idx="2">
                  <c:v>742</c:v>
                </c:pt>
              </c:numCache>
            </c:numRef>
          </c:val>
        </c:ser>
        <c:dLbls>
          <c:numFmt formatCode="#,##0&quot; kr.&quot;" sourceLinked="0"/>
          <c:txPr>
            <a:bodyPr/>
            <a:lstStyle/>
            <a:p>
              <a:pPr>
                <a:defRPr b="0" i="0" strike="noStrike" sz="17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1600" b="0" i="0" u="none" strike="noStrike">
                <a:solidFill>
                  <a:srgbClr val="A1A1A6"/>
                </a:solidFill>
                <a:latin typeface="+mn-lt"/>
              </a:defRPr>
            </a:pPr>
            <a:endParaRPr lang="en-US"/>
          </a:p>
        </c:txPr>
        <c:crossAx val="2094734552"/>
        <c:crosses val="autoZero"/>
        <c:auto val="1"/>
        <c:lblAlgn val="ctr"/>
        <c:noMultiLvlLbl val="1"/>
      </c:catAx>
      <c:valAx>
        <c:axId val="2094734552"/>
        <c:scaling>
          <c:orientation val="minMax"/>
          <c:max val="135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A1A1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Velkommen. I dag handler det om AI, både mens I studerer, og når I er færdige og ude på arbejdsmarkedet. Fortæl, at timen er bygget op om to regler, som I får om lidt. Fortæl også, at Pocket optager timen, hvis alle er okay med det, og at vi bruger optagelsen senere. Spørg om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i Mentimeter eller hænder op. Spørg opfølgende, hvad de brugte det til, og om nogen har fået et svar, der viste sig at være forkert.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Tag en rigtig opgaveformulering fra et af deres fag, og lad Claude eller ChatGPT skrive en komplet besvarelse foran holdet. Lad dem læse med. Stil derefter spørgsmålet på sliden, og lad dem svare, før du går videre.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Svaret på spørgsmålet er, at det kommer an på, hvor du er. På studiet har du snydt dig selv for læringen, og du kan ikke forsvare besvarelsen til en mundtlig eksamen. I jobbet er det præcis det, din arbejdsgiver betaler for. Samme svar, to verdener. Hele timen er bygget op om den forskel. Den lyse del af præsentationen handler om studiet. Den mørke del handler om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Gennemgå kort, hvad du bruger hvert værktøj til. Claude til studiet på kandidaten og til at bygge. ChatGPT privat og til at skrive prompts til andre modeller. Grok til outbound prospecting for Thirdbase. Claude Code, Cursor, GitHub og Vercel til egne programmer. Claude Design til brand og design systems. HubSpot, Excel, Sheets og Slack i det daglige arbejde. Pocket og Read.ai til fysiske og online møder. Ultrahuman-ringen med Jade, Even Realities-brillerne og Lava Music-guitaren som AI uden skærm. Pointen er, at du bruger AI hver dag, og at de får det meste at se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her er dagens to regler. Når du skal lære, så tænk selv, og brug AI som sparringspartner. Når du skal levere i et job, så brug AI fuldt ud, tag svarene, og lad arbejdsgangene køre. Det er ikke to holdninger til AI. Det er to forskellige formål.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Første del handler om studiet. Her er målet, at I lærer noget, og derfor gælder reglen om at tænke selv.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roller, AI gerne må have, mens I studerer. Sparringspartneren, der stiller spørgsmål og udfordrer jeres argumenter. Forklareren, der forklarer svær teori på flere niveauer og med eksempler fra jeres branche. Kritikeren, der giver feedback på jeres eget udkast ud fra opgavekravene. Og tre roller, den ikke må have. Forfatteren, der skriver opgaven. Kilden, der bliver citeret som fakta. Dommeren, der afgør, hvad der er rigtigt, uden at I forstår hvorfor.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Åbn dit Claude-projekt fra kandidaten, fx User Experience Design eller Webformidling og Webudvikling. Vis, at pensum, noter og opgavekrav ligger som viden i projektet. Bed om et overblik over en tekst, du skal læse. Bed Claude stille dig tre spørgsmål til teksten, og svar live foran holdet. Indsæt til sidst et afsnit, du selv har skrevet, og bed om feedback mod formkravene uden at omskrive det. Budskabet er, at du skriver selv. Claude er min sparringspartner, ikke min forfatter.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Kør begge prompts live. Den første giver en tekst, du ikke kan forsvare. Den anden giver en samtale, der gør dig klogere. Den fulde version af prompt B lyder sådan. Jeg er studerende og skal skrive en opgave om gæsteoplevelsen på et hotel. Du er min vejleder. Du må ikke skrive tekst til opgaven. Stil mig i stedet ét spørgsmål ad gangen, der hjælper mig med at finde en skarp problemformulering. Udfordr mine svar, og sig til, når du synes, problemformuleringen holder. Spørg bagefter, hvilken af de to de kan forsvare til en mundtlig eksamen.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forudsiger det mest sandsynlige svar. Det gør den overbevisende, men ikke nødvendigvis korrekt. Fejlene gemmer sig i tal, citater, sidetal, årstal, forfattere og lovgivning. I studiet skal I altid finde originalkilden og henvise til 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teksten ud fra Bilag A i undervisningsplanen, uden facit. Parvis finder de tre fejl og fortæller, hvordan de tjekkede. Facit. 1) Den anden akse handler om gæstens forbindelse til oplevelsen (absorption eller immersion), ikke pris. 2) SERVQUAL har fem dimensioner, ikke syv. 3) Nordic Travel Insight Report 2025 findes ikke. Korrekt i teksten er Pine og Gilmore 1999 og de fire domæner. Pointen er, at man kun kan fange fejlene, hvis man selv kender stoffet.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Indsæt UCL's gældende regler for brug af AI ved prøver på uddannelsen her i noterne eller på sliden, før du underviser. Reglerne står i studieordningen og i prøvebeskrivelsen for det enkelte fag. Gem chats som dokumentation for jeres proces.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studiedelen. Hvis I ikke selv forstår stoffet, kan I ikke se, når AI tager fejl. Derfor tænker I selv, mens I studerer.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Anden del handler om at skrive prompts. Det gælder både på studiet og i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KRAFT. Kontekst, rolle, arbejdsopgave, format og tjek. Kontekst er, hvem du er, hvad situationen er, og hvad du allerede har. Vedhæft materialet. Rolle er, hvem AI skal være, fx revenue manager, eventchef eller utilfreds gæst. Arbejdsopgave er præcis, hvad den skal levere. Format er fx en Excel-fil, en mail eller en tabel, og hvilken længde, tone og modtager. Tjek er at bede den stille opklarende spørgsmål først og skrive sine antagelser til sidst.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Fortæl kort, hvad du bruger ChatGPT til privat. Vis derefter, hvordan du bruger ChatGPT til at skrive prompts til andre værktøjer. Live-eksempel. Jeg vil have Grok til at finde 20 mellemstore B2B-virksomheder i Trekantområdet, der kunne have brug for hjælp til salg og marketing, og lægge dem i et regneark. Lad ChatGPT stille spørgsmål og skrive prompten, og kør den bagefter i Grok. Pointen er, at modeller er gode til forskellige 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fulde version lyder sådan. Du er ekspert i at skrive prompts. Jeg vil have [værktøj] til at [mål]. Stil mig de spørgsmål, du har brug for, ét ad gangen. Når du har nok, så skriv den færdige prompt med kontekst, rolle, opgave, format og tjek.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Parvis skriver de den dovne prompt om med KRAFT og kører begge versioner. Sammenlign svarene. Et par viser før og efter på storskærmen.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opfølgende spørgsmål, der gør ethvert svar bedre. Hvilke antagelser har du gjort? Hvad mangler, før det er færdigt? Lav tre versioner, og anbefal én. Gør det klar til at sende.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Bed de studerende hente datasættet og promptkortet fra læringsplatformen. Efter pausen skifter vi fra studiet til jobbet.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skifter vi til jobbet, og præsentationen skifter til mørk. Her gælder den anden regel. Brug AI fuldt ud, tag svarene, og lad arbejdsgangene køre.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ting, AI kan i Excel. Den finder det, du skal reagere på. Den bygger formler, pivottabeller, kontrolkort og grafer, du kan genbruge. Og den leverer dashboardet, rapporten eller mailen bagefter. Fra din egen praksis. Grok-leads lander i Google Sheets, AI renser og beriger listen, og derfra går den direkte ind i HubSpot.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Åbn Serviceokonom_HotelFjordlys.xlsx i Excel, og vis fanerne kort. Upload derefter filen til Claude, og kør prompterne én ad gangen. Spørg salen undervejs, hvor lang tid det ville tage dem i hånden.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Prompterne står fuldt ud på promptkortet i Bilag C. Kør dem i rækkefølge. Hver prompt bygger videre på den forrige.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Ros for personale (34), beliggenhed og udsigt (30), morgenmad (27) og værelset (26). Klager over check-in (19), støj fra ventilation og vej (19), rengøring (7), parkering (6) og wifi (4). 77 anmeldelser er på dansk, 9 på engelsk og 4 på tysk.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Ingen klager over rengøring i juli og august, syv i september. 11 af 19 klager over check-in er fra fredage og lørdage.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 AI skrive personlige svar på de fem dårligste anmeldelser på gæstens eget sprog. Eksemplet er den tyske anmeldelse fra 20. september i datasættet. Svaret på sliden er et eksempel på, hvordan AI's udkast kan se 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Juli belægning 88,7 procent, ADR 1.289 kr., RevPAR 1.143 kr. August 81,3 procent, 1.247 kr. og 1.014 kr. September 65,6 procent, 1.132 kr. og 742 kr.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skal AI finde. Booking.com-andelen stiger fra 44,8 procent i juli til 55,9 procent i september, mens direkte booking falder fra 35,5 til 28,9 procent. Med den fiktive kommission på 17 procent er det ca. 438.500 kr. i kvartalet. Bed AI lave en plan for at flytte gæster til direkte booking, og regne på, hvad det er værd.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Parvis åbner de datasættet og kører promptkortet. Målet er at finde de tre vigtigste ting og få AI til at lave én graf eller én formel, de kan vise. Gå rundt og hjælp. Bagefter viser et par sit vigtigste fund på storskærmen. Brug facit i Bilag D til at supplere.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Excel-delen. I jobbet stiller I de rigtige spørgsmål, og AI laver regnearbejdet.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Fjerde del. Rigtige arbejdsgange fra din egen hverdag, hvor AI laver arbejdet fra start til slut.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Autonomitrappen. Trin 1, chat, hvor du kopierer ind og ud. Trin 2, forbundne værktøjer, hvor AI læser og skriver direkte i HubSpot, Drive, Sheets og Slack. Trin 3, automatisering, hvor et workflow kører af sig selv, når noget sker. Trin 4, agenter, hvor AI planlægger og udfører flere skridt selv. I jobbet er målet at komme så højt op som muligt.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Vis Grok-prompten og den liste, den lavede. Slør navne og firmaer. Vis Sheets-arket, og hvordan listen blev importeret i HubSpot. Vis til sidst, hvordan AI skriver første besked og opfølgninger. Brug evt. Pipeline-fanen fra Fjord Outdoor-filen som demodata, og spørg, hvilke deals der er gået i stå i mere end 14 dage pr. 1. oktober. Bed om en opfølgningsmail til hver. Svaret er seks deals til i alt 302.000 kr.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Bot'en kan teknisk set også skrive til leads på LinkedIn. Men Forbrugerombudsmanden har vurderet, at markedsføring i LinkedIn-beskeder og invitationer er elektronisk post, som kræver samtykke efter markedsføringslovens § 10, også mellem virksomheder. LinkedIns brugeraftale forbyder desuden bots og uautoriseret automatisering. Det er en spilleregel i jobbet, ikke et spørgsmål om at tænke kritisk.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Åbn Pocket, og vis referatet af timen indtil nu. Bed AI lave en Slack-besked til holdet med de tre vigtigste pointer og en opgave til næste gang. Vis derefter et anonymiseret Read.ai-referat fra et online møde, og hvordan opgaverne lander i HubSpot eller projektstyringen. Mockuppen på sliden viser, hvordan resultatet kan se 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 Thirdbases design system i Claude Design. Farver, typografi, komponenter og tone er defineret én gang. Bed live om en LinkedIn-post og en invitation til et kundeevent i brandets stil. Vis derefter, hvordan Claude Code gør designet til en rigtig hjemmeside. Farverne på sliden er Thirdbases egne.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Afsløring. Tag brillerne af, og vis dem frem. Du har haft dine stikord i synsfeltet hele timen. Spørg holdet, hvor de kunne bruge det i deres kommende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eksempler på AI uden skærm. Brillerne, Pocket, Ultrahuman-ringen med Jade og Lava Music-guitaren. De tre første er jobværktøjer. Guitaren er et læringsværktøj, og der gælder studiereglen, for det er dig, der skal lære at spille.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Pointen for jobdelen.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Femte del. Vibecoding og et live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Vibecoding betyder, at du beskriver på almindeligt sprog, hvad du vil have, og AI skriver koden. Du bedømmer resultatet frem for at læse hver linje. Perfekt til små interne værktøjer og prototyper. Jo vigtigere systemet er, jo mere tester du, før kollegerne bruger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værktøjskæde. Claude Design til udseende og brand. Claude Code skriver og retter koden. GitHub er versionsstyring og din fortryd-knap. Vercel lægger det online på en rigtig adresse. Cursor bruger jeg, når jeg selv vil ind i koden med AI ved siden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 to eller tre af dine egne projekter. Thirdbases projektstyringsprogram med login, projekter, opgaver, deadlines og mailnotifikationer. Synlighedsscanneren, der sender leads direkte i HubSpot. Integrationen, der henter biler fra Bilinfo ind i HubSpot for en bilforhandler.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build. Indsæt prompten i Claude Code, og fortæl, hvad der sker, mens den arbejder. Vis ændringerne kort, før du committer. Push til GitHub, og Vercel lægger appen online. Prompten lyder sådan. Kontekst. Jeg underviser serviceøkonomer i eventøkonomi. Rolle. Du er en erfaren frontend-udvikler. Opgave. Byg en webapp i én fil, index.html, med HTML, CSS og JavaScript og uden frameworks. Brugeren indtaster antal gæster, faste omkostninger (fx lokale, lyd og underholdning), variable omkostninger pr. gæst (fx mad og drikke) og en buffer i procent. Brugeren kan selv tilføje og fjerne linjer. Appen viser samlet budget inklusive buffer, pris pr. gæst og den billetpris, der skal til for at gå i nul. Brugeren kan også indtaste en ønsket fortjeneste i procent oven i budgettet og se den nødvendige billetpris. Format. Dansk tekst, beløb i kroner, mobilvenlig og minimalistisk design. Tjek. Test selv med 100 gæster, 20.000 kr. i faste omkostninger, 350 kr. pr. gæst og 10 procent buffer. Samlet budget skal være 60.500 kr. og break-even-prisen 605 kr. Skriv til sidst, hvad jeg skal teste. Backup. Fejler nettet eller Claude Code, så kør samme prompt i Claude i browseren, eller vis den version, du har bygget på forhånd.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Erstat den stiplede firkant med en QR-kode til appens Vercel-adresse, før du underviser. Opret repo og Vercel-projekt på forhånd, så adressen er kendt. Tag ét forslag fra salen, og lav én runde mere.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Afrunding. To regler, ét værktøj. Som studerende tænker I selv og bruger AI som sparringspartner. I jobbet bruger I AI fuldt ud, tager svarene, kører arbejdsgangene og bygger jeres egne værktøjer.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 Mentimeter eller på en seddel. Del datasæt, promptkort og promptbanken til studiet på læringsplatformen.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 for i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04672"/>
            <a:ext cx="10820095" cy="1280160"/>
          </a:xfrm>
          <a:prstGeom prst="rect">
            <a:avLst/>
          </a:prstGeom>
          <a:noFill/>
          <a:ln/>
        </p:spPr>
        <p:txBody>
          <a:bodyPr wrap="square" rtlCol="0"/>
          <a:lstStyle>
            <a:lvl1pPr algn="l" indent="0" marL="0">
              <a:lnSpc>
                <a:spcPct val="93000"/>
              </a:lnSpc>
              <a:buNone/>
              <a:defRPr lang="en-US" sz="3400" b="1" dirty="0">
                <a:solidFill>
                  <a:schemeClr val="tx1"/>
                </a:solidFill>
              </a:defRPr>
            </a:lvl1pPr>
          </a:lstStyle>
          <a:p>
            <a:pPr algn="l" indent="0" marL="0">
              <a:lnSpc>
                <a:spcPct val="93000"/>
              </a:lnSpc>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B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04672"/>
            <a:ext cx="10820095" cy="1280160"/>
          </a:xfrm>
          <a:prstGeom prst="rect">
            <a:avLst/>
          </a:prstGeom>
          <a:noFill/>
          <a:ln/>
        </p:spPr>
        <p:txBody>
          <a:bodyPr wrap="square" rtlCol="0"/>
          <a:lstStyle>
            <a:lvl1pPr algn="l" indent="0" marL="0">
              <a:lnSpc>
                <a:spcPct val="93000"/>
              </a:lnSpc>
              <a:buNone/>
              <a:defRPr lang="en-US" sz="3400" b="1" dirty="0">
                <a:solidFill>
                  <a:schemeClr val="bg1"/>
                </a:solidFill>
              </a:defRPr>
            </a:lvl1pPr>
          </a:lstStyle>
          <a:p>
            <a:pPr algn="l" indent="0" marL="0">
              <a:lnSpc>
                <a:spcPct val="93000"/>
              </a:lnSpc>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FF_BLANK">
    <p:bg>
      <p:bgPr>
        <a:solidFill>
          <a:srgbClr val="F5F5F7"/>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0B0B0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6.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slideLayout" Target="../slideLayouts/slideLayout6.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6.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6.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6.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jpeg"/><Relationship Id="rId2" Type="http://schemas.openxmlformats.org/officeDocument/2006/relationships/slideLayout" Target="../slideLayouts/slideLayout6.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jpeg"/><Relationship Id="rId2" Type="http://schemas.openxmlformats.org/officeDocument/2006/relationships/slideLayout" Target="../slideLayouts/slideLayout6.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UCL VEJLE  ·  SERVICEØKONOM</a:t>
            </a:r>
            <a:endParaRPr lang="en-US" sz="1200" dirty="0"/>
          </a:p>
        </p:txBody>
      </p:sp>
      <p:sp>
        <p:nvSpPr>
          <p:cNvPr id="3" name="Text 1"/>
          <p:cNvSpPr txBox="1"/>
          <p:nvPr/>
        </p:nvSpPr>
        <p:spPr>
          <a:xfrm>
            <a:off x="685800" y="1463040"/>
            <a:ext cx="10058400" cy="3108960"/>
          </a:xfrm>
          <a:prstGeom prst="rect">
            <a:avLst/>
          </a:prstGeom>
          <a:noFill/>
          <a:ln/>
        </p:spPr>
        <p:txBody>
          <a:bodyPr wrap="square" lIns="0" tIns="0" rIns="0" bIns="0" rtlCol="0" anchor="b"/>
          <a:lstStyle/>
          <a:p>
            <a:pPr indent="0" marL="0">
              <a:lnSpc>
                <a:spcPct val="88000"/>
              </a:lnSpc>
              <a:buNone/>
            </a:pPr>
            <a:r>
              <a:rPr lang="en-US" sz="11000" b="1" dirty="0">
                <a:solidFill>
                  <a:schemeClr val="bg1"/>
                </a:solidFill>
              </a:rPr>
              <a:t>Tænk selv.</a:t>
            </a:r>
            <a:endParaRPr lang="en-US" sz="11000" dirty="0"/>
          </a:p>
          <a:p>
            <a:pPr indent="0" marL="0">
              <a:lnSpc>
                <a:spcPct val="88000"/>
              </a:lnSpc>
              <a:buNone/>
            </a:pPr>
            <a:r>
              <a:rPr lang="en-US" sz="11000" b="1" dirty="0">
                <a:solidFill>
                  <a:schemeClr val="accent1"/>
                </a:solidFill>
              </a:rPr>
              <a:t>Brug AI.</a:t>
            </a:r>
            <a:endParaRPr lang="en-US" sz="11000" dirty="0"/>
          </a:p>
        </p:txBody>
      </p:sp>
      <p:sp>
        <p:nvSpPr>
          <p:cNvPr id="4" name="Text 2"/>
          <p:cNvSpPr txBox="1"/>
          <p:nvPr/>
        </p:nvSpPr>
        <p:spPr>
          <a:xfrm>
            <a:off x="685800" y="4846320"/>
            <a:ext cx="9144000" cy="457200"/>
          </a:xfrm>
          <a:prstGeom prst="rect">
            <a:avLst/>
          </a:prstGeom>
          <a:noFill/>
          <a:ln/>
        </p:spPr>
        <p:txBody>
          <a:bodyPr wrap="square" lIns="0" tIns="0" rIns="0" bIns="0" rtlCol="0" anchor="t"/>
          <a:lstStyle/>
          <a:p>
            <a:pPr indent="0" marL="0">
              <a:buNone/>
            </a:pPr>
            <a:r>
              <a:rPr lang="en-US" sz="2400" dirty="0">
                <a:solidFill>
                  <a:schemeClr val="accent3"/>
                </a:solidFill>
              </a:rPr>
              <a:t>AI i studiet og i jobbet som serviceøkonom</a:t>
            </a:r>
            <a:endParaRPr lang="en-US" sz="2400" dirty="0"/>
          </a:p>
        </p:txBody>
      </p:sp>
      <p:sp>
        <p:nvSpPr>
          <p:cNvPr id="5" name="Text 3"/>
          <p:cNvSpPr txBox="1"/>
          <p:nvPr/>
        </p:nvSpPr>
        <p:spPr>
          <a:xfrm>
            <a:off x="685800" y="5989320"/>
            <a:ext cx="5486400" cy="320040"/>
          </a:xfrm>
          <a:prstGeom prst="rect">
            <a:avLst/>
          </a:prstGeom>
          <a:noFill/>
          <a:ln/>
        </p:spPr>
        <p:txBody>
          <a:bodyPr wrap="square" lIns="0" tIns="0" rIns="0" bIns="0" rtlCol="0" anchor="t"/>
          <a:lstStyle/>
          <a:p>
            <a:pPr indent="0" marL="0">
              <a:buNone/>
            </a:pPr>
            <a:r>
              <a:rPr lang="en-US" sz="1400" dirty="0">
                <a:solidFill>
                  <a:schemeClr val="accent3"/>
                </a:solidFill>
              </a:rPr>
              <a:t>Andreas Riis Nielsen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HÅNDSOPRÆKNING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tx1"/>
                </a:solidFill>
              </a:rPr>
              <a:t>Hvem har brugt AI i </a:t>
            </a:r>
            <a:pPr indent="0" marL="0">
              <a:lnSpc>
                <a:spcPct val="95000"/>
              </a:lnSpc>
              <a:buNone/>
            </a:pPr>
            <a:r>
              <a:rPr lang="en-US" sz="6000" b="1" dirty="0">
                <a:solidFill>
                  <a:schemeClr val="accent1"/>
                </a:solidFill>
              </a:rPr>
              <a:t>denne uge</a:t>
            </a:r>
            <a:pPr indent="0" marL="0">
              <a:lnSpc>
                <a:spcPct val="95000"/>
              </a:lnSpc>
              <a:buNone/>
            </a:pPr>
            <a:r>
              <a:rPr lang="en-US" sz="6000" b="1" dirty="0">
                <a:solidFill>
                  <a:schemeClr val="tx1"/>
                </a:solidFill>
              </a:rPr>
              <a:t>?</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Til hvad? Og hvem bruger det allerede i et studiejob?</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tx1"/>
                </a:solidFill>
              </a:rPr>
              <a:t>AI kan skrive hele din opgave, mens du ser på.</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Er det snyd eller effektivitet?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0B0B0C"/>
          </a:solidFill>
          <a:ln w="12700">
            <a:solidFill>
              <a:srgbClr val="0B0B0C"/>
            </a:solidFill>
            <a:prstDash val="solid"/>
          </a:ln>
        </p:spPr>
      </p:sp>
      <p:sp>
        <p:nvSpPr>
          <p:cNvPr id="3" name="Text 1"/>
          <p:cNvSpPr txBox="1"/>
          <p:nvPr/>
        </p:nvSpPr>
        <p:spPr>
          <a:xfrm>
            <a:off x="685800" y="804672"/>
            <a:ext cx="5044288" cy="640080"/>
          </a:xfrm>
          <a:prstGeom prst="rect">
            <a:avLst/>
          </a:prstGeom>
          <a:noFill/>
          <a:ln/>
        </p:spPr>
        <p:txBody>
          <a:bodyPr wrap="square" lIns="0" tIns="0" rIns="0" bIns="0" rtlCol="0" anchor="t"/>
          <a:lstStyle/>
          <a:p>
            <a:pPr indent="0" marL="0">
              <a:buNone/>
            </a:pPr>
            <a:r>
              <a:rPr lang="en-US" sz="3400" b="1" dirty="0">
                <a:solidFill>
                  <a:schemeClr val="tx1"/>
                </a:solidFill>
              </a:rPr>
              <a:t>Samme svar.</a:t>
            </a:r>
            <a:endParaRPr lang="en-US" sz="3400" dirty="0"/>
          </a:p>
        </p:txBody>
      </p:sp>
      <p:sp>
        <p:nvSpPr>
          <p:cNvPr id="4" name="Text 2"/>
          <p:cNvSpPr txBox="1"/>
          <p:nvPr/>
        </p:nvSpPr>
        <p:spPr>
          <a:xfrm>
            <a:off x="6644488" y="804672"/>
            <a:ext cx="4861408" cy="640080"/>
          </a:xfrm>
          <a:prstGeom prst="rect">
            <a:avLst/>
          </a:prstGeom>
          <a:noFill/>
          <a:ln/>
        </p:spPr>
        <p:txBody>
          <a:bodyPr wrap="square" lIns="0" tIns="0" rIns="0" bIns="0" rtlCol="0" anchor="t"/>
          <a:lstStyle/>
          <a:p>
            <a:pPr indent="0" marL="0">
              <a:buNone/>
            </a:pPr>
            <a:r>
              <a:rPr lang="en-US" sz="3400" b="1" dirty="0">
                <a:solidFill>
                  <a:schemeClr val="bg1"/>
                </a:solidFill>
              </a:rPr>
              <a:t>To verdener.</a:t>
            </a:r>
            <a:endParaRPr lang="en-US" sz="3400" dirty="0"/>
          </a:p>
        </p:txBody>
      </p:sp>
      <p:sp>
        <p:nvSpPr>
          <p:cNvPr id="5" name="Text 3"/>
          <p:cNvSpPr txBox="1"/>
          <p:nvPr/>
        </p:nvSpPr>
        <p:spPr>
          <a:xfrm>
            <a:off x="685800" y="224028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PÅ STUDIET</a:t>
            </a:r>
            <a:endParaRPr lang="en-US" sz="1200" dirty="0"/>
          </a:p>
        </p:txBody>
      </p:sp>
      <p:sp>
        <p:nvSpPr>
          <p:cNvPr id="6" name="Text 4"/>
          <p:cNvSpPr txBox="1"/>
          <p:nvPr/>
        </p:nvSpPr>
        <p:spPr>
          <a:xfrm>
            <a:off x="685800" y="2606040"/>
            <a:ext cx="4952848" cy="2011680"/>
          </a:xfrm>
          <a:prstGeom prst="rect">
            <a:avLst/>
          </a:prstGeom>
          <a:noFill/>
          <a:ln/>
        </p:spPr>
        <p:txBody>
          <a:bodyPr wrap="square" lIns="0" tIns="0" rIns="0" bIns="0" rtlCol="0" anchor="t"/>
          <a:lstStyle/>
          <a:p>
            <a:pPr indent="0" marL="0">
              <a:lnSpc>
                <a:spcPct val="95000"/>
              </a:lnSpc>
              <a:buNone/>
            </a:pPr>
            <a:r>
              <a:rPr lang="en-US" sz="4000" b="1" dirty="0">
                <a:solidFill>
                  <a:schemeClr val="tx1"/>
                </a:solidFill>
              </a:rPr>
              <a:t>Snyd mod</a:t>
            </a:r>
            <a:endParaRPr lang="en-US" sz="4000" dirty="0"/>
          </a:p>
          <a:p>
            <a:pPr indent="0" marL="0">
              <a:lnSpc>
                <a:spcPct val="95000"/>
              </a:lnSpc>
              <a:buNone/>
            </a:pPr>
            <a:r>
              <a:rPr lang="en-US" sz="4000" b="1" dirty="0">
                <a:solidFill>
                  <a:schemeClr val="tx1"/>
                </a:solidFill>
              </a:rPr>
              <a:t>dig selv.</a:t>
            </a:r>
            <a:endParaRPr lang="en-US" sz="4000" dirty="0"/>
          </a:p>
        </p:txBody>
      </p:sp>
      <p:sp>
        <p:nvSpPr>
          <p:cNvPr id="7" name="Text 5"/>
          <p:cNvSpPr txBox="1"/>
          <p:nvPr/>
        </p:nvSpPr>
        <p:spPr>
          <a:xfrm>
            <a:off x="685800" y="4754880"/>
            <a:ext cx="4769968" cy="914400"/>
          </a:xfrm>
          <a:prstGeom prst="rect">
            <a:avLst/>
          </a:prstGeom>
          <a:noFill/>
          <a:ln/>
        </p:spPr>
        <p:txBody>
          <a:bodyPr wrap="square" lIns="0" tIns="0" rIns="0" bIns="0" rtlCol="0" anchor="t"/>
          <a:lstStyle/>
          <a:p>
            <a:pPr indent="0" marL="0">
              <a:buNone/>
            </a:pPr>
            <a:r>
              <a:rPr lang="en-US" sz="1800" dirty="0">
                <a:solidFill>
                  <a:schemeClr val="accent2"/>
                </a:solidFill>
              </a:rPr>
              <a:t>Du sprang læringen over og kan ikke forsvare svaret til eksamen.</a:t>
            </a:r>
            <a:endParaRPr lang="en-US" sz="1800" dirty="0"/>
          </a:p>
        </p:txBody>
      </p:sp>
      <p:sp>
        <p:nvSpPr>
          <p:cNvPr id="8" name="Text 6"/>
          <p:cNvSpPr txBox="1"/>
          <p:nvPr/>
        </p:nvSpPr>
        <p:spPr>
          <a:xfrm>
            <a:off x="6644488" y="22402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 JOBBET</a:t>
            </a:r>
            <a:endParaRPr lang="en-US" sz="1200" dirty="0"/>
          </a:p>
        </p:txBody>
      </p:sp>
      <p:sp>
        <p:nvSpPr>
          <p:cNvPr id="9" name="Text 7"/>
          <p:cNvSpPr txBox="1"/>
          <p:nvPr/>
        </p:nvSpPr>
        <p:spPr>
          <a:xfrm>
            <a:off x="6644488" y="2606040"/>
            <a:ext cx="4861408" cy="2011680"/>
          </a:xfrm>
          <a:prstGeom prst="rect">
            <a:avLst/>
          </a:prstGeom>
          <a:noFill/>
          <a:ln/>
        </p:spPr>
        <p:txBody>
          <a:bodyPr wrap="square" lIns="0" tIns="0" rIns="0" bIns="0" rtlCol="0" anchor="t"/>
          <a:lstStyle/>
          <a:p>
            <a:pPr indent="0" marL="0">
              <a:lnSpc>
                <a:spcPct val="95000"/>
              </a:lnSpc>
              <a:buNone/>
            </a:pPr>
            <a:r>
              <a:rPr lang="en-US" sz="4000" b="1" dirty="0">
                <a:solidFill>
                  <a:schemeClr val="bg1"/>
                </a:solidFill>
              </a:rPr>
              <a:t>Præcis det, chefen</a:t>
            </a:r>
            <a:endParaRPr lang="en-US" sz="4000" dirty="0"/>
          </a:p>
          <a:p>
            <a:pPr indent="0" marL="0">
              <a:lnSpc>
                <a:spcPct val="95000"/>
              </a:lnSpc>
              <a:buNone/>
            </a:pPr>
            <a:r>
              <a:rPr lang="en-US" sz="4000" b="1" dirty="0">
                <a:solidFill>
                  <a:schemeClr val="accent1"/>
                </a:solidFill>
              </a:rPr>
              <a:t>betaler for.</a:t>
            </a:r>
            <a:endParaRPr lang="en-US" sz="4000" dirty="0"/>
          </a:p>
        </p:txBody>
      </p:sp>
      <p:sp>
        <p:nvSpPr>
          <p:cNvPr id="10" name="Text 8"/>
          <p:cNvSpPr txBox="1"/>
          <p:nvPr/>
        </p:nvSpPr>
        <p:spPr>
          <a:xfrm>
            <a:off x="6644488" y="4754880"/>
            <a:ext cx="4724248" cy="914400"/>
          </a:xfrm>
          <a:prstGeom prst="rect">
            <a:avLst/>
          </a:prstGeom>
          <a:noFill/>
          <a:ln/>
        </p:spPr>
        <p:txBody>
          <a:bodyPr wrap="square" lIns="0" tIns="0" rIns="0" bIns="0" rtlCol="0" anchor="t"/>
          <a:lstStyle/>
          <a:p>
            <a:pPr indent="0" marL="0">
              <a:buNone/>
            </a:pPr>
            <a:r>
              <a:rPr lang="en-US" sz="1800" dirty="0">
                <a:solidFill>
                  <a:schemeClr val="accent3"/>
                </a:solidFill>
              </a:rPr>
              <a:t>Arbejdet er gjort, og du kan bruge tiden på det næste.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MIN AI-HVERDAG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Det her bruger jeg hver uge. I ser det meste </a:t>
            </a:r>
            <a:pPr algn="l" indent="0" marL="0">
              <a:lnSpc>
                <a:spcPct val="93000"/>
              </a:lnSpc>
              <a:buNone/>
            </a:pPr>
            <a:r>
              <a:rPr lang="en-US" sz="3400" b="1" dirty="0">
                <a:solidFill>
                  <a:schemeClr val="accent1"/>
                </a:solidFill>
              </a:rPr>
              <a:t>live i dag</a:t>
            </a:r>
            <a:endParaRPr lang="en-US" sz="3400" dirty="0"/>
          </a:p>
        </p:txBody>
      </p:sp>
      <p:sp>
        <p:nvSpPr>
          <p:cNvPr id="4" name="Shape 2"/>
          <p:cNvSpPr/>
          <p:nvPr/>
        </p:nvSpPr>
        <p:spPr>
          <a:xfrm>
            <a:off x="685800" y="2514600"/>
            <a:ext cx="1362848" cy="0"/>
          </a:xfrm>
          <a:prstGeom prst="line">
            <a:avLst/>
          </a:prstGeom>
          <a:noFill/>
          <a:ln w="12700">
            <a:solidFill>
              <a:schemeClr val="accent4"/>
            </a:solidFill>
            <a:prstDash val="solid"/>
          </a:ln>
        </p:spPr>
      </p:sp>
      <p:sp>
        <p:nvSpPr>
          <p:cNvPr id="5" name="Text 3"/>
          <p:cNvSpPr txBox="1"/>
          <p:nvPr/>
        </p:nvSpPr>
        <p:spPr>
          <a:xfrm>
            <a:off x="685800"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TÆNKE</a:t>
            </a:r>
            <a:endParaRPr lang="en-US" sz="1200" dirty="0"/>
          </a:p>
        </p:txBody>
      </p:sp>
      <p:sp>
        <p:nvSpPr>
          <p:cNvPr id="6" name="Text 4"/>
          <p:cNvSpPr txBox="1"/>
          <p:nvPr/>
        </p:nvSpPr>
        <p:spPr>
          <a:xfrm>
            <a:off x="685800"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a:t>
            </a:r>
            <a:endParaRPr lang="en-US" sz="1700" dirty="0"/>
          </a:p>
          <a:p>
            <a:pPr indent="0" marL="0">
              <a:spcAft>
                <a:spcPts val="800"/>
              </a:spcAft>
              <a:buNone/>
            </a:pPr>
            <a:r>
              <a:rPr lang="en-US" sz="1700" dirty="0">
                <a:solidFill>
                  <a:schemeClr val="tx1"/>
                </a:solidFill>
              </a:rPr>
              <a:t>ChatGPT</a:t>
            </a:r>
            <a:endParaRPr lang="en-US" sz="1700" dirty="0"/>
          </a:p>
        </p:txBody>
      </p:sp>
      <p:sp>
        <p:nvSpPr>
          <p:cNvPr id="7" name="Shape 5"/>
          <p:cNvSpPr/>
          <p:nvPr/>
        </p:nvSpPr>
        <p:spPr>
          <a:xfrm>
            <a:off x="2231528" y="2514600"/>
            <a:ext cx="1362848" cy="0"/>
          </a:xfrm>
          <a:prstGeom prst="line">
            <a:avLst/>
          </a:prstGeom>
          <a:noFill/>
          <a:ln w="12700">
            <a:solidFill>
              <a:schemeClr val="accent4"/>
            </a:solidFill>
            <a:prstDash val="solid"/>
          </a:ln>
        </p:spPr>
      </p:sp>
      <p:sp>
        <p:nvSpPr>
          <p:cNvPr id="8" name="Text 6"/>
          <p:cNvSpPr txBox="1"/>
          <p:nvPr/>
        </p:nvSpPr>
        <p:spPr>
          <a:xfrm>
            <a:off x="2231528"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FINDE</a:t>
            </a:r>
            <a:endParaRPr lang="en-US" sz="1200" dirty="0"/>
          </a:p>
        </p:txBody>
      </p:sp>
      <p:sp>
        <p:nvSpPr>
          <p:cNvPr id="9" name="Text 7"/>
          <p:cNvSpPr txBox="1"/>
          <p:nvPr/>
        </p:nvSpPr>
        <p:spPr>
          <a:xfrm>
            <a:off x="2231528"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Grok</a:t>
            </a:r>
            <a:endParaRPr lang="en-US" sz="1700" dirty="0"/>
          </a:p>
        </p:txBody>
      </p:sp>
      <p:sp>
        <p:nvSpPr>
          <p:cNvPr id="10" name="Shape 8"/>
          <p:cNvSpPr/>
          <p:nvPr/>
        </p:nvSpPr>
        <p:spPr>
          <a:xfrm>
            <a:off x="3777256" y="2514600"/>
            <a:ext cx="1362848" cy="0"/>
          </a:xfrm>
          <a:prstGeom prst="line">
            <a:avLst/>
          </a:prstGeom>
          <a:noFill/>
          <a:ln w="12700">
            <a:solidFill>
              <a:schemeClr val="accent4"/>
            </a:solidFill>
            <a:prstDash val="solid"/>
          </a:ln>
        </p:spPr>
      </p:sp>
      <p:sp>
        <p:nvSpPr>
          <p:cNvPr id="11" name="Text 9"/>
          <p:cNvSpPr txBox="1"/>
          <p:nvPr/>
        </p:nvSpPr>
        <p:spPr>
          <a:xfrm>
            <a:off x="3777256"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BYGGE</a:t>
            </a:r>
            <a:endParaRPr lang="en-US" sz="1200" dirty="0"/>
          </a:p>
        </p:txBody>
      </p:sp>
      <p:sp>
        <p:nvSpPr>
          <p:cNvPr id="12" name="Text 10"/>
          <p:cNvSpPr txBox="1"/>
          <p:nvPr/>
        </p:nvSpPr>
        <p:spPr>
          <a:xfrm>
            <a:off x="3777256"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 Code</a:t>
            </a:r>
            <a:endParaRPr lang="en-US" sz="1700" dirty="0"/>
          </a:p>
          <a:p>
            <a:pPr indent="0" marL="0">
              <a:spcAft>
                <a:spcPts val="800"/>
              </a:spcAft>
              <a:buNone/>
            </a:pPr>
            <a:r>
              <a:rPr lang="en-US" sz="1700" dirty="0">
                <a:solidFill>
                  <a:schemeClr val="tx1"/>
                </a:solidFill>
              </a:rPr>
              <a:t>Cursor</a:t>
            </a:r>
            <a:endParaRPr lang="en-US" sz="1700" dirty="0"/>
          </a:p>
          <a:p>
            <a:pPr indent="0" marL="0">
              <a:spcAft>
                <a:spcPts val="800"/>
              </a:spcAft>
              <a:buNone/>
            </a:pPr>
            <a:r>
              <a:rPr lang="en-US" sz="1700" dirty="0">
                <a:solidFill>
                  <a:schemeClr val="tx1"/>
                </a:solidFill>
              </a:rPr>
              <a:t>GitHub</a:t>
            </a:r>
            <a:endParaRPr lang="en-US" sz="1700" dirty="0"/>
          </a:p>
          <a:p>
            <a:pPr indent="0" marL="0">
              <a:spcAft>
                <a:spcPts val="800"/>
              </a:spcAft>
              <a:buNone/>
            </a:pPr>
            <a:r>
              <a:rPr lang="en-US" sz="1700" dirty="0">
                <a:solidFill>
                  <a:schemeClr val="tx1"/>
                </a:solidFill>
              </a:rPr>
              <a:t>Vercel</a:t>
            </a:r>
            <a:endParaRPr lang="en-US" sz="1700" dirty="0"/>
          </a:p>
        </p:txBody>
      </p:sp>
      <p:sp>
        <p:nvSpPr>
          <p:cNvPr id="13" name="Shape 11"/>
          <p:cNvSpPr/>
          <p:nvPr/>
        </p:nvSpPr>
        <p:spPr>
          <a:xfrm>
            <a:off x="5322984" y="2514600"/>
            <a:ext cx="1362848" cy="0"/>
          </a:xfrm>
          <a:prstGeom prst="line">
            <a:avLst/>
          </a:prstGeom>
          <a:noFill/>
          <a:ln w="12700">
            <a:solidFill>
              <a:schemeClr val="accent4"/>
            </a:solidFill>
            <a:prstDash val="solid"/>
          </a:ln>
        </p:spPr>
      </p:sp>
      <p:sp>
        <p:nvSpPr>
          <p:cNvPr id="14" name="Text 12"/>
          <p:cNvSpPr txBox="1"/>
          <p:nvPr/>
        </p:nvSpPr>
        <p:spPr>
          <a:xfrm>
            <a:off x="5322984"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DESIGNE</a:t>
            </a:r>
            <a:endParaRPr lang="en-US" sz="1200" dirty="0"/>
          </a:p>
        </p:txBody>
      </p:sp>
      <p:sp>
        <p:nvSpPr>
          <p:cNvPr id="15" name="Text 13"/>
          <p:cNvSpPr txBox="1"/>
          <p:nvPr/>
        </p:nvSpPr>
        <p:spPr>
          <a:xfrm>
            <a:off x="5322984"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Claude Design</a:t>
            </a:r>
            <a:endParaRPr lang="en-US" sz="1700" dirty="0"/>
          </a:p>
        </p:txBody>
      </p:sp>
      <p:sp>
        <p:nvSpPr>
          <p:cNvPr id="16" name="Shape 14"/>
          <p:cNvSpPr/>
          <p:nvPr/>
        </p:nvSpPr>
        <p:spPr>
          <a:xfrm>
            <a:off x="6868712" y="2514600"/>
            <a:ext cx="1362848" cy="0"/>
          </a:xfrm>
          <a:prstGeom prst="line">
            <a:avLst/>
          </a:prstGeom>
          <a:noFill/>
          <a:ln w="12700">
            <a:solidFill>
              <a:schemeClr val="accent4"/>
            </a:solidFill>
            <a:prstDash val="solid"/>
          </a:ln>
        </p:spPr>
      </p:sp>
      <p:sp>
        <p:nvSpPr>
          <p:cNvPr id="17" name="Text 15"/>
          <p:cNvSpPr txBox="1"/>
          <p:nvPr/>
        </p:nvSpPr>
        <p:spPr>
          <a:xfrm>
            <a:off x="6868712"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SÆLGE</a:t>
            </a:r>
            <a:endParaRPr lang="en-US" sz="1200" dirty="0"/>
          </a:p>
        </p:txBody>
      </p:sp>
      <p:sp>
        <p:nvSpPr>
          <p:cNvPr id="18" name="Text 16"/>
          <p:cNvSpPr txBox="1"/>
          <p:nvPr/>
        </p:nvSpPr>
        <p:spPr>
          <a:xfrm>
            <a:off x="6868712"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HubSpot</a:t>
            </a:r>
            <a:endParaRPr lang="en-US" sz="1700" dirty="0"/>
          </a:p>
          <a:p>
            <a:pPr indent="0" marL="0">
              <a:spcAft>
                <a:spcPts val="800"/>
              </a:spcAft>
              <a:buNone/>
            </a:pPr>
            <a:r>
              <a:rPr lang="en-US" sz="1700" dirty="0">
                <a:solidFill>
                  <a:schemeClr val="tx1"/>
                </a:solidFill>
              </a:rPr>
              <a:t>Excel</a:t>
            </a:r>
            <a:endParaRPr lang="en-US" sz="1700" dirty="0"/>
          </a:p>
          <a:p>
            <a:pPr indent="0" marL="0">
              <a:spcAft>
                <a:spcPts val="800"/>
              </a:spcAft>
              <a:buNone/>
            </a:pPr>
            <a:r>
              <a:rPr lang="en-US" sz="1700" dirty="0">
                <a:solidFill>
                  <a:schemeClr val="tx1"/>
                </a:solidFill>
              </a:rPr>
              <a:t>Sheets</a:t>
            </a:r>
            <a:endParaRPr lang="en-US" sz="1700" dirty="0"/>
          </a:p>
          <a:p>
            <a:pPr indent="0" marL="0">
              <a:spcAft>
                <a:spcPts val="800"/>
              </a:spcAft>
              <a:buNone/>
            </a:pPr>
            <a:r>
              <a:rPr lang="en-US" sz="1700" dirty="0">
                <a:solidFill>
                  <a:schemeClr val="tx1"/>
                </a:solidFill>
              </a:rPr>
              <a:t>Slack</a:t>
            </a:r>
            <a:endParaRPr lang="en-US" sz="1700" dirty="0"/>
          </a:p>
        </p:txBody>
      </p:sp>
      <p:sp>
        <p:nvSpPr>
          <p:cNvPr id="19" name="Shape 17"/>
          <p:cNvSpPr/>
          <p:nvPr/>
        </p:nvSpPr>
        <p:spPr>
          <a:xfrm>
            <a:off x="8414439" y="2514600"/>
            <a:ext cx="1362848" cy="0"/>
          </a:xfrm>
          <a:prstGeom prst="line">
            <a:avLst/>
          </a:prstGeom>
          <a:noFill/>
          <a:ln w="12700">
            <a:solidFill>
              <a:schemeClr val="accent4"/>
            </a:solidFill>
            <a:prstDash val="solid"/>
          </a:ln>
        </p:spPr>
      </p:sp>
      <p:sp>
        <p:nvSpPr>
          <p:cNvPr id="20" name="Text 18"/>
          <p:cNvSpPr txBox="1"/>
          <p:nvPr/>
        </p:nvSpPr>
        <p:spPr>
          <a:xfrm>
            <a:off x="8414439"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LYTTE</a:t>
            </a:r>
            <a:endParaRPr lang="en-US" sz="1200" dirty="0"/>
          </a:p>
        </p:txBody>
      </p:sp>
      <p:sp>
        <p:nvSpPr>
          <p:cNvPr id="21" name="Text 19"/>
          <p:cNvSpPr txBox="1"/>
          <p:nvPr/>
        </p:nvSpPr>
        <p:spPr>
          <a:xfrm>
            <a:off x="8414439"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Pocket</a:t>
            </a:r>
            <a:endParaRPr lang="en-US" sz="1700" dirty="0"/>
          </a:p>
          <a:p>
            <a:pPr indent="0" marL="0">
              <a:spcAft>
                <a:spcPts val="800"/>
              </a:spcAft>
              <a:buNone/>
            </a:pPr>
            <a:r>
              <a:rPr lang="en-US" sz="1700" dirty="0">
                <a:solidFill>
                  <a:schemeClr val="tx1"/>
                </a:solidFill>
              </a:rPr>
              <a:t>Read.ai</a:t>
            </a:r>
            <a:endParaRPr lang="en-US" sz="1700" dirty="0"/>
          </a:p>
        </p:txBody>
      </p:sp>
      <p:sp>
        <p:nvSpPr>
          <p:cNvPr id="22" name="Shape 20"/>
          <p:cNvSpPr/>
          <p:nvPr/>
        </p:nvSpPr>
        <p:spPr>
          <a:xfrm>
            <a:off x="9960167" y="2514600"/>
            <a:ext cx="1362848" cy="0"/>
          </a:xfrm>
          <a:prstGeom prst="line">
            <a:avLst/>
          </a:prstGeom>
          <a:noFill/>
          <a:ln w="12700">
            <a:solidFill>
              <a:schemeClr val="accent4"/>
            </a:solidFill>
            <a:prstDash val="solid"/>
          </a:ln>
        </p:spPr>
      </p:sp>
      <p:sp>
        <p:nvSpPr>
          <p:cNvPr id="23" name="Text 21"/>
          <p:cNvSpPr txBox="1"/>
          <p:nvPr/>
        </p:nvSpPr>
        <p:spPr>
          <a:xfrm>
            <a:off x="9960167" y="2697480"/>
            <a:ext cx="140856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BÆRE</a:t>
            </a:r>
            <a:endParaRPr lang="en-US" sz="1200" dirty="0"/>
          </a:p>
        </p:txBody>
      </p:sp>
      <p:sp>
        <p:nvSpPr>
          <p:cNvPr id="24" name="Text 22"/>
          <p:cNvSpPr txBox="1"/>
          <p:nvPr/>
        </p:nvSpPr>
        <p:spPr>
          <a:xfrm>
            <a:off x="9960167" y="3108960"/>
            <a:ext cx="1454288" cy="237744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Ultrahuman</a:t>
            </a:r>
            <a:endParaRPr lang="en-US" sz="1700" dirty="0"/>
          </a:p>
          <a:p>
            <a:pPr indent="0" marL="0">
              <a:spcAft>
                <a:spcPts val="800"/>
              </a:spcAft>
              <a:buNone/>
            </a:pPr>
            <a:r>
              <a:rPr lang="en-US" sz="1700" dirty="0">
                <a:solidFill>
                  <a:schemeClr val="tx1"/>
                </a:solidFill>
              </a:rPr>
              <a:t>Even Realities</a:t>
            </a:r>
            <a:endParaRPr lang="en-US" sz="1700" dirty="0"/>
          </a:p>
          <a:p>
            <a:pPr indent="0" marL="0">
              <a:spcAft>
                <a:spcPts val="800"/>
              </a:spcAft>
              <a:buNone/>
            </a:pPr>
            <a:r>
              <a:rPr lang="en-US" sz="1700" dirty="0">
                <a:solidFill>
                  <a:schemeClr val="tx1"/>
                </a:solidFill>
              </a:rPr>
              <a:t>Lava Music</a:t>
            </a:r>
            <a:endParaRPr lang="en-US" sz="1700" dirty="0"/>
          </a:p>
        </p:txBody>
      </p:sp>
      <p:sp>
        <p:nvSpPr>
          <p:cNvPr id="25" name="Text 23"/>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2"/>
                </a:solidFill>
              </a:rPr>
              <a:t>Grupperet efter, hvad værktøjet gør for mig. Ikke efter, hvem der har lavet det.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DAGENS TO REGLER</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400" b="1" dirty="0">
                <a:solidFill>
                  <a:schemeClr val="tx1"/>
                </a:solidFill>
              </a:rPr>
              <a:t>Som studerende tænker AI </a:t>
            </a:r>
            <a:pPr indent="0" marL="0">
              <a:lnSpc>
                <a:spcPct val="95000"/>
              </a:lnSpc>
              <a:buNone/>
            </a:pPr>
            <a:r>
              <a:rPr lang="en-US" sz="5400" b="1" dirty="0">
                <a:solidFill>
                  <a:schemeClr val="accent1"/>
                </a:solidFill>
              </a:rPr>
              <a:t>med</a:t>
            </a:r>
            <a:pPr indent="0" marL="0">
              <a:lnSpc>
                <a:spcPct val="95000"/>
              </a:lnSpc>
              <a:buNone/>
            </a:pPr>
            <a:r>
              <a:rPr lang="en-US" sz="5400" b="1" dirty="0">
                <a:solidFill>
                  <a:schemeClr val="tx1"/>
                </a:solidFill>
              </a:rPr>
              <a:t> dig. I jobbet arbejder AI </a:t>
            </a:r>
            <a:pPr indent="0" marL="0">
              <a:lnSpc>
                <a:spcPct val="95000"/>
              </a:lnSpc>
              <a:buNone/>
            </a:pPr>
            <a:r>
              <a:rPr lang="en-US" sz="5400" b="1" dirty="0">
                <a:solidFill>
                  <a:schemeClr val="accent1"/>
                </a:solidFill>
              </a:rPr>
              <a:t>for</a:t>
            </a:r>
            <a:pPr indent="0" marL="0">
              <a:lnSpc>
                <a:spcPct val="95000"/>
              </a:lnSpc>
              <a:buNone/>
            </a:pPr>
            <a:r>
              <a:rPr lang="en-US" sz="5400" b="1" dirty="0">
                <a:solidFill>
                  <a:schemeClr val="tx1"/>
                </a:solidFill>
              </a:rPr>
              <a:t> dig.</a:t>
            </a:r>
            <a:endParaRPr lang="en-US" sz="54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To regler. Ét værktøj.</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  SOM STUDERENDE</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tx1"/>
                </a:solidFill>
              </a:rPr>
              <a:t>Tænk selv.</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2"/>
                </a:solidFill>
              </a:rPr>
              <a:t>Når målet er, at du lærer.</a:t>
            </a:r>
            <a:endParaRPr lang="en-US" sz="2400" dirty="0"/>
          </a:p>
        </p:txBody>
      </p:sp>
      <p:sp>
        <p:nvSpPr>
          <p:cNvPr id="5" name="Shape 3"/>
          <p:cNvSpPr/>
          <p:nvPr/>
        </p:nvSpPr>
        <p:spPr>
          <a:xfrm>
            <a:off x="685800" y="5943600"/>
            <a:ext cx="10820095" cy="0"/>
          </a:xfrm>
          <a:prstGeom prst="line">
            <a:avLst/>
          </a:prstGeom>
          <a:noFill/>
          <a:ln w="12700">
            <a:solidFill>
              <a:schemeClr val="accent4"/>
            </a:solidFill>
            <a:prstDash val="solid"/>
          </a:ln>
        </p:spPr>
      </p:sp>
      <p:sp>
        <p:nvSpPr>
          <p:cNvPr id="6" name="Shape 4"/>
          <p:cNvSpPr/>
          <p:nvPr/>
        </p:nvSpPr>
        <p:spPr>
          <a:xfrm>
            <a:off x="685800"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b="1" dirty="0">
                <a:solidFill>
                  <a:schemeClr val="tx1"/>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Vibecoding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AI'S ROLLE I DIT STUDIE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I studiet er AI din </a:t>
            </a:r>
            <a:pPr algn="l" indent="0" marL="0">
              <a:lnSpc>
                <a:spcPct val="93000"/>
              </a:lnSpc>
              <a:buNone/>
            </a:pPr>
            <a:r>
              <a:rPr lang="en-US" sz="3400" b="1" dirty="0">
                <a:solidFill>
                  <a:schemeClr val="accent1"/>
                </a:solidFill>
              </a:rPr>
              <a:t>sparringspartner</a:t>
            </a:r>
            <a:pPr algn="l" indent="0" marL="0">
              <a:lnSpc>
                <a:spcPct val="93000"/>
              </a:lnSpc>
              <a:buNone/>
            </a:pPr>
            <a:r>
              <a:rPr lang="en-US" sz="3400" b="1" dirty="0">
                <a:solidFill>
                  <a:schemeClr val="tx1"/>
                </a:solidFill>
              </a:rPr>
              <a:t>. Ikke din forfatter</a:t>
            </a:r>
            <a:endParaRPr lang="en-US" sz="3400" dirty="0"/>
          </a:p>
        </p:txBody>
      </p:sp>
      <p:sp>
        <p:nvSpPr>
          <p:cNvPr id="4" name="Text 2"/>
          <p:cNvSpPr txBox="1"/>
          <p:nvPr/>
        </p:nvSpPr>
        <p:spPr>
          <a:xfrm>
            <a:off x="685800" y="2377440"/>
            <a:ext cx="18288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JA</a:t>
            </a:r>
            <a:endParaRPr lang="en-US" sz="1200" dirty="0"/>
          </a:p>
        </p:txBody>
      </p:sp>
      <p:sp>
        <p:nvSpPr>
          <p:cNvPr id="5" name="Text 3"/>
          <p:cNvSpPr txBox="1"/>
          <p:nvPr/>
        </p:nvSpPr>
        <p:spPr>
          <a:xfrm>
            <a:off x="6446520" y="2377440"/>
            <a:ext cx="1828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NEJ</a:t>
            </a:r>
            <a:endParaRPr lang="en-US" sz="1200" dirty="0"/>
          </a:p>
        </p:txBody>
      </p:sp>
      <p:sp>
        <p:nvSpPr>
          <p:cNvPr id="6" name="Text 4"/>
          <p:cNvSpPr txBox="1"/>
          <p:nvPr/>
        </p:nvSpPr>
        <p:spPr>
          <a:xfrm>
            <a:off x="685800" y="2788920"/>
            <a:ext cx="4937760" cy="548640"/>
          </a:xfrm>
          <a:prstGeom prst="rect">
            <a:avLst/>
          </a:prstGeom>
          <a:noFill/>
          <a:ln/>
        </p:spPr>
        <p:txBody>
          <a:bodyPr wrap="square" lIns="0" tIns="0" rIns="0" bIns="0" rtlCol="0" anchor="t"/>
          <a:lstStyle/>
          <a:p>
            <a:pPr indent="0" marL="0">
              <a:buNone/>
            </a:pPr>
            <a:r>
              <a:rPr lang="en-US" sz="3000" b="1" dirty="0">
                <a:solidFill>
                  <a:schemeClr val="tx1"/>
                </a:solidFill>
              </a:rPr>
              <a:t>Sparringspartner</a:t>
            </a:r>
            <a:endParaRPr lang="en-US" sz="3000" dirty="0"/>
          </a:p>
        </p:txBody>
      </p:sp>
      <p:sp>
        <p:nvSpPr>
          <p:cNvPr id="7" name="Text 5"/>
          <p:cNvSpPr txBox="1"/>
          <p:nvPr/>
        </p:nvSpPr>
        <p:spPr>
          <a:xfrm>
            <a:off x="685800" y="3310128"/>
            <a:ext cx="4937760" cy="365760"/>
          </a:xfrm>
          <a:prstGeom prst="rect">
            <a:avLst/>
          </a:prstGeom>
          <a:noFill/>
          <a:ln/>
        </p:spPr>
        <p:txBody>
          <a:bodyPr wrap="square" lIns="0" tIns="0" rIns="0" bIns="0" rtlCol="0" anchor="t"/>
          <a:lstStyle/>
          <a:p>
            <a:pPr indent="0" marL="0">
              <a:buNone/>
            </a:pPr>
            <a:r>
              <a:rPr lang="en-US" sz="1600" dirty="0">
                <a:solidFill>
                  <a:schemeClr val="accent2"/>
                </a:solidFill>
              </a:rPr>
              <a:t>stiller spørgsmålene</a:t>
            </a:r>
            <a:endParaRPr lang="en-US" sz="1600" dirty="0"/>
          </a:p>
        </p:txBody>
      </p:sp>
      <p:sp>
        <p:nvSpPr>
          <p:cNvPr id="8" name="Text 6"/>
          <p:cNvSpPr txBox="1"/>
          <p:nvPr/>
        </p:nvSpPr>
        <p:spPr>
          <a:xfrm>
            <a:off x="685800" y="3867912"/>
            <a:ext cx="4937760" cy="548640"/>
          </a:xfrm>
          <a:prstGeom prst="rect">
            <a:avLst/>
          </a:prstGeom>
          <a:noFill/>
          <a:ln/>
        </p:spPr>
        <p:txBody>
          <a:bodyPr wrap="square" lIns="0" tIns="0" rIns="0" bIns="0" rtlCol="0" anchor="t"/>
          <a:lstStyle/>
          <a:p>
            <a:pPr indent="0" marL="0">
              <a:buNone/>
            </a:pPr>
            <a:r>
              <a:rPr lang="en-US" sz="3000" b="1" dirty="0">
                <a:solidFill>
                  <a:schemeClr val="tx1"/>
                </a:solidFill>
              </a:rPr>
              <a:t>Forklarer</a:t>
            </a:r>
            <a:endParaRPr lang="en-US" sz="3000" dirty="0"/>
          </a:p>
        </p:txBody>
      </p:sp>
      <p:sp>
        <p:nvSpPr>
          <p:cNvPr id="9" name="Text 7"/>
          <p:cNvSpPr txBox="1"/>
          <p:nvPr/>
        </p:nvSpPr>
        <p:spPr>
          <a:xfrm>
            <a:off x="685800" y="4389120"/>
            <a:ext cx="4937760" cy="365760"/>
          </a:xfrm>
          <a:prstGeom prst="rect">
            <a:avLst/>
          </a:prstGeom>
          <a:noFill/>
          <a:ln/>
        </p:spPr>
        <p:txBody>
          <a:bodyPr wrap="square" lIns="0" tIns="0" rIns="0" bIns="0" rtlCol="0" anchor="t"/>
          <a:lstStyle/>
          <a:p>
            <a:pPr indent="0" marL="0">
              <a:buNone/>
            </a:pPr>
            <a:r>
              <a:rPr lang="en-US" sz="1600" dirty="0">
                <a:solidFill>
                  <a:schemeClr val="accent2"/>
                </a:solidFill>
              </a:rPr>
              <a:t>forklarer teorien igen og igen</a:t>
            </a:r>
            <a:endParaRPr lang="en-US" sz="1600" dirty="0"/>
          </a:p>
        </p:txBody>
      </p:sp>
      <p:sp>
        <p:nvSpPr>
          <p:cNvPr id="10" name="Text 8"/>
          <p:cNvSpPr txBox="1"/>
          <p:nvPr/>
        </p:nvSpPr>
        <p:spPr>
          <a:xfrm>
            <a:off x="685800" y="4946904"/>
            <a:ext cx="4937760" cy="548640"/>
          </a:xfrm>
          <a:prstGeom prst="rect">
            <a:avLst/>
          </a:prstGeom>
          <a:noFill/>
          <a:ln/>
        </p:spPr>
        <p:txBody>
          <a:bodyPr wrap="square" lIns="0" tIns="0" rIns="0" bIns="0" rtlCol="0" anchor="t"/>
          <a:lstStyle/>
          <a:p>
            <a:pPr indent="0" marL="0">
              <a:buNone/>
            </a:pPr>
            <a:r>
              <a:rPr lang="en-US" sz="3000" b="1" dirty="0">
                <a:solidFill>
                  <a:schemeClr val="tx1"/>
                </a:solidFill>
              </a:rPr>
              <a:t>Kritiker</a:t>
            </a:r>
            <a:endParaRPr lang="en-US" sz="3000" dirty="0"/>
          </a:p>
        </p:txBody>
      </p:sp>
      <p:sp>
        <p:nvSpPr>
          <p:cNvPr id="11" name="Text 9"/>
          <p:cNvSpPr txBox="1"/>
          <p:nvPr/>
        </p:nvSpPr>
        <p:spPr>
          <a:xfrm>
            <a:off x="685800" y="5468112"/>
            <a:ext cx="4937760" cy="365760"/>
          </a:xfrm>
          <a:prstGeom prst="rect">
            <a:avLst/>
          </a:prstGeom>
          <a:noFill/>
          <a:ln/>
        </p:spPr>
        <p:txBody>
          <a:bodyPr wrap="square" lIns="0" tIns="0" rIns="0" bIns="0" rtlCol="0" anchor="t"/>
          <a:lstStyle/>
          <a:p>
            <a:pPr indent="0" marL="0">
              <a:buNone/>
            </a:pPr>
            <a:r>
              <a:rPr lang="en-US" sz="1600" dirty="0">
                <a:solidFill>
                  <a:schemeClr val="accent2"/>
                </a:solidFill>
              </a:rPr>
              <a:t>kommenterer dit eget udkast</a:t>
            </a:r>
            <a:endParaRPr lang="en-US" sz="1600" dirty="0"/>
          </a:p>
        </p:txBody>
      </p:sp>
      <p:sp>
        <p:nvSpPr>
          <p:cNvPr id="12" name="Text 10"/>
          <p:cNvSpPr txBox="1"/>
          <p:nvPr/>
        </p:nvSpPr>
        <p:spPr>
          <a:xfrm>
            <a:off x="6446520" y="2788920"/>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Forfatter</a:t>
            </a:r>
            <a:endParaRPr lang="en-US" sz="3000" dirty="0"/>
          </a:p>
        </p:txBody>
      </p:sp>
      <p:sp>
        <p:nvSpPr>
          <p:cNvPr id="13" name="Text 11"/>
          <p:cNvSpPr txBox="1"/>
          <p:nvPr/>
        </p:nvSpPr>
        <p:spPr>
          <a:xfrm>
            <a:off x="6446520" y="3310128"/>
            <a:ext cx="4937760" cy="365760"/>
          </a:xfrm>
          <a:prstGeom prst="rect">
            <a:avLst/>
          </a:prstGeom>
          <a:noFill/>
          <a:ln/>
        </p:spPr>
        <p:txBody>
          <a:bodyPr wrap="square" lIns="0" tIns="0" rIns="0" bIns="0" rtlCol="0" anchor="t"/>
          <a:lstStyle/>
          <a:p>
            <a:pPr indent="0" marL="0">
              <a:buNone/>
            </a:pPr>
            <a:r>
              <a:rPr lang="en-US" sz="1600" dirty="0">
                <a:solidFill>
                  <a:schemeClr val="accent2"/>
                </a:solidFill>
              </a:rPr>
              <a:t>skriver opgaven</a:t>
            </a:r>
            <a:endParaRPr lang="en-US" sz="1600" dirty="0"/>
          </a:p>
        </p:txBody>
      </p:sp>
      <p:sp>
        <p:nvSpPr>
          <p:cNvPr id="14" name="Text 12"/>
          <p:cNvSpPr txBox="1"/>
          <p:nvPr/>
        </p:nvSpPr>
        <p:spPr>
          <a:xfrm>
            <a:off x="6446520" y="3867912"/>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Kilde</a:t>
            </a:r>
            <a:endParaRPr lang="en-US" sz="3000" dirty="0"/>
          </a:p>
        </p:txBody>
      </p:sp>
      <p:sp>
        <p:nvSpPr>
          <p:cNvPr id="15" name="Text 13"/>
          <p:cNvSpPr txBox="1"/>
          <p:nvPr/>
        </p:nvSpPr>
        <p:spPr>
          <a:xfrm>
            <a:off x="6446520" y="4389120"/>
            <a:ext cx="4937760" cy="365760"/>
          </a:xfrm>
          <a:prstGeom prst="rect">
            <a:avLst/>
          </a:prstGeom>
          <a:noFill/>
          <a:ln/>
        </p:spPr>
        <p:txBody>
          <a:bodyPr wrap="square" lIns="0" tIns="0" rIns="0" bIns="0" rtlCol="0" anchor="t"/>
          <a:lstStyle/>
          <a:p>
            <a:pPr indent="0" marL="0">
              <a:buNone/>
            </a:pPr>
            <a:r>
              <a:rPr lang="en-US" sz="1600" dirty="0">
                <a:solidFill>
                  <a:schemeClr val="accent2"/>
                </a:solidFill>
              </a:rPr>
              <a:t>bliver citeret som fakta</a:t>
            </a:r>
            <a:endParaRPr lang="en-US" sz="1600" dirty="0"/>
          </a:p>
        </p:txBody>
      </p:sp>
      <p:sp>
        <p:nvSpPr>
          <p:cNvPr id="16" name="Text 14"/>
          <p:cNvSpPr txBox="1"/>
          <p:nvPr/>
        </p:nvSpPr>
        <p:spPr>
          <a:xfrm>
            <a:off x="6446520" y="4946904"/>
            <a:ext cx="4937760" cy="548640"/>
          </a:xfrm>
          <a:prstGeom prst="rect">
            <a:avLst/>
          </a:prstGeom>
          <a:noFill/>
          <a:ln/>
        </p:spPr>
        <p:txBody>
          <a:bodyPr wrap="square" lIns="0" tIns="0" rIns="0" bIns="0" rtlCol="0" anchor="t"/>
          <a:lstStyle/>
          <a:p>
            <a:pPr indent="0" marL="0">
              <a:buNone/>
            </a:pPr>
            <a:r>
              <a:rPr lang="en-US" sz="3000" b="1" strike="sngStrike" dirty="0">
                <a:solidFill>
                  <a:schemeClr val="accent2"/>
                </a:solidFill>
              </a:rPr>
              <a:t>Dommer</a:t>
            </a:r>
            <a:endParaRPr lang="en-US" sz="3000" dirty="0"/>
          </a:p>
        </p:txBody>
      </p:sp>
      <p:sp>
        <p:nvSpPr>
          <p:cNvPr id="17" name="Text 15"/>
          <p:cNvSpPr txBox="1"/>
          <p:nvPr/>
        </p:nvSpPr>
        <p:spPr>
          <a:xfrm>
            <a:off x="6446520" y="5468112"/>
            <a:ext cx="4937760" cy="365760"/>
          </a:xfrm>
          <a:prstGeom prst="rect">
            <a:avLst/>
          </a:prstGeom>
          <a:noFill/>
          <a:ln/>
        </p:spPr>
        <p:txBody>
          <a:bodyPr wrap="square" lIns="0" tIns="0" rIns="0" bIns="0" rtlCol="0" anchor="t"/>
          <a:lstStyle/>
          <a:p>
            <a:pPr indent="0" marL="0">
              <a:buNone/>
            </a:pPr>
            <a:r>
              <a:rPr lang="en-US" sz="1600" dirty="0">
                <a:solidFill>
                  <a:schemeClr val="accent2"/>
                </a:solidFill>
              </a:rPr>
              <a:t>afgør, hvad der er rigtigt</a:t>
            </a:r>
            <a:endParaRPr lang="en-US" sz="1600" dirty="0"/>
          </a:p>
        </p:txBody>
      </p:sp>
      <p:sp>
        <p:nvSpPr>
          <p:cNvPr id="18" name="Shape 16"/>
          <p:cNvSpPr/>
          <p:nvPr/>
        </p:nvSpPr>
        <p:spPr>
          <a:xfrm>
            <a:off x="6035040" y="2377440"/>
            <a:ext cx="0" cy="3520440"/>
          </a:xfrm>
          <a:prstGeom prst="line">
            <a:avLst/>
          </a:prstGeom>
          <a:noFill/>
          <a:ln w="12700">
            <a:solidFill>
              <a:schemeClr val="accent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MIN KANDIDAT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Jeg skriver selv. </a:t>
            </a:r>
            <a:pPr algn="l" indent="0" marL="0">
              <a:lnSpc>
                <a:spcPct val="93000"/>
              </a:lnSpc>
              <a:buNone/>
            </a:pPr>
            <a:r>
              <a:rPr lang="en-US" sz="3400" b="1" dirty="0">
                <a:solidFill>
                  <a:schemeClr val="accent1"/>
                </a:solidFill>
              </a:rPr>
              <a:t>Claude stiller spørgsmålene</a:t>
            </a:r>
            <a:endParaRPr lang="en-US" sz="3400" dirty="0"/>
          </a:p>
        </p:txBody>
      </p:sp>
      <p:sp>
        <p:nvSpPr>
          <p:cNvPr id="4" name="Shape 2"/>
          <p:cNvSpPr/>
          <p:nvPr/>
        </p:nvSpPr>
        <p:spPr>
          <a:xfrm>
            <a:off x="685800" y="251460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685800" y="25191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2487168"/>
            <a:ext cx="3291840" cy="822960"/>
          </a:xfrm>
          <a:prstGeom prst="rect">
            <a:avLst/>
          </a:prstGeom>
          <a:noFill/>
          <a:ln/>
        </p:spPr>
        <p:txBody>
          <a:bodyPr wrap="square" lIns="0" tIns="0" rIns="0" bIns="0" rtlCol="0" anchor="t"/>
          <a:lstStyle/>
          <a:p>
            <a:pPr indent="0" marL="0">
              <a:buNone/>
            </a:pPr>
            <a:r>
              <a:rPr lang="en-US" sz="1700" dirty="0">
                <a:solidFill>
                  <a:schemeClr val="tx1"/>
                </a:solidFill>
              </a:rPr>
              <a:t>Pensum, noter og opgavekrav ligger i projektet som viden</a:t>
            </a:r>
            <a:endParaRPr lang="en-US" sz="1700" dirty="0"/>
          </a:p>
        </p:txBody>
      </p:sp>
      <p:sp>
        <p:nvSpPr>
          <p:cNvPr id="7" name="Shape 5"/>
          <p:cNvSpPr/>
          <p:nvPr/>
        </p:nvSpPr>
        <p:spPr>
          <a:xfrm>
            <a:off x="685800" y="3566160"/>
            <a:ext cx="329184" cy="329184"/>
          </a:xfrm>
          <a:prstGeom prst="ellipse">
            <a:avLst/>
          </a:prstGeom>
          <a:solidFill>
            <a:schemeClr val="accent1"/>
          </a:solidFill>
          <a:ln w="12700">
            <a:solidFill>
              <a:schemeClr val="accent1"/>
            </a:solidFill>
            <a:prstDash val="solid"/>
          </a:ln>
        </p:spPr>
      </p:sp>
      <p:sp>
        <p:nvSpPr>
          <p:cNvPr id="8" name="Text 6"/>
          <p:cNvSpPr txBox="1"/>
          <p:nvPr/>
        </p:nvSpPr>
        <p:spPr>
          <a:xfrm>
            <a:off x="685800" y="35707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234440" y="3538728"/>
            <a:ext cx="3291840" cy="822960"/>
          </a:xfrm>
          <a:prstGeom prst="rect">
            <a:avLst/>
          </a:prstGeom>
          <a:noFill/>
          <a:ln/>
        </p:spPr>
        <p:txBody>
          <a:bodyPr wrap="square" lIns="0" tIns="0" rIns="0" bIns="0" rtlCol="0" anchor="t"/>
          <a:lstStyle/>
          <a:p>
            <a:pPr indent="0" marL="0">
              <a:buNone/>
            </a:pPr>
            <a:r>
              <a:rPr lang="en-US" sz="1700" dirty="0">
                <a:solidFill>
                  <a:schemeClr val="tx1"/>
                </a:solidFill>
              </a:rPr>
              <a:t>Claude stiller spørgsmålene. Jeg svarer</a:t>
            </a:r>
            <a:endParaRPr lang="en-US" sz="1700" dirty="0"/>
          </a:p>
        </p:txBody>
      </p:sp>
      <p:sp>
        <p:nvSpPr>
          <p:cNvPr id="10" name="Shape 8"/>
          <p:cNvSpPr/>
          <p:nvPr/>
        </p:nvSpPr>
        <p:spPr>
          <a:xfrm>
            <a:off x="685800" y="4617720"/>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685800" y="46222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1234440" y="4590288"/>
            <a:ext cx="3291840" cy="822960"/>
          </a:xfrm>
          <a:prstGeom prst="rect">
            <a:avLst/>
          </a:prstGeom>
          <a:noFill/>
          <a:ln/>
        </p:spPr>
        <p:txBody>
          <a:bodyPr wrap="square" lIns="0" tIns="0" rIns="0" bIns="0" rtlCol="0" anchor="t"/>
          <a:lstStyle/>
          <a:p>
            <a:pPr indent="0" marL="0">
              <a:buNone/>
            </a:pPr>
            <a:r>
              <a:rPr lang="en-US" sz="1700" dirty="0">
                <a:solidFill>
                  <a:schemeClr val="tx1"/>
                </a:solidFill>
              </a:rPr>
              <a:t>Feedback på mit eget afsnit. Ingen omskrivning</a:t>
            </a:r>
            <a:endParaRPr lang="en-US" sz="1700" dirty="0"/>
          </a:p>
        </p:txBody>
      </p:sp>
      <p:sp>
        <p:nvSpPr>
          <p:cNvPr id="13" name="Shape 11"/>
          <p:cNvSpPr/>
          <p:nvPr/>
        </p:nvSpPr>
        <p:spPr>
          <a:xfrm>
            <a:off x="4800600" y="2240280"/>
            <a:ext cx="6702552" cy="3977640"/>
          </a:xfrm>
          <a:prstGeom prst="roundRect">
            <a:avLst>
              <a:gd name="adj" fmla="val 2299"/>
            </a:avLst>
          </a:prstGeom>
          <a:solidFill>
            <a:srgbClr val="FFFFFF"/>
          </a:solidFill>
          <a:ln w="12700">
            <a:solidFill>
              <a:srgbClr val="D2D2D7"/>
            </a:solidFill>
            <a:prstDash val="solid"/>
          </a:ln>
        </p:spPr>
      </p:sp>
      <p:sp>
        <p:nvSpPr>
          <p:cNvPr id="14" name="Shape 12"/>
          <p:cNvSpPr/>
          <p:nvPr/>
        </p:nvSpPr>
        <p:spPr>
          <a:xfrm>
            <a:off x="4818888" y="2697480"/>
            <a:ext cx="1965960" cy="3474720"/>
          </a:xfrm>
          <a:prstGeom prst="rect">
            <a:avLst/>
          </a:prstGeom>
          <a:solidFill>
            <a:srgbClr val="F5F5F7"/>
          </a:solidFill>
          <a:ln w="12700">
            <a:solidFill>
              <a:srgbClr val="F5F5F7"/>
            </a:solidFill>
            <a:prstDash val="solid"/>
          </a:ln>
        </p:spPr>
      </p:sp>
      <p:sp>
        <p:nvSpPr>
          <p:cNvPr id="15" name="Shape 13"/>
          <p:cNvSpPr/>
          <p:nvPr/>
        </p:nvSpPr>
        <p:spPr>
          <a:xfrm>
            <a:off x="4800600" y="2697480"/>
            <a:ext cx="6702552" cy="0"/>
          </a:xfrm>
          <a:prstGeom prst="line">
            <a:avLst/>
          </a:prstGeom>
          <a:noFill/>
          <a:ln w="9525">
            <a:solidFill>
              <a:schemeClr val="accent4"/>
            </a:solidFill>
            <a:prstDash val="solid"/>
          </a:ln>
        </p:spPr>
      </p:sp>
      <p:sp>
        <p:nvSpPr>
          <p:cNvPr id="16" name="Shape 14"/>
          <p:cNvSpPr/>
          <p:nvPr/>
        </p:nvSpPr>
        <p:spPr>
          <a:xfrm>
            <a:off x="4983480" y="2414016"/>
            <a:ext cx="109728" cy="109728"/>
          </a:xfrm>
          <a:prstGeom prst="ellipse">
            <a:avLst/>
          </a:prstGeom>
          <a:solidFill>
            <a:schemeClr val="accent4"/>
          </a:solidFill>
          <a:ln w="12700">
            <a:solidFill>
              <a:schemeClr val="accent4"/>
            </a:solidFill>
            <a:prstDash val="solid"/>
          </a:ln>
        </p:spPr>
      </p:sp>
      <p:sp>
        <p:nvSpPr>
          <p:cNvPr id="17" name="Shape 15"/>
          <p:cNvSpPr/>
          <p:nvPr/>
        </p:nvSpPr>
        <p:spPr>
          <a:xfrm>
            <a:off x="5166360" y="2414016"/>
            <a:ext cx="109728" cy="109728"/>
          </a:xfrm>
          <a:prstGeom prst="ellipse">
            <a:avLst/>
          </a:prstGeom>
          <a:solidFill>
            <a:schemeClr val="accent4"/>
          </a:solidFill>
          <a:ln w="12700">
            <a:solidFill>
              <a:schemeClr val="accent4"/>
            </a:solidFill>
            <a:prstDash val="solid"/>
          </a:ln>
        </p:spPr>
      </p:sp>
      <p:sp>
        <p:nvSpPr>
          <p:cNvPr id="18" name="Shape 16"/>
          <p:cNvSpPr/>
          <p:nvPr/>
        </p:nvSpPr>
        <p:spPr>
          <a:xfrm>
            <a:off x="5349240" y="2414016"/>
            <a:ext cx="109728" cy="109728"/>
          </a:xfrm>
          <a:prstGeom prst="ellipse">
            <a:avLst/>
          </a:prstGeom>
          <a:solidFill>
            <a:schemeClr val="accent4"/>
          </a:solidFill>
          <a:ln w="12700">
            <a:solidFill>
              <a:schemeClr val="accent4"/>
            </a:solidFill>
            <a:prstDash val="solid"/>
          </a:ln>
        </p:spPr>
      </p:sp>
      <p:sp>
        <p:nvSpPr>
          <p:cNvPr id="19" name="Text 17"/>
          <p:cNvSpPr txBox="1"/>
          <p:nvPr/>
        </p:nvSpPr>
        <p:spPr>
          <a:xfrm>
            <a:off x="5029200" y="2898648"/>
            <a:ext cx="164592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PROJEKT</a:t>
            </a:r>
            <a:endParaRPr lang="en-US" sz="1000" dirty="0"/>
          </a:p>
        </p:txBody>
      </p:sp>
      <p:sp>
        <p:nvSpPr>
          <p:cNvPr id="20" name="Text 18"/>
          <p:cNvSpPr txBox="1"/>
          <p:nvPr/>
        </p:nvSpPr>
        <p:spPr>
          <a:xfrm>
            <a:off x="5029200" y="3136392"/>
            <a:ext cx="1737360" cy="320040"/>
          </a:xfrm>
          <a:prstGeom prst="rect">
            <a:avLst/>
          </a:prstGeom>
          <a:noFill/>
          <a:ln/>
        </p:spPr>
        <p:txBody>
          <a:bodyPr wrap="square" lIns="0" tIns="0" rIns="0" bIns="0" rtlCol="0" anchor="t"/>
          <a:lstStyle/>
          <a:p>
            <a:pPr indent="0" marL="0">
              <a:buNone/>
            </a:pPr>
            <a:r>
              <a:rPr lang="en-US" sz="1400" b="1" dirty="0">
                <a:solidFill>
                  <a:schemeClr val="tx1"/>
                </a:solidFill>
              </a:rPr>
              <a:t>Webformidling</a:t>
            </a:r>
            <a:endParaRPr lang="en-US" sz="1400" dirty="0"/>
          </a:p>
        </p:txBody>
      </p:sp>
      <p:sp>
        <p:nvSpPr>
          <p:cNvPr id="21" name="Shape 19"/>
          <p:cNvSpPr/>
          <p:nvPr/>
        </p:nvSpPr>
        <p:spPr>
          <a:xfrm>
            <a:off x="5047488" y="3721608"/>
            <a:ext cx="164592" cy="219456"/>
          </a:xfrm>
          <a:prstGeom prst="roundRect">
            <a:avLst>
              <a:gd name="adj" fmla="val 16667"/>
            </a:avLst>
          </a:prstGeom>
          <a:solidFill>
            <a:srgbClr val="FFFFFF"/>
          </a:solidFill>
          <a:ln w="9525">
            <a:solidFill>
              <a:srgbClr val="D2D2D7"/>
            </a:solidFill>
            <a:prstDash val="solid"/>
          </a:ln>
        </p:spPr>
      </p:sp>
      <p:sp>
        <p:nvSpPr>
          <p:cNvPr id="22" name="Text 20"/>
          <p:cNvSpPr txBox="1"/>
          <p:nvPr/>
        </p:nvSpPr>
        <p:spPr>
          <a:xfrm>
            <a:off x="5330952" y="3703320"/>
            <a:ext cx="1371600" cy="274320"/>
          </a:xfrm>
          <a:prstGeom prst="rect">
            <a:avLst/>
          </a:prstGeom>
          <a:noFill/>
          <a:ln/>
        </p:spPr>
        <p:txBody>
          <a:bodyPr wrap="square" lIns="0" tIns="0" rIns="0" bIns="0" rtlCol="0" anchor="t"/>
          <a:lstStyle/>
          <a:p>
            <a:pPr indent="0" marL="0">
              <a:buNone/>
            </a:pPr>
            <a:r>
              <a:rPr lang="en-US" sz="1300" dirty="0">
                <a:solidFill>
                  <a:schemeClr val="tx1"/>
                </a:solidFill>
              </a:rPr>
              <a:t>Pensum</a:t>
            </a:r>
            <a:endParaRPr lang="en-US" sz="1300" dirty="0"/>
          </a:p>
        </p:txBody>
      </p:sp>
      <p:sp>
        <p:nvSpPr>
          <p:cNvPr id="23" name="Shape 21"/>
          <p:cNvSpPr/>
          <p:nvPr/>
        </p:nvSpPr>
        <p:spPr>
          <a:xfrm>
            <a:off x="5047488" y="4160520"/>
            <a:ext cx="164592" cy="219456"/>
          </a:xfrm>
          <a:prstGeom prst="roundRect">
            <a:avLst>
              <a:gd name="adj" fmla="val 16667"/>
            </a:avLst>
          </a:prstGeom>
          <a:solidFill>
            <a:srgbClr val="FFFFFF"/>
          </a:solidFill>
          <a:ln w="9525">
            <a:solidFill>
              <a:srgbClr val="D2D2D7"/>
            </a:solidFill>
            <a:prstDash val="solid"/>
          </a:ln>
        </p:spPr>
      </p:sp>
      <p:sp>
        <p:nvSpPr>
          <p:cNvPr id="24" name="Text 22"/>
          <p:cNvSpPr txBox="1"/>
          <p:nvPr/>
        </p:nvSpPr>
        <p:spPr>
          <a:xfrm>
            <a:off x="5330952" y="4142232"/>
            <a:ext cx="1371600" cy="274320"/>
          </a:xfrm>
          <a:prstGeom prst="rect">
            <a:avLst/>
          </a:prstGeom>
          <a:noFill/>
          <a:ln/>
        </p:spPr>
        <p:txBody>
          <a:bodyPr wrap="square" lIns="0" tIns="0" rIns="0" bIns="0" rtlCol="0" anchor="t"/>
          <a:lstStyle/>
          <a:p>
            <a:pPr indent="0" marL="0">
              <a:buNone/>
            </a:pPr>
            <a:r>
              <a:rPr lang="en-US" sz="1300" dirty="0">
                <a:solidFill>
                  <a:schemeClr val="tx1"/>
                </a:solidFill>
              </a:rPr>
              <a:t>Noter</a:t>
            </a:r>
            <a:endParaRPr lang="en-US" sz="1300" dirty="0"/>
          </a:p>
        </p:txBody>
      </p:sp>
      <p:sp>
        <p:nvSpPr>
          <p:cNvPr id="25" name="Shape 23"/>
          <p:cNvSpPr/>
          <p:nvPr/>
        </p:nvSpPr>
        <p:spPr>
          <a:xfrm>
            <a:off x="5047488" y="4599432"/>
            <a:ext cx="164592" cy="219456"/>
          </a:xfrm>
          <a:prstGeom prst="roundRect">
            <a:avLst>
              <a:gd name="adj" fmla="val 16667"/>
            </a:avLst>
          </a:prstGeom>
          <a:solidFill>
            <a:srgbClr val="FFFFFF"/>
          </a:solidFill>
          <a:ln w="9525">
            <a:solidFill>
              <a:srgbClr val="D2D2D7"/>
            </a:solidFill>
            <a:prstDash val="solid"/>
          </a:ln>
        </p:spPr>
      </p:sp>
      <p:sp>
        <p:nvSpPr>
          <p:cNvPr id="26" name="Text 24"/>
          <p:cNvSpPr txBox="1"/>
          <p:nvPr/>
        </p:nvSpPr>
        <p:spPr>
          <a:xfrm>
            <a:off x="5330952" y="4581144"/>
            <a:ext cx="1371600" cy="274320"/>
          </a:xfrm>
          <a:prstGeom prst="rect">
            <a:avLst/>
          </a:prstGeom>
          <a:noFill/>
          <a:ln/>
        </p:spPr>
        <p:txBody>
          <a:bodyPr wrap="square" lIns="0" tIns="0" rIns="0" bIns="0" rtlCol="0" anchor="t"/>
          <a:lstStyle/>
          <a:p>
            <a:pPr indent="0" marL="0">
              <a:buNone/>
            </a:pPr>
            <a:r>
              <a:rPr lang="en-US" sz="1300" dirty="0">
                <a:solidFill>
                  <a:schemeClr val="tx1"/>
                </a:solidFill>
              </a:rPr>
              <a:t>Opgavekrav</a:t>
            </a:r>
            <a:endParaRPr lang="en-US" sz="1300" dirty="0"/>
          </a:p>
        </p:txBody>
      </p:sp>
      <p:sp>
        <p:nvSpPr>
          <p:cNvPr id="27" name="Shape 25"/>
          <p:cNvSpPr/>
          <p:nvPr/>
        </p:nvSpPr>
        <p:spPr>
          <a:xfrm>
            <a:off x="6355080" y="3703320"/>
            <a:ext cx="329184" cy="329184"/>
          </a:xfrm>
          <a:prstGeom prst="ellipse">
            <a:avLst/>
          </a:prstGeom>
          <a:solidFill>
            <a:schemeClr val="accent1"/>
          </a:solidFill>
          <a:ln w="12700">
            <a:solidFill>
              <a:schemeClr val="accent1"/>
            </a:solidFill>
            <a:prstDash val="solid"/>
          </a:ln>
        </p:spPr>
      </p:sp>
      <p:sp>
        <p:nvSpPr>
          <p:cNvPr id="28" name="Text 26"/>
          <p:cNvSpPr txBox="1"/>
          <p:nvPr/>
        </p:nvSpPr>
        <p:spPr>
          <a:xfrm>
            <a:off x="6355080" y="37078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Shape 27"/>
          <p:cNvSpPr/>
          <p:nvPr/>
        </p:nvSpPr>
        <p:spPr>
          <a:xfrm>
            <a:off x="7936992" y="2971800"/>
            <a:ext cx="3291840" cy="502920"/>
          </a:xfrm>
          <a:prstGeom prst="roundRect">
            <a:avLst>
              <a:gd name="adj" fmla="val 36364"/>
            </a:avLst>
          </a:prstGeom>
          <a:solidFill>
            <a:srgbClr val="1D1D1F"/>
          </a:solidFill>
          <a:ln w="12700">
            <a:solidFill>
              <a:srgbClr val="1D1D1F"/>
            </a:solidFill>
            <a:prstDash val="solid"/>
          </a:ln>
        </p:spPr>
      </p:sp>
      <p:sp>
        <p:nvSpPr>
          <p:cNvPr id="30" name="Text 28"/>
          <p:cNvSpPr txBox="1"/>
          <p:nvPr/>
        </p:nvSpPr>
        <p:spPr>
          <a:xfrm>
            <a:off x="8074152" y="2971800"/>
            <a:ext cx="3108960" cy="502920"/>
          </a:xfrm>
          <a:prstGeom prst="rect">
            <a:avLst/>
          </a:prstGeom>
          <a:noFill/>
          <a:ln/>
        </p:spPr>
        <p:txBody>
          <a:bodyPr wrap="square" lIns="0" tIns="0" rIns="0" bIns="0" rtlCol="0" anchor="ctr"/>
          <a:lstStyle/>
          <a:p>
            <a:pPr indent="0" marL="0">
              <a:buNone/>
            </a:pPr>
            <a:r>
              <a:rPr lang="en-US" sz="1300" dirty="0">
                <a:solidFill>
                  <a:schemeClr val="bg1"/>
                </a:solidFill>
              </a:rPr>
              <a:t>Stil mig tre spørgsmål til teksten.</a:t>
            </a:r>
            <a:endParaRPr lang="en-US" sz="1300" dirty="0"/>
          </a:p>
        </p:txBody>
      </p:sp>
      <p:sp>
        <p:nvSpPr>
          <p:cNvPr id="31" name="Shape 29"/>
          <p:cNvSpPr/>
          <p:nvPr/>
        </p:nvSpPr>
        <p:spPr>
          <a:xfrm>
            <a:off x="7525512" y="3044952"/>
            <a:ext cx="329184" cy="329184"/>
          </a:xfrm>
          <a:prstGeom prst="ellipse">
            <a:avLst/>
          </a:prstGeom>
          <a:solidFill>
            <a:schemeClr val="accent1"/>
          </a:solidFill>
          <a:ln w="12700">
            <a:solidFill>
              <a:schemeClr val="accent1"/>
            </a:solidFill>
            <a:prstDash val="solid"/>
          </a:ln>
        </p:spPr>
      </p:sp>
      <p:sp>
        <p:nvSpPr>
          <p:cNvPr id="32" name="Text 30"/>
          <p:cNvSpPr txBox="1"/>
          <p:nvPr/>
        </p:nvSpPr>
        <p:spPr>
          <a:xfrm>
            <a:off x="7525512" y="304952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3" name="Text 31"/>
          <p:cNvSpPr txBox="1"/>
          <p:nvPr/>
        </p:nvSpPr>
        <p:spPr>
          <a:xfrm>
            <a:off x="7086600" y="3721608"/>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34" name="Shape 32"/>
          <p:cNvSpPr/>
          <p:nvPr/>
        </p:nvSpPr>
        <p:spPr>
          <a:xfrm>
            <a:off x="7360920" y="3813048"/>
            <a:ext cx="3566160" cy="100584"/>
          </a:xfrm>
          <a:prstGeom prst="roundRect">
            <a:avLst>
              <a:gd name="adj" fmla="val 45455"/>
            </a:avLst>
          </a:prstGeom>
          <a:solidFill>
            <a:srgbClr val="E8E8ED"/>
          </a:solidFill>
          <a:ln w="12700">
            <a:solidFill>
              <a:srgbClr val="E8E8ED"/>
            </a:solidFill>
            <a:prstDash val="solid"/>
          </a:ln>
        </p:spPr>
      </p:sp>
      <p:sp>
        <p:nvSpPr>
          <p:cNvPr id="35" name="Text 33"/>
          <p:cNvSpPr txBox="1"/>
          <p:nvPr/>
        </p:nvSpPr>
        <p:spPr>
          <a:xfrm>
            <a:off x="7086600" y="4105656"/>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36" name="Shape 34"/>
          <p:cNvSpPr/>
          <p:nvPr/>
        </p:nvSpPr>
        <p:spPr>
          <a:xfrm>
            <a:off x="7360920" y="4197096"/>
            <a:ext cx="3017520" cy="100584"/>
          </a:xfrm>
          <a:prstGeom prst="roundRect">
            <a:avLst>
              <a:gd name="adj" fmla="val 45455"/>
            </a:avLst>
          </a:prstGeom>
          <a:solidFill>
            <a:srgbClr val="E8E8ED"/>
          </a:solidFill>
          <a:ln w="12700">
            <a:solidFill>
              <a:srgbClr val="E8E8ED"/>
            </a:solidFill>
            <a:prstDash val="solid"/>
          </a:ln>
        </p:spPr>
      </p:sp>
      <p:sp>
        <p:nvSpPr>
          <p:cNvPr id="37" name="Text 35"/>
          <p:cNvSpPr txBox="1"/>
          <p:nvPr/>
        </p:nvSpPr>
        <p:spPr>
          <a:xfrm>
            <a:off x="7086600" y="4489704"/>
            <a:ext cx="228600" cy="274320"/>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8" name="Shape 36"/>
          <p:cNvSpPr/>
          <p:nvPr/>
        </p:nvSpPr>
        <p:spPr>
          <a:xfrm>
            <a:off x="7360920" y="4581144"/>
            <a:ext cx="3383280" cy="100584"/>
          </a:xfrm>
          <a:prstGeom prst="roundRect">
            <a:avLst>
              <a:gd name="adj" fmla="val 45455"/>
            </a:avLst>
          </a:prstGeom>
          <a:solidFill>
            <a:srgbClr val="E8E8ED"/>
          </a:solidFill>
          <a:ln w="12700">
            <a:solidFill>
              <a:srgbClr val="E8E8ED"/>
            </a:solidFill>
            <a:prstDash val="solid"/>
          </a:ln>
        </p:spPr>
      </p:sp>
      <p:sp>
        <p:nvSpPr>
          <p:cNvPr id="39" name="Shape 37"/>
          <p:cNvSpPr/>
          <p:nvPr/>
        </p:nvSpPr>
        <p:spPr>
          <a:xfrm>
            <a:off x="7662672" y="5029200"/>
            <a:ext cx="3566160" cy="502920"/>
          </a:xfrm>
          <a:prstGeom prst="roundRect">
            <a:avLst>
              <a:gd name="adj" fmla="val 36364"/>
            </a:avLst>
          </a:prstGeom>
          <a:solidFill>
            <a:srgbClr val="1D1D1F"/>
          </a:solidFill>
          <a:ln w="12700">
            <a:solidFill>
              <a:srgbClr val="1D1D1F"/>
            </a:solidFill>
            <a:prstDash val="solid"/>
          </a:ln>
        </p:spPr>
      </p:sp>
      <p:sp>
        <p:nvSpPr>
          <p:cNvPr id="40" name="Text 38"/>
          <p:cNvSpPr txBox="1"/>
          <p:nvPr/>
        </p:nvSpPr>
        <p:spPr>
          <a:xfrm>
            <a:off x="7799832" y="5029200"/>
            <a:ext cx="3383280" cy="502920"/>
          </a:xfrm>
          <a:prstGeom prst="rect">
            <a:avLst/>
          </a:prstGeom>
          <a:noFill/>
          <a:ln/>
        </p:spPr>
        <p:txBody>
          <a:bodyPr wrap="square" lIns="0" tIns="0" rIns="0" bIns="0" rtlCol="0" anchor="ctr"/>
          <a:lstStyle/>
          <a:p>
            <a:pPr indent="0" marL="0">
              <a:buNone/>
            </a:pPr>
            <a:r>
              <a:rPr lang="en-US" sz="1300" dirty="0">
                <a:solidFill>
                  <a:schemeClr val="bg1"/>
                </a:solidFill>
              </a:rPr>
              <a:t>Giv feedback på mit afsnit. Omskriv det ikke.</a:t>
            </a:r>
            <a:endParaRPr lang="en-US" sz="1300" dirty="0"/>
          </a:p>
        </p:txBody>
      </p:sp>
      <p:sp>
        <p:nvSpPr>
          <p:cNvPr id="41" name="Shape 39"/>
          <p:cNvSpPr/>
          <p:nvPr/>
        </p:nvSpPr>
        <p:spPr>
          <a:xfrm>
            <a:off x="7251192" y="5102352"/>
            <a:ext cx="329184" cy="329184"/>
          </a:xfrm>
          <a:prstGeom prst="ellipse">
            <a:avLst/>
          </a:prstGeom>
          <a:solidFill>
            <a:schemeClr val="accent1"/>
          </a:solidFill>
          <a:ln w="12700">
            <a:solidFill>
              <a:schemeClr val="accent1"/>
            </a:solidFill>
            <a:prstDash val="solid"/>
          </a:ln>
        </p:spPr>
      </p:sp>
      <p:sp>
        <p:nvSpPr>
          <p:cNvPr id="42" name="Text 40"/>
          <p:cNvSpPr txBox="1"/>
          <p:nvPr/>
        </p:nvSpPr>
        <p:spPr>
          <a:xfrm>
            <a:off x="7251192" y="510692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3" name="Shape 41"/>
          <p:cNvSpPr/>
          <p:nvPr/>
        </p:nvSpPr>
        <p:spPr>
          <a:xfrm>
            <a:off x="7086600" y="5733288"/>
            <a:ext cx="2743200" cy="100584"/>
          </a:xfrm>
          <a:prstGeom prst="roundRect">
            <a:avLst>
              <a:gd name="adj" fmla="val 45455"/>
            </a:avLst>
          </a:prstGeom>
          <a:solidFill>
            <a:srgbClr val="E8E8ED"/>
          </a:solidFill>
          <a:ln w="12700">
            <a:solidFill>
              <a:srgbClr val="E8E8ED"/>
            </a:solidFill>
            <a:prstDash val="solid"/>
          </a:ln>
        </p:spPr>
      </p:sp>
      <p:sp>
        <p:nvSpPr>
          <p:cNvPr id="44" name="Shape 42"/>
          <p:cNvSpPr/>
          <p:nvPr/>
        </p:nvSpPr>
        <p:spPr>
          <a:xfrm>
            <a:off x="7086600" y="5961888"/>
            <a:ext cx="2011680" cy="100584"/>
          </a:xfrm>
          <a:prstGeom prst="roundRect">
            <a:avLst>
              <a:gd name="adj" fmla="val 45455"/>
            </a:avLst>
          </a:prstGeom>
          <a:solidFill>
            <a:srgbClr val="E8E8ED"/>
          </a:solidFill>
          <a:ln w="12700">
            <a:solidFill>
              <a:srgbClr val="E8E8ED"/>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TO PROMPTS</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Samme emne. Kun den ene </a:t>
            </a:r>
            <a:pPr algn="l" indent="0" marL="0">
              <a:lnSpc>
                <a:spcPct val="93000"/>
              </a:lnSpc>
              <a:buNone/>
            </a:pPr>
            <a:r>
              <a:rPr lang="en-US" sz="3400" b="1" dirty="0">
                <a:solidFill>
                  <a:schemeClr val="accent1"/>
                </a:solidFill>
              </a:rPr>
              <a:t>gør dig klogere</a:t>
            </a:r>
            <a:endParaRPr lang="en-US" sz="3400" dirty="0"/>
          </a:p>
        </p:txBody>
      </p:sp>
      <p:sp>
        <p:nvSpPr>
          <p:cNvPr id="4" name="Shape 2"/>
          <p:cNvSpPr/>
          <p:nvPr/>
        </p:nvSpPr>
        <p:spPr>
          <a:xfrm>
            <a:off x="685800" y="2377440"/>
            <a:ext cx="4846320" cy="3383280"/>
          </a:xfrm>
          <a:prstGeom prst="roundRect">
            <a:avLst>
              <a:gd name="adj" fmla="val 3784"/>
            </a:avLst>
          </a:prstGeom>
          <a:solidFill>
            <a:srgbClr val="F5F5F7"/>
          </a:solidFill>
          <a:ln w="12700">
            <a:solidFill>
              <a:srgbClr val="F5F5F7"/>
            </a:solidFill>
            <a:prstDash val="solid"/>
          </a:ln>
        </p:spPr>
      </p:sp>
      <p:sp>
        <p:nvSpPr>
          <p:cNvPr id="5" name="Text 3"/>
          <p:cNvSpPr txBox="1"/>
          <p:nvPr/>
        </p:nvSpPr>
        <p:spPr>
          <a:xfrm>
            <a:off x="1097280" y="2788920"/>
            <a:ext cx="40233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SPØGELSESSKRIVEREN</a:t>
            </a:r>
            <a:endParaRPr lang="en-US" sz="1200" dirty="0"/>
          </a:p>
        </p:txBody>
      </p:sp>
      <p:sp>
        <p:nvSpPr>
          <p:cNvPr id="6" name="Text 4"/>
          <p:cNvSpPr txBox="1"/>
          <p:nvPr/>
        </p:nvSpPr>
        <p:spPr>
          <a:xfrm>
            <a:off x="1097280" y="3246120"/>
            <a:ext cx="4023360" cy="2103120"/>
          </a:xfrm>
          <a:prstGeom prst="rect">
            <a:avLst/>
          </a:prstGeom>
          <a:noFill/>
          <a:ln/>
        </p:spPr>
        <p:txBody>
          <a:bodyPr wrap="square" lIns="0" tIns="0" rIns="0" bIns="0" rtlCol="0" anchor="t"/>
          <a:lstStyle/>
          <a:p>
            <a:pPr indent="0" marL="0">
              <a:buNone/>
            </a:pPr>
            <a:r>
              <a:rPr lang="en-US" sz="2400" dirty="0">
                <a:solidFill>
                  <a:schemeClr val="accent2"/>
                </a:solidFill>
              </a:rPr>
              <a:t>“Skriv en opgave om gæsteoplevelsen på et hotel på fem sider.”</a:t>
            </a:r>
            <a:endParaRPr lang="en-US" sz="2400" dirty="0"/>
          </a:p>
        </p:txBody>
      </p:sp>
      <p:sp>
        <p:nvSpPr>
          <p:cNvPr id="7" name="Shape 5"/>
          <p:cNvSpPr/>
          <p:nvPr/>
        </p:nvSpPr>
        <p:spPr>
          <a:xfrm>
            <a:off x="5943600" y="2377440"/>
            <a:ext cx="5562295" cy="3383280"/>
          </a:xfrm>
          <a:prstGeom prst="roundRect">
            <a:avLst>
              <a:gd name="adj" fmla="val 3784"/>
            </a:avLst>
          </a:prstGeom>
          <a:solidFill>
            <a:srgbClr val="1D1D1F"/>
          </a:solidFill>
          <a:ln w="12700">
            <a:solidFill>
              <a:srgbClr val="1D1D1F"/>
            </a:solidFill>
            <a:prstDash val="solid"/>
          </a:ln>
        </p:spPr>
      </p:sp>
      <p:sp>
        <p:nvSpPr>
          <p:cNvPr id="8" name="Text 6"/>
          <p:cNvSpPr txBox="1"/>
          <p:nvPr/>
        </p:nvSpPr>
        <p:spPr>
          <a:xfrm>
            <a:off x="6355080" y="2788920"/>
            <a:ext cx="473933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SPARRINGSPARTNEREN</a:t>
            </a:r>
            <a:endParaRPr lang="en-US" sz="1200" dirty="0"/>
          </a:p>
        </p:txBody>
      </p:sp>
      <p:sp>
        <p:nvSpPr>
          <p:cNvPr id="9" name="Text 7"/>
          <p:cNvSpPr txBox="1"/>
          <p:nvPr/>
        </p:nvSpPr>
        <p:spPr>
          <a:xfrm>
            <a:off x="6355080" y="3246120"/>
            <a:ext cx="4739335" cy="2286000"/>
          </a:xfrm>
          <a:prstGeom prst="rect">
            <a:avLst/>
          </a:prstGeom>
          <a:noFill/>
          <a:ln/>
        </p:spPr>
        <p:txBody>
          <a:bodyPr wrap="square" lIns="0" tIns="0" rIns="0" bIns="0" rtlCol="0" anchor="t"/>
          <a:lstStyle/>
          <a:p>
            <a:pPr indent="0" marL="0">
              <a:buNone/>
            </a:pPr>
            <a:r>
              <a:rPr lang="en-US" sz="2400" dirty="0">
                <a:solidFill>
                  <a:schemeClr val="bg1"/>
                </a:solidFill>
              </a:rPr>
              <a:t>“Du er min vejleder. </a:t>
            </a:r>
            <a:pPr indent="0" marL="0">
              <a:buNone/>
            </a:pPr>
            <a:r>
              <a:rPr lang="en-US" sz="2400" dirty="0">
                <a:solidFill>
                  <a:schemeClr val="accent1"/>
                </a:solidFill>
              </a:rPr>
              <a:t>Skriv intet til opgaven.</a:t>
            </a:r>
            <a:pPr indent="0" marL="0">
              <a:buNone/>
            </a:pPr>
            <a:r>
              <a:rPr lang="en-US" sz="2400" dirty="0">
                <a:solidFill>
                  <a:schemeClr val="bg1"/>
                </a:solidFill>
              </a:rPr>
              <a:t> Stil mig ét spørgsmål ad gangen om gæsteoplevelsen på et hotel, indtil min problemformulering holder.”</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KILDEKRITIK</a:t>
            </a:r>
            <a:endParaRPr lang="en-US" sz="1200" dirty="0"/>
          </a:p>
        </p:txBody>
      </p:sp>
      <p:sp>
        <p:nvSpPr>
          <p:cNvPr id="3" name="Text 1"/>
          <p:cNvSpPr txBox="1"/>
          <p:nvPr/>
        </p:nvSpPr>
        <p:spPr>
          <a:xfrm>
            <a:off x="685800" y="1188720"/>
            <a:ext cx="10332720" cy="2377440"/>
          </a:xfrm>
          <a:prstGeom prst="rect">
            <a:avLst/>
          </a:prstGeom>
          <a:noFill/>
          <a:ln/>
        </p:spPr>
        <p:txBody>
          <a:bodyPr wrap="square" lIns="0" tIns="0" rIns="0" bIns="0" rtlCol="0" anchor="b"/>
          <a:lstStyle/>
          <a:p>
            <a:pPr indent="0" marL="0">
              <a:lnSpc>
                <a:spcPct val="95000"/>
              </a:lnSpc>
              <a:buNone/>
            </a:pPr>
            <a:r>
              <a:rPr lang="en-US" sz="5600" b="1" dirty="0">
                <a:solidFill>
                  <a:schemeClr val="tx1"/>
                </a:solidFill>
              </a:rPr>
              <a:t>AI lyder sikker. Det betyder ikke, at den </a:t>
            </a:r>
            <a:pPr indent="0" marL="0">
              <a:lnSpc>
                <a:spcPct val="95000"/>
              </a:lnSpc>
              <a:buNone/>
            </a:pPr>
            <a:r>
              <a:rPr lang="en-US" sz="5600" b="1" dirty="0">
                <a:solidFill>
                  <a:schemeClr val="accent1"/>
                </a:solidFill>
              </a:rPr>
              <a:t>har ret</a:t>
            </a:r>
            <a:pPr indent="0" marL="0">
              <a:lnSpc>
                <a:spcPct val="95000"/>
              </a:lnSpc>
              <a:buNone/>
            </a:pPr>
            <a:r>
              <a:rPr lang="en-US" sz="5600" b="1" dirty="0">
                <a:solidFill>
                  <a:schemeClr val="tx1"/>
                </a:solidFill>
              </a:rPr>
              <a:t>.</a:t>
            </a:r>
            <a:endParaRPr lang="en-US" sz="5600" dirty="0"/>
          </a:p>
        </p:txBody>
      </p:sp>
      <p:sp>
        <p:nvSpPr>
          <p:cNvPr id="4" name="Text 2"/>
          <p:cNvSpPr txBox="1"/>
          <p:nvPr/>
        </p:nvSpPr>
        <p:spPr>
          <a:xfrm>
            <a:off x="685800" y="4069080"/>
            <a:ext cx="54864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HER GEMMER FEJLENE SIG</a:t>
            </a:r>
            <a:endParaRPr lang="en-US" sz="1200" dirty="0"/>
          </a:p>
        </p:txBody>
      </p:sp>
      <p:sp>
        <p:nvSpPr>
          <p:cNvPr id="5" name="Text 3"/>
          <p:cNvSpPr txBox="1"/>
          <p:nvPr/>
        </p:nvSpPr>
        <p:spPr>
          <a:xfrm>
            <a:off x="685800" y="4434840"/>
            <a:ext cx="10820095" cy="548640"/>
          </a:xfrm>
          <a:prstGeom prst="rect">
            <a:avLst/>
          </a:prstGeom>
          <a:noFill/>
          <a:ln/>
        </p:spPr>
        <p:txBody>
          <a:bodyPr wrap="square" lIns="0" tIns="0" rIns="0" bIns="0" rtlCol="0" anchor="t"/>
          <a:lstStyle/>
          <a:p>
            <a:pPr indent="0" marL="0">
              <a:buNone/>
            </a:pPr>
            <a:r>
              <a:rPr lang="en-US" sz="2800" dirty="0">
                <a:solidFill>
                  <a:schemeClr val="tx1"/>
                </a:solidFill>
              </a:rPr>
              <a:t>Tal     </a:t>
            </a:r>
            <a:pPr indent="0" marL="0">
              <a:buNone/>
            </a:pPr>
            <a:r>
              <a:rPr lang="en-US" sz="2800" dirty="0">
                <a:solidFill>
                  <a:schemeClr val="tx1"/>
                </a:solidFill>
              </a:rPr>
              <a:t>Citater     </a:t>
            </a:r>
            <a:pPr indent="0" marL="0">
              <a:buNone/>
            </a:pPr>
            <a:r>
              <a:rPr lang="en-US" sz="2800" dirty="0">
                <a:solidFill>
                  <a:schemeClr val="tx1"/>
                </a:solidFill>
              </a:rPr>
              <a:t>Sidetal     </a:t>
            </a:r>
            <a:pPr indent="0" marL="0">
              <a:buNone/>
            </a:pPr>
            <a:r>
              <a:rPr lang="en-US" sz="2800" dirty="0">
                <a:solidFill>
                  <a:schemeClr val="tx1"/>
                </a:solidFill>
              </a:rPr>
              <a:t>Årstal     </a:t>
            </a:r>
            <a:pPr indent="0" marL="0">
              <a:buNone/>
            </a:pPr>
            <a:r>
              <a:rPr lang="en-US" sz="2800" dirty="0">
                <a:solidFill>
                  <a:schemeClr val="tx1"/>
                </a:solidFill>
              </a:rPr>
              <a:t>Forfattere     </a:t>
            </a:r>
            <a:pPr indent="0" marL="0">
              <a:buNone/>
            </a:pPr>
            <a:r>
              <a:rPr lang="en-US" sz="2800" dirty="0">
                <a:solidFill>
                  <a:schemeClr val="tx1"/>
                </a:solidFill>
              </a:rPr>
              <a:t>Lovgivning</a:t>
            </a:r>
            <a:endParaRPr lang="en-US" sz="2800" dirty="0"/>
          </a:p>
        </p:txBody>
      </p:sp>
      <p:sp>
        <p:nvSpPr>
          <p:cNvPr id="6" name="Text 4"/>
          <p:cNvSpPr txBox="1"/>
          <p:nvPr/>
        </p:nvSpPr>
        <p:spPr>
          <a:xfrm>
            <a:off x="685800" y="5349240"/>
            <a:ext cx="9144000" cy="457200"/>
          </a:xfrm>
          <a:prstGeom prst="rect">
            <a:avLst/>
          </a:prstGeom>
          <a:noFill/>
          <a:ln/>
        </p:spPr>
        <p:txBody>
          <a:bodyPr wrap="square" lIns="0" tIns="0" rIns="0" bIns="0" rtlCol="0" anchor="t"/>
          <a:lstStyle/>
          <a:p>
            <a:pPr indent="0" marL="0">
              <a:buNone/>
            </a:pPr>
            <a:r>
              <a:rPr lang="en-US" sz="2000" dirty="0">
                <a:solidFill>
                  <a:schemeClr val="accent2"/>
                </a:solidFill>
              </a:rPr>
              <a:t>Find originalkilden, og henvis til den. Ikke til AI'en.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ØVELSE  ·  PARVIS</a:t>
            </a:r>
            <a:endParaRPr lang="en-US" sz="1200" dirty="0"/>
          </a:p>
        </p:txBody>
      </p:sp>
      <p:sp>
        <p:nvSpPr>
          <p:cNvPr id="3" name="Text 1"/>
          <p:cNvSpPr txBox="1"/>
          <p:nvPr/>
        </p:nvSpPr>
        <p:spPr>
          <a:xfrm>
            <a:off x="548640" y="914400"/>
            <a:ext cx="3840480" cy="4754880"/>
          </a:xfrm>
          <a:prstGeom prst="rect">
            <a:avLst/>
          </a:prstGeom>
          <a:noFill/>
          <a:ln/>
        </p:spPr>
        <p:txBody>
          <a:bodyPr wrap="square" lIns="0" tIns="0" rIns="0" bIns="0" rtlCol="0" anchor="ctr"/>
          <a:lstStyle/>
          <a:p>
            <a:pPr indent="0" marL="0">
              <a:buNone/>
            </a:pPr>
            <a:r>
              <a:rPr lang="en-US" sz="32000" b="1" dirty="0">
                <a:solidFill>
                  <a:schemeClr val="accent1"/>
                </a:solidFill>
              </a:rPr>
              <a:t>3</a:t>
            </a:r>
            <a:endParaRPr lang="en-US" sz="32000" dirty="0"/>
          </a:p>
        </p:txBody>
      </p:sp>
      <p:sp>
        <p:nvSpPr>
          <p:cNvPr id="4" name="Text 2"/>
          <p:cNvSpPr txBox="1"/>
          <p:nvPr/>
        </p:nvSpPr>
        <p:spPr>
          <a:xfrm>
            <a:off x="4754880" y="1463040"/>
            <a:ext cx="6675120" cy="2560320"/>
          </a:xfrm>
          <a:prstGeom prst="rect">
            <a:avLst/>
          </a:prstGeom>
          <a:noFill/>
          <a:ln/>
        </p:spPr>
        <p:txBody>
          <a:bodyPr wrap="square" lIns="0" tIns="0" rIns="0" bIns="0" rtlCol="0" anchor="b"/>
          <a:lstStyle/>
          <a:p>
            <a:pPr indent="0" marL="0">
              <a:lnSpc>
                <a:spcPct val="95000"/>
              </a:lnSpc>
              <a:buNone/>
            </a:pPr>
            <a:r>
              <a:rPr lang="en-US" sz="3800" b="1" dirty="0">
                <a:solidFill>
                  <a:schemeClr val="tx1"/>
                </a:solidFill>
              </a:rPr>
              <a:t>Tre fejl gemmer sig i teksten om </a:t>
            </a:r>
            <a:pPr indent="0" marL="0">
              <a:lnSpc>
                <a:spcPct val="95000"/>
              </a:lnSpc>
              <a:buNone/>
            </a:pPr>
            <a:r>
              <a:rPr lang="en-US" sz="3800" b="1" dirty="0">
                <a:solidFill>
                  <a:schemeClr val="accent1"/>
                </a:solidFill>
              </a:rPr>
              <a:t>oplevelsesøkonomi</a:t>
            </a:r>
            <a:pPr indent="0" marL="0">
              <a:lnSpc>
                <a:spcPct val="95000"/>
              </a:lnSpc>
              <a:buNone/>
            </a:pPr>
            <a:r>
              <a:rPr lang="en-US" sz="3800" b="1" dirty="0">
                <a:solidFill>
                  <a:schemeClr val="tx1"/>
                </a:solidFill>
              </a:rPr>
              <a:t>. Find dem</a:t>
            </a:r>
            <a:endParaRPr lang="en-US" sz="3800" dirty="0"/>
          </a:p>
        </p:txBody>
      </p:sp>
      <p:sp>
        <p:nvSpPr>
          <p:cNvPr id="5" name="Text 3"/>
          <p:cNvSpPr txBox="1"/>
          <p:nvPr/>
        </p:nvSpPr>
        <p:spPr>
          <a:xfrm>
            <a:off x="4754880" y="4251960"/>
            <a:ext cx="6035040" cy="914400"/>
          </a:xfrm>
          <a:prstGeom prst="rect">
            <a:avLst/>
          </a:prstGeom>
          <a:noFill/>
          <a:ln/>
        </p:spPr>
        <p:txBody>
          <a:bodyPr wrap="square" lIns="0" tIns="0" rIns="0" bIns="0" rtlCol="0" anchor="t"/>
          <a:lstStyle/>
          <a:p>
            <a:pPr indent="0" marL="0">
              <a:buNone/>
            </a:pPr>
            <a:r>
              <a:rPr lang="en-US" sz="2000" dirty="0">
                <a:solidFill>
                  <a:schemeClr val="accent2"/>
                </a:solidFill>
              </a:rPr>
              <a:t>Sig bagefter, hvordan I tjekkede. Teksten ligner et helt almindeligt AI-svar.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EKSAMEN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Kend reglerne, </a:t>
            </a:r>
            <a:pPr algn="l" indent="0" marL="0">
              <a:lnSpc>
                <a:spcPct val="93000"/>
              </a:lnSpc>
              <a:buNone/>
            </a:pPr>
            <a:r>
              <a:rPr lang="en-US" sz="3400" b="1" dirty="0">
                <a:solidFill>
                  <a:schemeClr val="accent1"/>
                </a:solidFill>
              </a:rPr>
              <a:t>før</a:t>
            </a:r>
            <a:pPr algn="l" indent="0" marL="0">
              <a:lnSpc>
                <a:spcPct val="93000"/>
              </a:lnSpc>
              <a:buNone/>
            </a:pPr>
            <a:r>
              <a:rPr lang="en-US" sz="3400" b="1" dirty="0">
                <a:solidFill>
                  <a:schemeClr val="tx1"/>
                </a:solidFill>
              </a:rPr>
              <a:t> du bruger AI til eksamen</a:t>
            </a:r>
            <a:endParaRPr lang="en-US" sz="3400" dirty="0"/>
          </a:p>
        </p:txBody>
      </p:sp>
      <p:sp>
        <p:nvSpPr>
          <p:cNvPr id="4" name="Text 2"/>
          <p:cNvSpPr txBox="1"/>
          <p:nvPr/>
        </p:nvSpPr>
        <p:spPr>
          <a:xfrm>
            <a:off x="685800" y="251460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01</a:t>
            </a:r>
            <a:endParaRPr lang="en-US" sz="2800" dirty="0"/>
          </a:p>
        </p:txBody>
      </p:sp>
      <p:sp>
        <p:nvSpPr>
          <p:cNvPr id="5" name="Text 3"/>
          <p:cNvSpPr txBox="1"/>
          <p:nvPr/>
        </p:nvSpPr>
        <p:spPr>
          <a:xfrm>
            <a:off x="1783080" y="2560320"/>
            <a:ext cx="9144000" cy="640080"/>
          </a:xfrm>
          <a:prstGeom prst="rect">
            <a:avLst/>
          </a:prstGeom>
          <a:noFill/>
          <a:ln/>
        </p:spPr>
        <p:txBody>
          <a:bodyPr wrap="square" lIns="0" tIns="0" rIns="0" bIns="0" rtlCol="0" anchor="t"/>
          <a:lstStyle/>
          <a:p>
            <a:pPr indent="0" marL="0">
              <a:buNone/>
            </a:pPr>
            <a:r>
              <a:rPr lang="en-US" sz="2400" dirty="0">
                <a:solidFill>
                  <a:schemeClr val="tx1"/>
                </a:solidFill>
              </a:rPr>
              <a:t>Reglerne står i studieordningen og i prøvebeskrivelsen for faget.</a:t>
            </a:r>
            <a:endParaRPr lang="en-US" sz="2400" dirty="0"/>
          </a:p>
        </p:txBody>
      </p:sp>
      <p:sp>
        <p:nvSpPr>
          <p:cNvPr id="6" name="Text 4"/>
          <p:cNvSpPr txBox="1"/>
          <p:nvPr/>
        </p:nvSpPr>
        <p:spPr>
          <a:xfrm>
            <a:off x="685800" y="361188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02</a:t>
            </a:r>
            <a:endParaRPr lang="en-US" sz="2800" dirty="0"/>
          </a:p>
        </p:txBody>
      </p:sp>
      <p:sp>
        <p:nvSpPr>
          <p:cNvPr id="7" name="Text 5"/>
          <p:cNvSpPr txBox="1"/>
          <p:nvPr/>
        </p:nvSpPr>
        <p:spPr>
          <a:xfrm>
            <a:off x="1783080" y="3657600"/>
            <a:ext cx="9144000" cy="640080"/>
          </a:xfrm>
          <a:prstGeom prst="rect">
            <a:avLst/>
          </a:prstGeom>
          <a:noFill/>
          <a:ln/>
        </p:spPr>
        <p:txBody>
          <a:bodyPr wrap="square" lIns="0" tIns="0" rIns="0" bIns="0" rtlCol="0" anchor="t"/>
          <a:lstStyle/>
          <a:p>
            <a:pPr indent="0" marL="0">
              <a:buNone/>
            </a:pPr>
            <a:r>
              <a:rPr lang="en-US" sz="2400" dirty="0">
                <a:solidFill>
                  <a:schemeClr val="tx1"/>
                </a:solidFill>
              </a:rPr>
              <a:t>Er du i tvivl, så spørg før. Ikke efter.</a:t>
            </a:r>
            <a:endParaRPr lang="en-US" sz="2400" dirty="0"/>
          </a:p>
        </p:txBody>
      </p:sp>
      <p:sp>
        <p:nvSpPr>
          <p:cNvPr id="8" name="Text 6"/>
          <p:cNvSpPr txBox="1"/>
          <p:nvPr/>
        </p:nvSpPr>
        <p:spPr>
          <a:xfrm>
            <a:off x="685800" y="4709160"/>
            <a:ext cx="914400" cy="548640"/>
          </a:xfrm>
          <a:prstGeom prst="rect">
            <a:avLst/>
          </a:prstGeom>
          <a:noFill/>
          <a:ln/>
        </p:spPr>
        <p:txBody>
          <a:bodyPr wrap="square" lIns="0" tIns="0" rIns="0" bIns="0" rtlCol="0" anchor="t"/>
          <a:lstStyle/>
          <a:p>
            <a:pPr indent="0" marL="0">
              <a:buNone/>
            </a:pPr>
            <a:r>
              <a:rPr lang="en-US" sz="2800" b="1" dirty="0">
                <a:solidFill>
                  <a:schemeClr val="accent1"/>
                </a:solidFill>
              </a:rPr>
              <a:t>03</a:t>
            </a:r>
            <a:endParaRPr lang="en-US" sz="2800" dirty="0"/>
          </a:p>
        </p:txBody>
      </p:sp>
      <p:sp>
        <p:nvSpPr>
          <p:cNvPr id="9" name="Text 7"/>
          <p:cNvSpPr txBox="1"/>
          <p:nvPr/>
        </p:nvSpPr>
        <p:spPr>
          <a:xfrm>
            <a:off x="1783080" y="4754880"/>
            <a:ext cx="9144000" cy="640080"/>
          </a:xfrm>
          <a:prstGeom prst="rect">
            <a:avLst/>
          </a:prstGeom>
          <a:noFill/>
          <a:ln/>
        </p:spPr>
        <p:txBody>
          <a:bodyPr wrap="square" lIns="0" tIns="0" rIns="0" bIns="0" rtlCol="0" anchor="t"/>
          <a:lstStyle/>
          <a:p>
            <a:pPr indent="0" marL="0">
              <a:buNone/>
            </a:pPr>
            <a:r>
              <a:rPr lang="en-US" sz="2400" dirty="0">
                <a:solidFill>
                  <a:schemeClr val="tx1"/>
                </a:solidFill>
              </a:rPr>
              <a:t>Gem dine chats, så du kan vise din proces.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600" b="1" dirty="0">
                <a:solidFill>
                  <a:schemeClr val="tx1"/>
                </a:solidFill>
              </a:rPr>
              <a:t>Du kan kun fange AI's fejl i noget, du </a:t>
            </a:r>
            <a:pPr indent="0" marL="0">
              <a:lnSpc>
                <a:spcPct val="95000"/>
              </a:lnSpc>
              <a:buNone/>
            </a:pPr>
            <a:r>
              <a:rPr lang="en-US" sz="5600" b="1" dirty="0">
                <a:solidFill>
                  <a:schemeClr val="accent1"/>
                </a:solidFill>
              </a:rPr>
              <a:t>selv forstår</a:t>
            </a:r>
            <a:pPr indent="0" marL="0">
              <a:lnSpc>
                <a:spcPct val="95000"/>
              </a:lnSpc>
              <a:buNone/>
            </a:pPr>
            <a:r>
              <a:rPr lang="en-US" sz="5600" b="1" dirty="0">
                <a:solidFill>
                  <a:schemeClr val="tx1"/>
                </a:solidFill>
              </a:rPr>
              <a:t>.</a:t>
            </a:r>
            <a:endParaRPr lang="en-US" sz="56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2"/>
                </a:solidFill>
              </a:rPr>
              <a:t>Derfor skal du lære det først.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PROMPTING</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tx1"/>
                </a:solidFill>
              </a:rPr>
              <a:t>KRAFT.</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2"/>
                </a:solidFill>
              </a:rPr>
              <a:t>Jo mere du giver, jo mere får du.</a:t>
            </a:r>
            <a:endParaRPr lang="en-US" sz="2400" dirty="0"/>
          </a:p>
        </p:txBody>
      </p:sp>
      <p:sp>
        <p:nvSpPr>
          <p:cNvPr id="5" name="Shape 3"/>
          <p:cNvSpPr/>
          <p:nvPr/>
        </p:nvSpPr>
        <p:spPr>
          <a:xfrm>
            <a:off x="685800" y="5943600"/>
            <a:ext cx="10820095" cy="0"/>
          </a:xfrm>
          <a:prstGeom prst="line">
            <a:avLst/>
          </a:prstGeom>
          <a:noFill/>
          <a:ln w="12700">
            <a:solidFill>
              <a:schemeClr val="accent4"/>
            </a:solidFill>
            <a:prstDash val="solid"/>
          </a:ln>
        </p:spPr>
      </p:sp>
      <p:sp>
        <p:nvSpPr>
          <p:cNvPr id="6" name="Shape 4"/>
          <p:cNvSpPr/>
          <p:nvPr/>
        </p:nvSpPr>
        <p:spPr>
          <a:xfrm>
            <a:off x="2849819"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b="1" dirty="0">
                <a:solidFill>
                  <a:schemeClr val="tx1"/>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2"/>
                </a:solidFill>
              </a:rPr>
              <a:t>Vibecoding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SÅDAN SKRIVER JEG EN PROMPT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Fem ting gør en prompt brugbar </a:t>
            </a:r>
            <a:pPr algn="l" indent="0" marL="0">
              <a:lnSpc>
                <a:spcPct val="93000"/>
              </a:lnSpc>
              <a:buNone/>
            </a:pPr>
            <a:r>
              <a:rPr lang="en-US" sz="3400" b="1" dirty="0">
                <a:solidFill>
                  <a:schemeClr val="accent1"/>
                </a:solidFill>
              </a:rPr>
              <a:t>første gang</a:t>
            </a:r>
            <a:endParaRPr lang="en-US" sz="3400" dirty="0"/>
          </a:p>
        </p:txBody>
      </p:sp>
      <p:sp>
        <p:nvSpPr>
          <p:cNvPr id="4" name="Text 2"/>
          <p:cNvSpPr txBox="1"/>
          <p:nvPr/>
        </p:nvSpPr>
        <p:spPr>
          <a:xfrm>
            <a:off x="685800"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K</a:t>
            </a:r>
            <a:endParaRPr lang="en-US" sz="11000" dirty="0"/>
          </a:p>
        </p:txBody>
      </p:sp>
      <p:sp>
        <p:nvSpPr>
          <p:cNvPr id="5" name="Text 3"/>
          <p:cNvSpPr txBox="1"/>
          <p:nvPr/>
        </p:nvSpPr>
        <p:spPr>
          <a:xfrm>
            <a:off x="685800"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Kontekst</a:t>
            </a:r>
            <a:endParaRPr lang="en-US" sz="2000" dirty="0"/>
          </a:p>
        </p:txBody>
      </p:sp>
      <p:sp>
        <p:nvSpPr>
          <p:cNvPr id="6" name="Text 4"/>
          <p:cNvSpPr txBox="1"/>
          <p:nvPr/>
        </p:nvSpPr>
        <p:spPr>
          <a:xfrm>
            <a:off x="685800"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Hvem er du, og hvad har du?</a:t>
            </a:r>
            <a:endParaRPr lang="en-US" sz="1700" dirty="0"/>
          </a:p>
        </p:txBody>
      </p:sp>
      <p:sp>
        <p:nvSpPr>
          <p:cNvPr id="7" name="Text 5"/>
          <p:cNvSpPr txBox="1"/>
          <p:nvPr/>
        </p:nvSpPr>
        <p:spPr>
          <a:xfrm>
            <a:off x="2849819"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R</a:t>
            </a:r>
            <a:endParaRPr lang="en-US" sz="11000" dirty="0"/>
          </a:p>
        </p:txBody>
      </p:sp>
      <p:sp>
        <p:nvSpPr>
          <p:cNvPr id="8" name="Text 6"/>
          <p:cNvSpPr txBox="1"/>
          <p:nvPr/>
        </p:nvSpPr>
        <p:spPr>
          <a:xfrm>
            <a:off x="2849819"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Rolle</a:t>
            </a:r>
            <a:endParaRPr lang="en-US" sz="2000" dirty="0"/>
          </a:p>
        </p:txBody>
      </p:sp>
      <p:sp>
        <p:nvSpPr>
          <p:cNvPr id="9" name="Text 7"/>
          <p:cNvSpPr txBox="1"/>
          <p:nvPr/>
        </p:nvSpPr>
        <p:spPr>
          <a:xfrm>
            <a:off x="2849819"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Hvem skal AI være?</a:t>
            </a:r>
            <a:endParaRPr lang="en-US" sz="1700" dirty="0"/>
          </a:p>
        </p:txBody>
      </p:sp>
      <p:sp>
        <p:nvSpPr>
          <p:cNvPr id="10" name="Text 8"/>
          <p:cNvSpPr txBox="1"/>
          <p:nvPr/>
        </p:nvSpPr>
        <p:spPr>
          <a:xfrm>
            <a:off x="5013838"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A</a:t>
            </a:r>
            <a:endParaRPr lang="en-US" sz="11000" dirty="0"/>
          </a:p>
        </p:txBody>
      </p:sp>
      <p:sp>
        <p:nvSpPr>
          <p:cNvPr id="11" name="Text 9"/>
          <p:cNvSpPr txBox="1"/>
          <p:nvPr/>
        </p:nvSpPr>
        <p:spPr>
          <a:xfrm>
            <a:off x="5013838"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Arbejdsopgave</a:t>
            </a:r>
            <a:endParaRPr lang="en-US" sz="2000" dirty="0"/>
          </a:p>
        </p:txBody>
      </p:sp>
      <p:sp>
        <p:nvSpPr>
          <p:cNvPr id="12" name="Text 10"/>
          <p:cNvSpPr txBox="1"/>
          <p:nvPr/>
        </p:nvSpPr>
        <p:spPr>
          <a:xfrm>
            <a:off x="5013838"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Præcis hvad den skal levere</a:t>
            </a:r>
            <a:endParaRPr lang="en-US" sz="1700" dirty="0"/>
          </a:p>
        </p:txBody>
      </p:sp>
      <p:sp>
        <p:nvSpPr>
          <p:cNvPr id="13" name="Text 11"/>
          <p:cNvSpPr txBox="1"/>
          <p:nvPr/>
        </p:nvSpPr>
        <p:spPr>
          <a:xfrm>
            <a:off x="7177857"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F</a:t>
            </a:r>
            <a:endParaRPr lang="en-US" sz="11000" dirty="0"/>
          </a:p>
        </p:txBody>
      </p:sp>
      <p:sp>
        <p:nvSpPr>
          <p:cNvPr id="14" name="Text 12"/>
          <p:cNvSpPr txBox="1"/>
          <p:nvPr/>
        </p:nvSpPr>
        <p:spPr>
          <a:xfrm>
            <a:off x="7177857"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Format</a:t>
            </a:r>
            <a:endParaRPr lang="en-US" sz="2000" dirty="0"/>
          </a:p>
        </p:txBody>
      </p:sp>
      <p:sp>
        <p:nvSpPr>
          <p:cNvPr id="15" name="Text 13"/>
          <p:cNvSpPr txBox="1"/>
          <p:nvPr/>
        </p:nvSpPr>
        <p:spPr>
          <a:xfrm>
            <a:off x="7177857"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Fil, mail, tabel, længde og tone</a:t>
            </a:r>
            <a:endParaRPr lang="en-US" sz="1700" dirty="0"/>
          </a:p>
        </p:txBody>
      </p:sp>
      <p:sp>
        <p:nvSpPr>
          <p:cNvPr id="16" name="Text 14"/>
          <p:cNvSpPr txBox="1"/>
          <p:nvPr/>
        </p:nvSpPr>
        <p:spPr>
          <a:xfrm>
            <a:off x="9341876" y="2331720"/>
            <a:ext cx="2164019" cy="1463040"/>
          </a:xfrm>
          <a:prstGeom prst="rect">
            <a:avLst/>
          </a:prstGeom>
          <a:noFill/>
          <a:ln/>
        </p:spPr>
        <p:txBody>
          <a:bodyPr wrap="square" lIns="0" tIns="0" rIns="0" bIns="0" rtlCol="0" anchor="b"/>
          <a:lstStyle/>
          <a:p>
            <a:pPr indent="0" marL="0">
              <a:buNone/>
            </a:pPr>
            <a:r>
              <a:rPr lang="en-US" sz="11000" b="1" dirty="0">
                <a:solidFill>
                  <a:schemeClr val="accent1"/>
                </a:solidFill>
              </a:rPr>
              <a:t>T</a:t>
            </a:r>
            <a:endParaRPr lang="en-US" sz="11000" dirty="0"/>
          </a:p>
        </p:txBody>
      </p:sp>
      <p:sp>
        <p:nvSpPr>
          <p:cNvPr id="17" name="Text 15"/>
          <p:cNvSpPr txBox="1"/>
          <p:nvPr/>
        </p:nvSpPr>
        <p:spPr>
          <a:xfrm>
            <a:off x="9341876" y="3977640"/>
            <a:ext cx="2072579" cy="411480"/>
          </a:xfrm>
          <a:prstGeom prst="rect">
            <a:avLst/>
          </a:prstGeom>
          <a:noFill/>
          <a:ln/>
        </p:spPr>
        <p:txBody>
          <a:bodyPr wrap="square" lIns="0" tIns="0" rIns="0" bIns="0" rtlCol="0" anchor="t"/>
          <a:lstStyle/>
          <a:p>
            <a:pPr indent="0" marL="0">
              <a:buNone/>
            </a:pPr>
            <a:r>
              <a:rPr lang="en-US" sz="2000" b="1" dirty="0">
                <a:solidFill>
                  <a:schemeClr val="tx1"/>
                </a:solidFill>
              </a:rPr>
              <a:t>Tjek</a:t>
            </a:r>
            <a:endParaRPr lang="en-US" sz="2000" dirty="0"/>
          </a:p>
        </p:txBody>
      </p:sp>
      <p:sp>
        <p:nvSpPr>
          <p:cNvPr id="18" name="Text 16"/>
          <p:cNvSpPr txBox="1"/>
          <p:nvPr/>
        </p:nvSpPr>
        <p:spPr>
          <a:xfrm>
            <a:off x="9341876" y="4434840"/>
            <a:ext cx="1843979" cy="914400"/>
          </a:xfrm>
          <a:prstGeom prst="rect">
            <a:avLst/>
          </a:prstGeom>
          <a:noFill/>
          <a:ln/>
        </p:spPr>
        <p:txBody>
          <a:bodyPr wrap="square" lIns="0" tIns="0" rIns="0" bIns="0" rtlCol="0" anchor="t"/>
          <a:lstStyle/>
          <a:p>
            <a:pPr indent="0" marL="0">
              <a:buNone/>
            </a:pPr>
            <a:r>
              <a:rPr lang="en-US" sz="1700" dirty="0">
                <a:solidFill>
                  <a:schemeClr val="accent2"/>
                </a:solidFill>
              </a:rPr>
              <a:t>Spørgsmål først, antagelser til sidst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PROMPTS DER SKRIVER PROMPTS</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ChatGPT skriver prompten. </a:t>
            </a:r>
            <a:pPr algn="l" indent="0" marL="0">
              <a:lnSpc>
                <a:spcPct val="93000"/>
              </a:lnSpc>
              <a:buNone/>
            </a:pPr>
            <a:r>
              <a:rPr lang="en-US" sz="3400" b="1" dirty="0">
                <a:solidFill>
                  <a:schemeClr val="accent1"/>
                </a:solidFill>
              </a:rPr>
              <a:t>De andre værktøjer</a:t>
            </a:r>
            <a:pPr algn="l" indent="0" marL="0">
              <a:lnSpc>
                <a:spcPct val="93000"/>
              </a:lnSpc>
              <a:buNone/>
            </a:pPr>
            <a:r>
              <a:rPr lang="en-US" sz="3400" b="1" dirty="0">
                <a:solidFill>
                  <a:schemeClr val="tx1"/>
                </a:solidFill>
              </a:rPr>
              <a:t> udfører den</a:t>
            </a:r>
            <a:endParaRPr lang="en-US" sz="3400" dirty="0"/>
          </a:p>
        </p:txBody>
      </p:sp>
      <p:sp>
        <p:nvSpPr>
          <p:cNvPr id="4" name="Shape 2"/>
          <p:cNvSpPr/>
          <p:nvPr/>
        </p:nvSpPr>
        <p:spPr>
          <a:xfrm>
            <a:off x="685800" y="3200400"/>
            <a:ext cx="2651760" cy="1005840"/>
          </a:xfrm>
          <a:prstGeom prst="roundRect">
            <a:avLst>
              <a:gd name="adj" fmla="val 50000"/>
            </a:avLst>
          </a:prstGeom>
          <a:solidFill>
            <a:srgbClr val="1D1D1F"/>
          </a:solidFill>
          <a:ln w="12700">
            <a:solidFill>
              <a:srgbClr val="1D1D1F"/>
            </a:solidFill>
            <a:prstDash val="solid"/>
          </a:ln>
        </p:spPr>
      </p:sp>
      <p:sp>
        <p:nvSpPr>
          <p:cNvPr id="5" name="Text 3"/>
          <p:cNvSpPr txBox="1"/>
          <p:nvPr/>
        </p:nvSpPr>
        <p:spPr>
          <a:xfrm>
            <a:off x="685800" y="3200400"/>
            <a:ext cx="2651760" cy="1005840"/>
          </a:xfrm>
          <a:prstGeom prst="rect">
            <a:avLst/>
          </a:prstGeom>
          <a:noFill/>
          <a:ln/>
        </p:spPr>
        <p:txBody>
          <a:bodyPr wrap="square" lIns="0" tIns="0" rIns="0" bIns="0" rtlCol="0" anchor="ctr"/>
          <a:lstStyle/>
          <a:p>
            <a:pPr algn="ctr" indent="0" marL="0">
              <a:buNone/>
            </a:pPr>
            <a:r>
              <a:rPr lang="en-US" sz="2400" b="1" dirty="0">
                <a:solidFill>
                  <a:schemeClr val="bg1"/>
                </a:solidFill>
              </a:rPr>
              <a:t>ChatGPT</a:t>
            </a:r>
            <a:endParaRPr lang="en-US" sz="2400" dirty="0"/>
          </a:p>
        </p:txBody>
      </p:sp>
      <p:sp>
        <p:nvSpPr>
          <p:cNvPr id="6" name="Text 4"/>
          <p:cNvSpPr txBox="1"/>
          <p:nvPr/>
        </p:nvSpPr>
        <p:spPr>
          <a:xfrm>
            <a:off x="685800" y="4343400"/>
            <a:ext cx="2651760" cy="365760"/>
          </a:xfrm>
          <a:prstGeom prst="rect">
            <a:avLst/>
          </a:prstGeom>
          <a:noFill/>
          <a:ln/>
        </p:spPr>
        <p:txBody>
          <a:bodyPr wrap="square" lIns="0" tIns="0" rIns="0" bIns="0" rtlCol="0" anchor="t"/>
          <a:lstStyle/>
          <a:p>
            <a:pPr algn="ctr" indent="0" marL="0">
              <a:buNone/>
            </a:pPr>
            <a:r>
              <a:rPr lang="en-US" sz="1500" dirty="0">
                <a:solidFill>
                  <a:schemeClr val="accent2"/>
                </a:solidFill>
              </a:rPr>
              <a:t>skriver prompten</a:t>
            </a:r>
            <a:endParaRPr lang="en-US" sz="1500" dirty="0"/>
          </a:p>
        </p:txBody>
      </p:sp>
      <p:sp>
        <p:nvSpPr>
          <p:cNvPr id="7" name="Shape 5"/>
          <p:cNvSpPr/>
          <p:nvPr/>
        </p:nvSpPr>
        <p:spPr>
          <a:xfrm flipV="1">
            <a:off x="3337560" y="2788920"/>
            <a:ext cx="3429000" cy="914400"/>
          </a:xfrm>
          <a:prstGeom prst="line">
            <a:avLst/>
          </a:prstGeom>
          <a:noFill/>
          <a:ln w="15875">
            <a:solidFill>
              <a:srgbClr val="D2D2D7"/>
            </a:solidFill>
            <a:prstDash val="solid"/>
            <a:tailEnd type="triangle"/>
          </a:ln>
        </p:spPr>
      </p:sp>
      <p:sp>
        <p:nvSpPr>
          <p:cNvPr id="8" name="Shape 6"/>
          <p:cNvSpPr/>
          <p:nvPr/>
        </p:nvSpPr>
        <p:spPr>
          <a:xfrm>
            <a:off x="6903720" y="2679192"/>
            <a:ext cx="219456" cy="219456"/>
          </a:xfrm>
          <a:prstGeom prst="ellipse">
            <a:avLst/>
          </a:prstGeom>
          <a:solidFill>
            <a:schemeClr val="accent1"/>
          </a:solidFill>
          <a:ln w="12700">
            <a:solidFill>
              <a:schemeClr val="accent1"/>
            </a:solidFill>
            <a:prstDash val="solid"/>
          </a:ln>
        </p:spPr>
      </p:sp>
      <p:sp>
        <p:nvSpPr>
          <p:cNvPr id="9" name="Text 7"/>
          <p:cNvSpPr txBox="1"/>
          <p:nvPr/>
        </p:nvSpPr>
        <p:spPr>
          <a:xfrm>
            <a:off x="7315200" y="2514600"/>
            <a:ext cx="4114800" cy="411480"/>
          </a:xfrm>
          <a:prstGeom prst="rect">
            <a:avLst/>
          </a:prstGeom>
          <a:noFill/>
          <a:ln/>
        </p:spPr>
        <p:txBody>
          <a:bodyPr wrap="square" lIns="0" tIns="0" rIns="0" bIns="0" rtlCol="0" anchor="t"/>
          <a:lstStyle/>
          <a:p>
            <a:pPr indent="0" marL="0">
              <a:buNone/>
            </a:pPr>
            <a:r>
              <a:rPr lang="en-US" sz="2400" b="1" dirty="0">
                <a:solidFill>
                  <a:schemeClr val="tx1"/>
                </a:solidFill>
              </a:rPr>
              <a:t>Grok</a:t>
            </a:r>
            <a:endParaRPr lang="en-US" sz="2400" dirty="0"/>
          </a:p>
        </p:txBody>
      </p:sp>
      <p:sp>
        <p:nvSpPr>
          <p:cNvPr id="10" name="Text 8"/>
          <p:cNvSpPr txBox="1"/>
          <p:nvPr/>
        </p:nvSpPr>
        <p:spPr>
          <a:xfrm>
            <a:off x="7315200" y="294436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finder leads til Thirdbase</a:t>
            </a:r>
            <a:endParaRPr lang="en-US" sz="1600" dirty="0"/>
          </a:p>
        </p:txBody>
      </p:sp>
      <p:sp>
        <p:nvSpPr>
          <p:cNvPr id="11" name="Shape 9"/>
          <p:cNvSpPr/>
          <p:nvPr/>
        </p:nvSpPr>
        <p:spPr>
          <a:xfrm>
            <a:off x="3337560" y="3703320"/>
            <a:ext cx="3429000" cy="274320"/>
          </a:xfrm>
          <a:prstGeom prst="line">
            <a:avLst/>
          </a:prstGeom>
          <a:noFill/>
          <a:ln w="15875">
            <a:solidFill>
              <a:srgbClr val="D2D2D7"/>
            </a:solidFill>
            <a:prstDash val="solid"/>
            <a:tailEnd type="triangle"/>
          </a:ln>
        </p:spPr>
      </p:sp>
      <p:sp>
        <p:nvSpPr>
          <p:cNvPr id="12" name="Shape 10"/>
          <p:cNvSpPr/>
          <p:nvPr/>
        </p:nvSpPr>
        <p:spPr>
          <a:xfrm>
            <a:off x="6903720" y="3867912"/>
            <a:ext cx="219456" cy="219456"/>
          </a:xfrm>
          <a:prstGeom prst="ellipse">
            <a:avLst/>
          </a:prstGeom>
          <a:solidFill>
            <a:schemeClr val="accent1"/>
          </a:solidFill>
          <a:ln w="12700">
            <a:solidFill>
              <a:schemeClr val="accent1"/>
            </a:solidFill>
            <a:prstDash val="solid"/>
          </a:ln>
        </p:spPr>
      </p:sp>
      <p:sp>
        <p:nvSpPr>
          <p:cNvPr id="13" name="Text 11"/>
          <p:cNvSpPr txBox="1"/>
          <p:nvPr/>
        </p:nvSpPr>
        <p:spPr>
          <a:xfrm>
            <a:off x="7315200" y="3703320"/>
            <a:ext cx="4114800" cy="411480"/>
          </a:xfrm>
          <a:prstGeom prst="rect">
            <a:avLst/>
          </a:prstGeom>
          <a:noFill/>
          <a:ln/>
        </p:spPr>
        <p:txBody>
          <a:bodyPr wrap="square" lIns="0" tIns="0" rIns="0" bIns="0" rtlCol="0" anchor="t"/>
          <a:lstStyle/>
          <a:p>
            <a:pPr indent="0" marL="0">
              <a:buNone/>
            </a:pPr>
            <a:r>
              <a:rPr lang="en-US" sz="2400" b="1" dirty="0">
                <a:solidFill>
                  <a:schemeClr val="tx1"/>
                </a:solidFill>
              </a:rPr>
              <a:t>Claude Code</a:t>
            </a:r>
            <a:endParaRPr lang="en-US" sz="2400" dirty="0"/>
          </a:p>
        </p:txBody>
      </p:sp>
      <p:sp>
        <p:nvSpPr>
          <p:cNvPr id="14" name="Text 12"/>
          <p:cNvSpPr txBox="1"/>
          <p:nvPr/>
        </p:nvSpPr>
        <p:spPr>
          <a:xfrm>
            <a:off x="7315200" y="413308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bygger appen</a:t>
            </a:r>
            <a:endParaRPr lang="en-US" sz="1600" dirty="0"/>
          </a:p>
        </p:txBody>
      </p:sp>
      <p:sp>
        <p:nvSpPr>
          <p:cNvPr id="15" name="Shape 13"/>
          <p:cNvSpPr/>
          <p:nvPr/>
        </p:nvSpPr>
        <p:spPr>
          <a:xfrm>
            <a:off x="3337560" y="3703320"/>
            <a:ext cx="3429000" cy="1463040"/>
          </a:xfrm>
          <a:prstGeom prst="line">
            <a:avLst/>
          </a:prstGeom>
          <a:noFill/>
          <a:ln w="15875">
            <a:solidFill>
              <a:srgbClr val="D2D2D7"/>
            </a:solidFill>
            <a:prstDash val="solid"/>
            <a:tailEnd type="triangle"/>
          </a:ln>
        </p:spPr>
      </p:sp>
      <p:sp>
        <p:nvSpPr>
          <p:cNvPr id="16" name="Shape 14"/>
          <p:cNvSpPr/>
          <p:nvPr/>
        </p:nvSpPr>
        <p:spPr>
          <a:xfrm>
            <a:off x="6903720" y="5056632"/>
            <a:ext cx="219456" cy="219456"/>
          </a:xfrm>
          <a:prstGeom prst="ellipse">
            <a:avLst/>
          </a:prstGeom>
          <a:solidFill>
            <a:schemeClr val="accent1"/>
          </a:solidFill>
          <a:ln w="12700">
            <a:solidFill>
              <a:schemeClr val="accent1"/>
            </a:solidFill>
            <a:prstDash val="solid"/>
          </a:ln>
        </p:spPr>
      </p:sp>
      <p:sp>
        <p:nvSpPr>
          <p:cNvPr id="17" name="Text 15"/>
          <p:cNvSpPr txBox="1"/>
          <p:nvPr/>
        </p:nvSpPr>
        <p:spPr>
          <a:xfrm>
            <a:off x="7315200" y="4892040"/>
            <a:ext cx="4114800" cy="411480"/>
          </a:xfrm>
          <a:prstGeom prst="rect">
            <a:avLst/>
          </a:prstGeom>
          <a:noFill/>
          <a:ln/>
        </p:spPr>
        <p:txBody>
          <a:bodyPr wrap="square" lIns="0" tIns="0" rIns="0" bIns="0" rtlCol="0" anchor="t"/>
          <a:lstStyle/>
          <a:p>
            <a:pPr indent="0" marL="0">
              <a:buNone/>
            </a:pPr>
            <a:r>
              <a:rPr lang="en-US" sz="2400" b="1" dirty="0">
                <a:solidFill>
                  <a:schemeClr val="tx1"/>
                </a:solidFill>
              </a:rPr>
              <a:t>Claude Design</a:t>
            </a:r>
            <a:endParaRPr lang="en-US" sz="2400" dirty="0"/>
          </a:p>
        </p:txBody>
      </p:sp>
      <p:sp>
        <p:nvSpPr>
          <p:cNvPr id="18" name="Text 16"/>
          <p:cNvSpPr txBox="1"/>
          <p:nvPr/>
        </p:nvSpPr>
        <p:spPr>
          <a:xfrm>
            <a:off x="7315200" y="5321808"/>
            <a:ext cx="4114800" cy="365760"/>
          </a:xfrm>
          <a:prstGeom prst="rect">
            <a:avLst/>
          </a:prstGeom>
          <a:noFill/>
          <a:ln/>
        </p:spPr>
        <p:txBody>
          <a:bodyPr wrap="square" lIns="0" tIns="0" rIns="0" bIns="0" rtlCol="0" anchor="t"/>
          <a:lstStyle/>
          <a:p>
            <a:pPr indent="0" marL="0">
              <a:buNone/>
            </a:pPr>
            <a:r>
              <a:rPr lang="en-US" sz="1600" dirty="0">
                <a:solidFill>
                  <a:schemeClr val="accent2"/>
                </a:solidFill>
              </a:rPr>
              <a:t>laver designet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KOPIÉR DEN HER</a:t>
            </a:r>
            <a:endParaRPr lang="en-US" sz="1200" dirty="0"/>
          </a:p>
        </p:txBody>
      </p:sp>
      <p:sp>
        <p:nvSpPr>
          <p:cNvPr id="3" name="Text 1"/>
          <p:cNvSpPr txBox="1"/>
          <p:nvPr/>
        </p:nvSpPr>
        <p:spPr>
          <a:xfrm>
            <a:off x="685800" y="1280160"/>
            <a:ext cx="10241280" cy="3566160"/>
          </a:xfrm>
          <a:prstGeom prst="rect">
            <a:avLst/>
          </a:prstGeom>
          <a:noFill/>
          <a:ln/>
        </p:spPr>
        <p:txBody>
          <a:bodyPr wrap="square" lIns="0" tIns="0" rIns="0" bIns="0" rtlCol="0" anchor="ctr"/>
          <a:lstStyle/>
          <a:p>
            <a:pPr indent="0" marL="0">
              <a:lnSpc>
                <a:spcPct val="100000"/>
              </a:lnSpc>
              <a:buNone/>
            </a:pPr>
            <a:r>
              <a:rPr lang="en-US" sz="4000" b="1" dirty="0">
                <a:solidFill>
                  <a:schemeClr val="tx1"/>
                </a:solidFill>
              </a:rPr>
              <a:t>“Du er ekspert i prompts. Jeg vil have </a:t>
            </a:r>
            <a:pPr indent="0" marL="0">
              <a:lnSpc>
                <a:spcPct val="100000"/>
              </a:lnSpc>
              <a:buNone/>
            </a:pPr>
            <a:r>
              <a:rPr lang="en-US" sz="4000" b="1" dirty="0">
                <a:solidFill>
                  <a:schemeClr val="accent1"/>
                </a:solidFill>
              </a:rPr>
              <a:t>[værktøj]</a:t>
            </a:r>
            <a:pPr indent="0" marL="0">
              <a:lnSpc>
                <a:spcPct val="100000"/>
              </a:lnSpc>
              <a:buNone/>
            </a:pPr>
            <a:r>
              <a:rPr lang="en-US" sz="4000" b="1" dirty="0">
                <a:solidFill>
                  <a:schemeClr val="tx1"/>
                </a:solidFill>
              </a:rPr>
              <a:t> til at </a:t>
            </a:r>
            <a:pPr indent="0" marL="0">
              <a:lnSpc>
                <a:spcPct val="100000"/>
              </a:lnSpc>
              <a:buNone/>
            </a:pPr>
            <a:r>
              <a:rPr lang="en-US" sz="4000" b="1" dirty="0">
                <a:solidFill>
                  <a:schemeClr val="accent1"/>
                </a:solidFill>
              </a:rPr>
              <a:t>[mål]</a:t>
            </a:r>
            <a:pPr indent="0" marL="0">
              <a:lnSpc>
                <a:spcPct val="100000"/>
              </a:lnSpc>
              <a:buNone/>
            </a:pPr>
            <a:r>
              <a:rPr lang="en-US" sz="4000" b="1" dirty="0">
                <a:solidFill>
                  <a:schemeClr val="tx1"/>
                </a:solidFill>
              </a:rPr>
              <a:t>. Stil mig spørgsmål ét ad gangen. Skriv derefter den færdige prompt.”</a:t>
            </a:r>
            <a:endParaRPr lang="en-US" sz="4000" dirty="0"/>
          </a:p>
        </p:txBody>
      </p:sp>
      <p:sp>
        <p:nvSpPr>
          <p:cNvPr id="4" name="Text 2"/>
          <p:cNvSpPr txBox="1"/>
          <p:nvPr/>
        </p:nvSpPr>
        <p:spPr>
          <a:xfrm>
            <a:off x="685800" y="5257800"/>
            <a:ext cx="7315200" cy="365760"/>
          </a:xfrm>
          <a:prstGeom prst="rect">
            <a:avLst/>
          </a:prstGeom>
          <a:noFill/>
          <a:ln/>
        </p:spPr>
        <p:txBody>
          <a:bodyPr wrap="square" lIns="0" tIns="0" rIns="0" bIns="0" rtlCol="0" anchor="t"/>
          <a:lstStyle/>
          <a:p>
            <a:pPr indent="0" marL="0">
              <a:buNone/>
            </a:pPr>
            <a:r>
              <a:rPr lang="en-US" sz="1800" dirty="0">
                <a:solidFill>
                  <a:schemeClr val="accent2"/>
                </a:solidFill>
              </a:rPr>
              <a:t>Prompten, der skriver dine prompts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DIN TUR  ·  PARVIS</a:t>
            </a:r>
            <a:endParaRPr lang="en-US" sz="1200" dirty="0"/>
          </a:p>
        </p:txBody>
      </p:sp>
      <p:sp>
        <p:nvSpPr>
          <p:cNvPr id="3" name="Text 1"/>
          <p:cNvSpPr txBox="1"/>
          <p:nvPr/>
        </p:nvSpPr>
        <p:spPr>
          <a:xfrm>
            <a:off x="685800" y="1234440"/>
            <a:ext cx="10058400" cy="1828800"/>
          </a:xfrm>
          <a:prstGeom prst="rect">
            <a:avLst/>
          </a:prstGeom>
          <a:noFill/>
          <a:ln/>
        </p:spPr>
        <p:txBody>
          <a:bodyPr wrap="square" lIns="0" tIns="0" rIns="0" bIns="0" rtlCol="0" anchor="b"/>
          <a:lstStyle/>
          <a:p>
            <a:pPr indent="0" marL="0">
              <a:buNone/>
            </a:pPr>
            <a:r>
              <a:rPr lang="en-US" sz="5400" b="1" strike="sngStrike" dirty="0">
                <a:solidFill>
                  <a:schemeClr val="accent3"/>
                </a:solidFill>
              </a:rPr>
              <a:t>“Planlæg et firmaarrangement.”</a:t>
            </a:r>
            <a:endParaRPr lang="en-US" sz="5400" dirty="0"/>
          </a:p>
        </p:txBody>
      </p:sp>
      <p:sp>
        <p:nvSpPr>
          <p:cNvPr id="4" name="Text 2"/>
          <p:cNvSpPr txBox="1"/>
          <p:nvPr/>
        </p:nvSpPr>
        <p:spPr>
          <a:xfrm>
            <a:off x="685800" y="3429000"/>
            <a:ext cx="10058400" cy="731520"/>
          </a:xfrm>
          <a:prstGeom prst="rect">
            <a:avLst/>
          </a:prstGeom>
          <a:noFill/>
          <a:ln/>
        </p:spPr>
        <p:txBody>
          <a:bodyPr wrap="square" lIns="0" tIns="0" rIns="0" bIns="0" rtlCol="0" anchor="t"/>
          <a:lstStyle/>
          <a:p>
            <a:pPr indent="0" marL="0">
              <a:buNone/>
            </a:pPr>
            <a:r>
              <a:rPr lang="en-US" sz="3600" b="1" dirty="0">
                <a:solidFill>
                  <a:schemeClr val="tx1"/>
                </a:solidFill>
              </a:rPr>
              <a:t>Gør den dovne prompt færdig med </a:t>
            </a:r>
            <a:pPr indent="0" marL="0">
              <a:buNone/>
            </a:pPr>
            <a:r>
              <a:rPr lang="en-US" sz="3600" b="1" dirty="0">
                <a:solidFill>
                  <a:schemeClr val="accent1"/>
                </a:solidFill>
              </a:rPr>
              <a:t>KRAFT</a:t>
            </a:r>
            <a:endParaRPr lang="en-US" sz="3600" dirty="0"/>
          </a:p>
        </p:txBody>
      </p:sp>
      <p:sp>
        <p:nvSpPr>
          <p:cNvPr id="5" name="Text 3"/>
          <p:cNvSpPr txBox="1"/>
          <p:nvPr/>
        </p:nvSpPr>
        <p:spPr>
          <a:xfrm>
            <a:off x="685800" y="4343400"/>
            <a:ext cx="9144000" cy="822960"/>
          </a:xfrm>
          <a:prstGeom prst="rect">
            <a:avLst/>
          </a:prstGeom>
          <a:noFill/>
          <a:ln/>
        </p:spPr>
        <p:txBody>
          <a:bodyPr wrap="square" lIns="0" tIns="0" rIns="0" bIns="0" rtlCol="0" anchor="t"/>
          <a:lstStyle/>
          <a:p>
            <a:pPr indent="0" marL="0">
              <a:buNone/>
            </a:pPr>
            <a:r>
              <a:rPr lang="en-US" sz="2200" dirty="0">
                <a:solidFill>
                  <a:schemeClr val="accent2"/>
                </a:solidFill>
              </a:rPr>
              <a:t>Kør begge versioner. Det er en jobopgave, så lad AI levere det færdige produkt.</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ITERATION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Første svar er et udkast. </a:t>
            </a:r>
            <a:pPr algn="l" indent="0" marL="0">
              <a:lnSpc>
                <a:spcPct val="93000"/>
              </a:lnSpc>
              <a:buNone/>
            </a:pPr>
            <a:r>
              <a:rPr lang="en-US" sz="3400" b="1" dirty="0">
                <a:solidFill>
                  <a:schemeClr val="accent1"/>
                </a:solidFill>
              </a:rPr>
              <a:t>Spørg igen</a:t>
            </a:r>
            <a:endParaRPr lang="en-US" sz="3400" dirty="0"/>
          </a:p>
        </p:txBody>
      </p:sp>
      <p:sp>
        <p:nvSpPr>
          <p:cNvPr id="4" name="Text 2"/>
          <p:cNvSpPr txBox="1"/>
          <p:nvPr/>
        </p:nvSpPr>
        <p:spPr>
          <a:xfrm>
            <a:off x="685800" y="23774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27889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Hvilke antagelser har du gjort?</a:t>
            </a:r>
            <a:endParaRPr lang="en-US" sz="2600" dirty="0"/>
          </a:p>
        </p:txBody>
      </p:sp>
      <p:sp>
        <p:nvSpPr>
          <p:cNvPr id="6" name="Text 4"/>
          <p:cNvSpPr txBox="1"/>
          <p:nvPr/>
        </p:nvSpPr>
        <p:spPr>
          <a:xfrm>
            <a:off x="6263640" y="23774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7" name="Text 5"/>
          <p:cNvSpPr txBox="1"/>
          <p:nvPr/>
        </p:nvSpPr>
        <p:spPr>
          <a:xfrm>
            <a:off x="6263640" y="27889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Hvad mangler, før det er færdigt?</a:t>
            </a:r>
            <a:endParaRPr lang="en-US" sz="2600" dirty="0"/>
          </a:p>
        </p:txBody>
      </p:sp>
      <p:sp>
        <p:nvSpPr>
          <p:cNvPr id="8" name="Text 6"/>
          <p:cNvSpPr txBox="1"/>
          <p:nvPr/>
        </p:nvSpPr>
        <p:spPr>
          <a:xfrm>
            <a:off x="685800" y="42062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9" name="Text 7"/>
          <p:cNvSpPr txBox="1"/>
          <p:nvPr/>
        </p:nvSpPr>
        <p:spPr>
          <a:xfrm>
            <a:off x="685800" y="46177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Lav tre versioner, og anbefal én.</a:t>
            </a:r>
            <a:endParaRPr lang="en-US" sz="2600" dirty="0"/>
          </a:p>
        </p:txBody>
      </p:sp>
      <p:sp>
        <p:nvSpPr>
          <p:cNvPr id="10" name="Text 8"/>
          <p:cNvSpPr txBox="1"/>
          <p:nvPr/>
        </p:nvSpPr>
        <p:spPr>
          <a:xfrm>
            <a:off x="6263640" y="420624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04</a:t>
            </a:r>
            <a:endParaRPr lang="en-US" sz="1600" dirty="0"/>
          </a:p>
        </p:txBody>
      </p:sp>
      <p:sp>
        <p:nvSpPr>
          <p:cNvPr id="11" name="Text 9"/>
          <p:cNvSpPr txBox="1"/>
          <p:nvPr/>
        </p:nvSpPr>
        <p:spPr>
          <a:xfrm>
            <a:off x="6263640" y="4617720"/>
            <a:ext cx="5120640" cy="1097280"/>
          </a:xfrm>
          <a:prstGeom prst="rect">
            <a:avLst/>
          </a:prstGeom>
          <a:noFill/>
          <a:ln/>
        </p:spPr>
        <p:txBody>
          <a:bodyPr wrap="square" lIns="0" tIns="0" rIns="0" bIns="0" rtlCol="0" anchor="t"/>
          <a:lstStyle/>
          <a:p>
            <a:pPr indent="0" marL="0">
              <a:buNone/>
            </a:pPr>
            <a:r>
              <a:rPr lang="en-US" sz="2600" b="1" dirty="0">
                <a:solidFill>
                  <a:schemeClr val="tx1"/>
                </a:solidFill>
              </a:rPr>
              <a:t>Gør det klar til at sende.</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1463040"/>
            <a:ext cx="10058400" cy="2377440"/>
          </a:xfrm>
          <a:prstGeom prst="rect">
            <a:avLst/>
          </a:prstGeom>
          <a:noFill/>
          <a:ln/>
        </p:spPr>
        <p:txBody>
          <a:bodyPr wrap="square" lIns="0" tIns="0" rIns="0" bIns="0" rtlCol="0" anchor="b"/>
          <a:lstStyle/>
          <a:p>
            <a:pPr indent="0" marL="0">
              <a:buNone/>
            </a:pPr>
            <a:r>
              <a:rPr lang="en-US" sz="13000" b="1" dirty="0">
                <a:solidFill>
                  <a:schemeClr val="tx1"/>
                </a:solidFill>
              </a:rPr>
              <a:t>Pause.</a:t>
            </a:r>
            <a:endParaRPr lang="en-US" sz="13000" dirty="0"/>
          </a:p>
        </p:txBody>
      </p:sp>
      <p:sp>
        <p:nvSpPr>
          <p:cNvPr id="3" name="Text 1"/>
          <p:cNvSpPr txBox="1"/>
          <p:nvPr/>
        </p:nvSpPr>
        <p:spPr>
          <a:xfrm>
            <a:off x="685800" y="4206240"/>
            <a:ext cx="9875520" cy="914400"/>
          </a:xfrm>
          <a:prstGeom prst="rect">
            <a:avLst/>
          </a:prstGeom>
          <a:noFill/>
          <a:ln/>
        </p:spPr>
        <p:txBody>
          <a:bodyPr wrap="square" lIns="0" tIns="0" rIns="0" bIns="0" rtlCol="0" anchor="t"/>
          <a:lstStyle/>
          <a:p>
            <a:pPr indent="0" marL="0">
              <a:buNone/>
            </a:pPr>
            <a:r>
              <a:rPr lang="en-US" sz="2200" dirty="0">
                <a:solidFill>
                  <a:schemeClr val="accent2"/>
                </a:solidFill>
              </a:rPr>
              <a:t>Hent </a:t>
            </a:r>
            <a:pPr indent="0" marL="0">
              <a:buNone/>
            </a:pPr>
            <a:r>
              <a:rPr lang="en-US" sz="2200" dirty="0">
                <a:solidFill>
                  <a:schemeClr val="accent1"/>
                </a:solidFill>
              </a:rPr>
              <a:t>Serviceokonom_HotelFjordlys.xlsx</a:t>
            </a:r>
            <a:pPr indent="0" marL="0">
              <a:buNone/>
            </a:pPr>
            <a:r>
              <a:rPr lang="en-US" sz="2200" dirty="0">
                <a:solidFill>
                  <a:schemeClr val="accent2"/>
                </a:solidFill>
              </a:rPr>
              <a:t> fra læringsplatformen. Efter pausen arbejder I i rigtige data.</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03  ·  EXCEL OG DATA</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Brug AI </a:t>
            </a:r>
            <a:pPr indent="0" marL="0">
              <a:lnSpc>
                <a:spcPct val="90000"/>
              </a:lnSpc>
              <a:buNone/>
            </a:pPr>
            <a:r>
              <a:rPr lang="en-US" sz="9600" b="1" dirty="0">
                <a:solidFill>
                  <a:schemeClr val="accent1"/>
                </a:solidFill>
              </a:rPr>
              <a:t>fuldt ud.</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I jobbet er målet, at arbejdet bliver gjort.</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5013838"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Vibecoding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AI I EXCEL</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Du stiller spørgsmålet. AI </a:t>
            </a:r>
            <a:pPr algn="l" indent="0" marL="0">
              <a:lnSpc>
                <a:spcPct val="93000"/>
              </a:lnSpc>
              <a:buNone/>
            </a:pPr>
            <a:r>
              <a:rPr lang="en-US" sz="3400" b="1" dirty="0">
                <a:solidFill>
                  <a:schemeClr val="accent1"/>
                </a:solidFill>
              </a:rPr>
              <a:t>finder, bygger og leverer</a:t>
            </a:r>
            <a:endParaRPr lang="en-US" sz="3400" dirty="0"/>
          </a:p>
        </p:txBody>
      </p:sp>
      <p:sp>
        <p:nvSpPr>
          <p:cNvPr id="4" name="Text 2"/>
          <p:cNvSpPr txBox="1"/>
          <p:nvPr/>
        </p:nvSpPr>
        <p:spPr>
          <a:xfrm>
            <a:off x="685800"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685800"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Finder</a:t>
            </a:r>
            <a:endParaRPr lang="en-US" sz="5200" dirty="0"/>
          </a:p>
        </p:txBody>
      </p:sp>
      <p:sp>
        <p:nvSpPr>
          <p:cNvPr id="6" name="Text 4"/>
          <p:cNvSpPr txBox="1"/>
          <p:nvPr/>
        </p:nvSpPr>
        <p:spPr>
          <a:xfrm>
            <a:off x="685800"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det, du skal reagere på</a:t>
            </a:r>
            <a:endParaRPr lang="en-US" sz="1900" dirty="0"/>
          </a:p>
        </p:txBody>
      </p:sp>
      <p:sp>
        <p:nvSpPr>
          <p:cNvPr id="7" name="Text 5"/>
          <p:cNvSpPr txBox="1"/>
          <p:nvPr/>
        </p:nvSpPr>
        <p:spPr>
          <a:xfrm>
            <a:off x="4292498"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8" name="Text 6"/>
          <p:cNvSpPr txBox="1"/>
          <p:nvPr/>
        </p:nvSpPr>
        <p:spPr>
          <a:xfrm>
            <a:off x="4292498"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Bygger</a:t>
            </a:r>
            <a:endParaRPr lang="en-US" sz="5200" dirty="0"/>
          </a:p>
        </p:txBody>
      </p:sp>
      <p:sp>
        <p:nvSpPr>
          <p:cNvPr id="9" name="Text 7"/>
          <p:cNvSpPr txBox="1"/>
          <p:nvPr/>
        </p:nvSpPr>
        <p:spPr>
          <a:xfrm>
            <a:off x="4292498"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formler, pivottabeller, kontrolkort og grafer</a:t>
            </a:r>
            <a:endParaRPr lang="en-US" sz="1900" dirty="0"/>
          </a:p>
        </p:txBody>
      </p:sp>
      <p:sp>
        <p:nvSpPr>
          <p:cNvPr id="10" name="Text 8"/>
          <p:cNvSpPr txBox="1"/>
          <p:nvPr/>
        </p:nvSpPr>
        <p:spPr>
          <a:xfrm>
            <a:off x="7899197" y="260604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11" name="Text 9"/>
          <p:cNvSpPr txBox="1"/>
          <p:nvPr/>
        </p:nvSpPr>
        <p:spPr>
          <a:xfrm>
            <a:off x="7899197" y="3017520"/>
            <a:ext cx="3332378" cy="914400"/>
          </a:xfrm>
          <a:prstGeom prst="rect">
            <a:avLst/>
          </a:prstGeom>
          <a:noFill/>
          <a:ln/>
        </p:spPr>
        <p:txBody>
          <a:bodyPr wrap="square" lIns="0" tIns="0" rIns="0" bIns="0" rtlCol="0" anchor="t"/>
          <a:lstStyle/>
          <a:p>
            <a:pPr indent="0" marL="0">
              <a:buNone/>
            </a:pPr>
            <a:r>
              <a:rPr lang="en-US" sz="5200" b="1" dirty="0">
                <a:solidFill>
                  <a:schemeClr val="bg1"/>
                </a:solidFill>
              </a:rPr>
              <a:t>Leverer</a:t>
            </a:r>
            <a:endParaRPr lang="en-US" sz="5200" dirty="0"/>
          </a:p>
        </p:txBody>
      </p:sp>
      <p:sp>
        <p:nvSpPr>
          <p:cNvPr id="12" name="Text 10"/>
          <p:cNvSpPr txBox="1"/>
          <p:nvPr/>
        </p:nvSpPr>
        <p:spPr>
          <a:xfrm>
            <a:off x="7899197" y="4069080"/>
            <a:ext cx="3058058" cy="914400"/>
          </a:xfrm>
          <a:prstGeom prst="rect">
            <a:avLst/>
          </a:prstGeom>
          <a:noFill/>
          <a:ln/>
        </p:spPr>
        <p:txBody>
          <a:bodyPr wrap="square" lIns="0" tIns="0" rIns="0" bIns="0" rtlCol="0" anchor="t"/>
          <a:lstStyle/>
          <a:p>
            <a:pPr indent="0" marL="0">
              <a:buNone/>
            </a:pPr>
            <a:r>
              <a:rPr lang="en-US" sz="1900" dirty="0">
                <a:solidFill>
                  <a:schemeClr val="accent3"/>
                </a:solidFill>
              </a:rPr>
              <a:t>dashboardet, rapporten og mailen</a:t>
            </a:r>
            <a:endParaRPr lang="en-US" sz="1900" dirty="0"/>
          </a:p>
        </p:txBody>
      </p:sp>
      <p:sp>
        <p:nvSpPr>
          <p:cNvPr id="13" name="Text 11"/>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Upload filen til Claude eller ChatGPT, eller brug Copilot direkte i Excel.</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ALLE DATA ER FIKTIVE</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lnSpc>
                <a:spcPct val="93000"/>
              </a:lnSpc>
              <a:buNone/>
            </a:pPr>
            <a:r>
              <a:rPr lang="en-US" sz="3400" b="1" dirty="0">
                <a:solidFill>
                  <a:schemeClr val="bg1"/>
                </a:solidFill>
              </a:rPr>
              <a:t>Datasættet til i dag</a:t>
            </a:r>
            <a:endParaRPr lang="en-US" sz="3400" dirty="0"/>
          </a:p>
        </p:txBody>
      </p:sp>
      <p:sp>
        <p:nvSpPr>
          <p:cNvPr id="4" name="Text 2"/>
          <p:cNvSpPr txBox="1"/>
          <p:nvPr/>
        </p:nvSpPr>
        <p:spPr>
          <a:xfrm>
            <a:off x="640080" y="2240280"/>
            <a:ext cx="10515600" cy="2377440"/>
          </a:xfrm>
          <a:prstGeom prst="rect">
            <a:avLst/>
          </a:prstGeom>
          <a:noFill/>
          <a:ln/>
        </p:spPr>
        <p:txBody>
          <a:bodyPr wrap="square" lIns="0" tIns="0" rIns="0" bIns="0" rtlCol="0" anchor="ctr"/>
          <a:lstStyle/>
          <a:p>
            <a:pPr indent="0" marL="0">
              <a:lnSpc>
                <a:spcPct val="90000"/>
              </a:lnSpc>
              <a:buNone/>
            </a:pPr>
            <a:r>
              <a:rPr lang="en-US" sz="15000" b="1" dirty="0">
                <a:solidFill>
                  <a:schemeClr val="accent1"/>
                </a:solidFill>
              </a:rPr>
              <a:t>90</a:t>
            </a:r>
            <a:endParaRPr lang="en-US" sz="15000" dirty="0"/>
          </a:p>
        </p:txBody>
      </p:sp>
      <p:sp>
        <p:nvSpPr>
          <p:cNvPr id="5" name="Text 3"/>
          <p:cNvSpPr txBox="1"/>
          <p:nvPr/>
        </p:nvSpPr>
        <p:spPr>
          <a:xfrm>
            <a:off x="685800" y="4800600"/>
            <a:ext cx="9875520" cy="1097280"/>
          </a:xfrm>
          <a:prstGeom prst="rect">
            <a:avLst/>
          </a:prstGeom>
          <a:noFill/>
          <a:ln/>
        </p:spPr>
        <p:txBody>
          <a:bodyPr wrap="square" lIns="0" tIns="0" rIns="0" bIns="0" rtlCol="0" anchor="t"/>
          <a:lstStyle/>
          <a:p>
            <a:pPr indent="0" marL="0">
              <a:buNone/>
            </a:pPr>
            <a:r>
              <a:rPr lang="en-US" sz="2200" dirty="0">
                <a:solidFill>
                  <a:schemeClr val="accent3"/>
                </a:solidFill>
              </a:rPr>
              <a:t>anmeldelser og 92 dages bookinger fra Hotel Fjordlys.</a:t>
            </a:r>
            <a:endParaRPr lang="en-US" sz="2200" dirty="0"/>
          </a:p>
          <a:p>
            <a:pPr indent="0" marL="0">
              <a:buNone/>
            </a:pPr>
            <a:r>
              <a:rPr lang="en-US" sz="2200" dirty="0">
                <a:solidFill>
                  <a:schemeClr val="accent3"/>
                </a:solidFill>
              </a:rPr>
              <a:t>Google  ·  Tripadvisor  ·  Booking.com  ·  Bookinger</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PROMPTKORTET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Seks prompts fra rådata til </a:t>
            </a:r>
            <a:pPr algn="l" indent="0" marL="0">
              <a:lnSpc>
                <a:spcPct val="93000"/>
              </a:lnSpc>
              <a:buNone/>
            </a:pPr>
            <a:r>
              <a:rPr lang="en-US" sz="3400" b="1" dirty="0">
                <a:solidFill>
                  <a:schemeClr val="accent1"/>
                </a:solidFill>
              </a:rPr>
              <a:t>ledermødet</a:t>
            </a:r>
            <a:endParaRPr lang="en-US" sz="3400" dirty="0"/>
          </a:p>
        </p:txBody>
      </p:sp>
      <p:sp>
        <p:nvSpPr>
          <p:cNvPr id="4" name="Text 2"/>
          <p:cNvSpPr txBox="1"/>
          <p:nvPr/>
        </p:nvSpPr>
        <p:spPr>
          <a:xfrm>
            <a:off x="685800" y="251460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5" name="Text 3"/>
          <p:cNvSpPr txBox="1"/>
          <p:nvPr/>
        </p:nvSpPr>
        <p:spPr>
          <a:xfrm>
            <a:off x="1325880" y="2551176"/>
            <a:ext cx="4572000" cy="548640"/>
          </a:xfrm>
          <a:prstGeom prst="rect">
            <a:avLst/>
          </a:prstGeom>
          <a:noFill/>
          <a:ln/>
        </p:spPr>
        <p:txBody>
          <a:bodyPr wrap="square" lIns="0" tIns="0" rIns="0" bIns="0" rtlCol="0" anchor="t"/>
          <a:lstStyle/>
          <a:p>
            <a:pPr indent="0" marL="0">
              <a:buNone/>
            </a:pPr>
            <a:r>
              <a:rPr lang="en-US" sz="2800" b="1" dirty="0">
                <a:solidFill>
                  <a:schemeClr val="bg1"/>
                </a:solidFill>
              </a:rPr>
              <a:t>Anmeldelser</a:t>
            </a:r>
            <a:endParaRPr lang="en-US" sz="2800" dirty="0"/>
          </a:p>
        </p:txBody>
      </p:sp>
      <p:sp>
        <p:nvSpPr>
          <p:cNvPr id="6" name="Text 4"/>
          <p:cNvSpPr txBox="1"/>
          <p:nvPr/>
        </p:nvSpPr>
        <p:spPr>
          <a:xfrm>
            <a:off x="685800" y="338328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7" name="Text 5"/>
          <p:cNvSpPr txBox="1"/>
          <p:nvPr/>
        </p:nvSpPr>
        <p:spPr>
          <a:xfrm>
            <a:off x="1325880" y="3419856"/>
            <a:ext cx="4572000" cy="548640"/>
          </a:xfrm>
          <a:prstGeom prst="rect">
            <a:avLst/>
          </a:prstGeom>
          <a:noFill/>
          <a:ln/>
        </p:spPr>
        <p:txBody>
          <a:bodyPr wrap="square" lIns="0" tIns="0" rIns="0" bIns="0" rtlCol="0" anchor="t"/>
          <a:lstStyle/>
          <a:p>
            <a:pPr indent="0" marL="0">
              <a:buNone/>
            </a:pPr>
            <a:r>
              <a:rPr lang="en-US" sz="2800" b="1" dirty="0">
                <a:solidFill>
                  <a:schemeClr val="bg1"/>
                </a:solidFill>
              </a:rPr>
              <a:t>Udvikling</a:t>
            </a:r>
            <a:endParaRPr lang="en-US" sz="2800" dirty="0"/>
          </a:p>
        </p:txBody>
      </p:sp>
      <p:sp>
        <p:nvSpPr>
          <p:cNvPr id="8" name="Text 6"/>
          <p:cNvSpPr txBox="1"/>
          <p:nvPr/>
        </p:nvSpPr>
        <p:spPr>
          <a:xfrm>
            <a:off x="685800" y="425196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9" name="Text 7"/>
          <p:cNvSpPr txBox="1"/>
          <p:nvPr/>
        </p:nvSpPr>
        <p:spPr>
          <a:xfrm>
            <a:off x="1325880" y="4288536"/>
            <a:ext cx="4572000" cy="548640"/>
          </a:xfrm>
          <a:prstGeom prst="rect">
            <a:avLst/>
          </a:prstGeom>
          <a:noFill/>
          <a:ln/>
        </p:spPr>
        <p:txBody>
          <a:bodyPr wrap="square" lIns="0" tIns="0" rIns="0" bIns="0" rtlCol="0" anchor="t"/>
          <a:lstStyle/>
          <a:p>
            <a:pPr indent="0" marL="0">
              <a:buNone/>
            </a:pPr>
            <a:r>
              <a:rPr lang="en-US" sz="2800" b="1" dirty="0">
                <a:solidFill>
                  <a:schemeClr val="bg1"/>
                </a:solidFill>
              </a:rPr>
              <a:t>Svar til gæsterne</a:t>
            </a:r>
            <a:endParaRPr lang="en-US" sz="2800" dirty="0"/>
          </a:p>
        </p:txBody>
      </p:sp>
      <p:sp>
        <p:nvSpPr>
          <p:cNvPr id="10" name="Text 8"/>
          <p:cNvSpPr txBox="1"/>
          <p:nvPr/>
        </p:nvSpPr>
        <p:spPr>
          <a:xfrm>
            <a:off x="6172200" y="251460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4</a:t>
            </a:r>
            <a:endParaRPr lang="en-US" sz="3000" dirty="0"/>
          </a:p>
        </p:txBody>
      </p:sp>
      <p:sp>
        <p:nvSpPr>
          <p:cNvPr id="11" name="Text 9"/>
          <p:cNvSpPr txBox="1"/>
          <p:nvPr/>
        </p:nvSpPr>
        <p:spPr>
          <a:xfrm>
            <a:off x="6812280" y="2551176"/>
            <a:ext cx="4572000" cy="548640"/>
          </a:xfrm>
          <a:prstGeom prst="rect">
            <a:avLst/>
          </a:prstGeom>
          <a:noFill/>
          <a:ln/>
        </p:spPr>
        <p:txBody>
          <a:bodyPr wrap="square" lIns="0" tIns="0" rIns="0" bIns="0" rtlCol="0" anchor="t"/>
          <a:lstStyle/>
          <a:p>
            <a:pPr indent="0" marL="0">
              <a:buNone/>
            </a:pPr>
            <a:r>
              <a:rPr lang="en-US" sz="2800" b="1" dirty="0">
                <a:solidFill>
                  <a:schemeClr val="bg1"/>
                </a:solidFill>
              </a:rPr>
              <a:t>Nøgletal</a:t>
            </a:r>
            <a:endParaRPr lang="en-US" sz="2800" dirty="0"/>
          </a:p>
        </p:txBody>
      </p:sp>
      <p:sp>
        <p:nvSpPr>
          <p:cNvPr id="12" name="Text 10"/>
          <p:cNvSpPr txBox="1"/>
          <p:nvPr/>
        </p:nvSpPr>
        <p:spPr>
          <a:xfrm>
            <a:off x="6172200" y="338328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5</a:t>
            </a:r>
            <a:endParaRPr lang="en-US" sz="3000" dirty="0"/>
          </a:p>
        </p:txBody>
      </p:sp>
      <p:sp>
        <p:nvSpPr>
          <p:cNvPr id="13" name="Text 11"/>
          <p:cNvSpPr txBox="1"/>
          <p:nvPr/>
        </p:nvSpPr>
        <p:spPr>
          <a:xfrm>
            <a:off x="6812280" y="3419856"/>
            <a:ext cx="4572000" cy="548640"/>
          </a:xfrm>
          <a:prstGeom prst="rect">
            <a:avLst/>
          </a:prstGeom>
          <a:noFill/>
          <a:ln/>
        </p:spPr>
        <p:txBody>
          <a:bodyPr wrap="square" lIns="0" tIns="0" rIns="0" bIns="0" rtlCol="0" anchor="t"/>
          <a:lstStyle/>
          <a:p>
            <a:pPr indent="0" marL="0">
              <a:buNone/>
            </a:pPr>
            <a:r>
              <a:rPr lang="en-US" sz="2800" b="1" dirty="0">
                <a:solidFill>
                  <a:schemeClr val="bg1"/>
                </a:solidFill>
              </a:rPr>
              <a:t>Kanalstrategi</a:t>
            </a:r>
            <a:endParaRPr lang="en-US" sz="2800" dirty="0"/>
          </a:p>
        </p:txBody>
      </p:sp>
      <p:sp>
        <p:nvSpPr>
          <p:cNvPr id="14" name="Text 12"/>
          <p:cNvSpPr txBox="1"/>
          <p:nvPr/>
        </p:nvSpPr>
        <p:spPr>
          <a:xfrm>
            <a:off x="6172200" y="4251960"/>
            <a:ext cx="548640" cy="548640"/>
          </a:xfrm>
          <a:prstGeom prst="rect">
            <a:avLst/>
          </a:prstGeom>
          <a:noFill/>
          <a:ln/>
        </p:spPr>
        <p:txBody>
          <a:bodyPr wrap="square" lIns="0" tIns="0" rIns="0" bIns="0" rtlCol="0" anchor="t"/>
          <a:lstStyle/>
          <a:p>
            <a:pPr indent="0" marL="0">
              <a:buNone/>
            </a:pPr>
            <a:r>
              <a:rPr lang="en-US" sz="3000" b="1" dirty="0">
                <a:solidFill>
                  <a:schemeClr val="accent1"/>
                </a:solidFill>
              </a:rPr>
              <a:t>6</a:t>
            </a:r>
            <a:endParaRPr lang="en-US" sz="3000" dirty="0"/>
          </a:p>
        </p:txBody>
      </p:sp>
      <p:sp>
        <p:nvSpPr>
          <p:cNvPr id="15" name="Text 13"/>
          <p:cNvSpPr txBox="1"/>
          <p:nvPr/>
        </p:nvSpPr>
        <p:spPr>
          <a:xfrm>
            <a:off x="6812280" y="4288536"/>
            <a:ext cx="4572000" cy="548640"/>
          </a:xfrm>
          <a:prstGeom prst="rect">
            <a:avLst/>
          </a:prstGeom>
          <a:noFill/>
          <a:ln/>
        </p:spPr>
        <p:txBody>
          <a:bodyPr wrap="square" lIns="0" tIns="0" rIns="0" bIns="0" rtlCol="0" anchor="t"/>
          <a:lstStyle/>
          <a:p>
            <a:pPr indent="0" marL="0">
              <a:buNone/>
            </a:pPr>
            <a:r>
              <a:rPr lang="en-US" sz="2800" b="1" dirty="0">
                <a:solidFill>
                  <a:schemeClr val="bg1"/>
                </a:solidFill>
              </a:rPr>
              <a:t>Lever</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1  ·  ANMELDELSER</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Gæsterne roser personalet og klager over </a:t>
            </a:r>
            <a:pPr algn="l" indent="0" marL="0">
              <a:lnSpc>
                <a:spcPct val="93000"/>
              </a:lnSpc>
              <a:buNone/>
            </a:pPr>
            <a:r>
              <a:rPr lang="en-US" sz="3400" b="1" dirty="0">
                <a:solidFill>
                  <a:schemeClr val="accent1"/>
                </a:solidFill>
              </a:rPr>
              <a:t>check-in og støj</a:t>
            </a:r>
            <a:endParaRPr lang="en-US" sz="3400" dirty="0"/>
          </a:p>
        </p:txBody>
      </p:sp>
      <p:sp>
        <p:nvSpPr>
          <p:cNvPr id="4" name="Text 2"/>
          <p:cNvSpPr txBox="1"/>
          <p:nvPr/>
        </p:nvSpPr>
        <p:spPr>
          <a:xfrm>
            <a:off x="685800" y="2240280"/>
            <a:ext cx="27432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ROS</a:t>
            </a:r>
            <a:endParaRPr lang="en-US" sz="1200" dirty="0"/>
          </a:p>
        </p:txBody>
      </p:sp>
      <p:sp>
        <p:nvSpPr>
          <p:cNvPr id="5" name="Text 3"/>
          <p:cNvSpPr txBox="1"/>
          <p:nvPr/>
        </p:nvSpPr>
        <p:spPr>
          <a:xfrm>
            <a:off x="6263640" y="22402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KLAGER</a:t>
            </a:r>
            <a:endParaRPr lang="en-US" sz="1200" dirty="0"/>
          </a:p>
        </p:txBody>
      </p:sp>
      <p:graphicFrame>
        <p:nvGraphicFramePr>
          <p:cNvPr id="6" name="Chart 0" descr=""/>
          <p:cNvGraphicFramePr/>
          <p:nvPr/>
        </p:nvGraphicFramePr>
        <p:xfrm>
          <a:off x="685800" y="2560320"/>
          <a:ext cx="512064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63640" y="2560320"/>
          <a:ext cx="5239512" cy="310896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Antal anmeldelser, der nævner temaet. 90 anmeldelser fra juli til september 2026.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2  ·  UDVIKLING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Rengøring var ikke et problem. </a:t>
            </a:r>
            <a:pPr algn="l" indent="0" marL="0">
              <a:lnSpc>
                <a:spcPct val="93000"/>
              </a:lnSpc>
              <a:buNone/>
            </a:pPr>
            <a:r>
              <a:rPr lang="en-US" sz="3400" b="1" dirty="0">
                <a:solidFill>
                  <a:schemeClr val="accent1"/>
                </a:solidFill>
              </a:rPr>
              <a:t>Indtil september</a:t>
            </a:r>
            <a:endParaRPr lang="en-US" sz="3400" dirty="0"/>
          </a:p>
        </p:txBody>
      </p:sp>
      <p:graphicFrame>
        <p:nvGraphicFramePr>
          <p:cNvPr id="4" name="Chart 0" descr=""/>
          <p:cNvGraphicFramePr/>
          <p:nvPr/>
        </p:nvGraphicFramePr>
        <p:xfrm>
          <a:off x="685800" y="224028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01000" y="2286000"/>
            <a:ext cx="3520440" cy="1188720"/>
          </a:xfrm>
          <a:prstGeom prst="rect">
            <a:avLst/>
          </a:prstGeom>
          <a:noFill/>
          <a:ln/>
        </p:spPr>
        <p:txBody>
          <a:bodyPr wrap="square" lIns="0" tIns="0" rIns="0" bIns="0" rtlCol="0" anchor="b"/>
          <a:lstStyle/>
          <a:p>
            <a:pPr indent="0" marL="0">
              <a:buNone/>
            </a:pPr>
            <a:r>
              <a:rPr lang="en-US" sz="6000" b="1" dirty="0">
                <a:solidFill>
                  <a:schemeClr val="accent1"/>
                </a:solidFill>
              </a:rPr>
              <a:t>11 af 19</a:t>
            </a:r>
            <a:endParaRPr lang="en-US" sz="6000" dirty="0"/>
          </a:p>
        </p:txBody>
      </p:sp>
      <p:sp>
        <p:nvSpPr>
          <p:cNvPr id="6" name="Text 3"/>
          <p:cNvSpPr txBox="1"/>
          <p:nvPr/>
        </p:nvSpPr>
        <p:spPr>
          <a:xfrm>
            <a:off x="8001000" y="3520440"/>
            <a:ext cx="3383280" cy="914400"/>
          </a:xfrm>
          <a:prstGeom prst="rect">
            <a:avLst/>
          </a:prstGeom>
          <a:noFill/>
          <a:ln/>
        </p:spPr>
        <p:txBody>
          <a:bodyPr wrap="square" lIns="0" tIns="0" rIns="0" bIns="0" rtlCol="0" anchor="t"/>
          <a:lstStyle/>
          <a:p>
            <a:pPr indent="0" marL="0">
              <a:buNone/>
            </a:pPr>
            <a:r>
              <a:rPr lang="en-US" sz="1800" dirty="0">
                <a:solidFill>
                  <a:schemeClr val="bg1"/>
                </a:solidFill>
              </a:rPr>
              <a:t>klager over check-in kommer fra fredage og lørdage</a:t>
            </a:r>
            <a:endParaRPr lang="en-US" sz="1800" dirty="0"/>
          </a:p>
        </p:txBody>
      </p:sp>
      <p:sp>
        <p:nvSpPr>
          <p:cNvPr id="7" name="Text 4"/>
          <p:cNvSpPr txBox="1"/>
          <p:nvPr/>
        </p:nvSpPr>
        <p:spPr>
          <a:xfrm>
            <a:off x="8001000" y="4572000"/>
            <a:ext cx="3383280" cy="457200"/>
          </a:xfrm>
          <a:prstGeom prst="rect">
            <a:avLst/>
          </a:prstGeom>
          <a:noFill/>
          <a:ln/>
        </p:spPr>
        <p:txBody>
          <a:bodyPr wrap="square" lIns="0" tIns="0" rIns="0" bIns="0" rtlCol="0" anchor="t"/>
          <a:lstStyle/>
          <a:p>
            <a:pPr indent="0" marL="0">
              <a:buNone/>
            </a:pPr>
            <a:r>
              <a:rPr lang="en-US" sz="1400" dirty="0">
                <a:solidFill>
                  <a:schemeClr val="accent3"/>
                </a:solidFill>
              </a:rPr>
              <a:t>Bemand receptionen efter det.</a:t>
            </a:r>
            <a:endParaRPr lang="en-US" sz="1400" dirty="0"/>
          </a:p>
        </p:txBody>
      </p:sp>
      <p:sp>
        <p:nvSpPr>
          <p:cNvPr id="8" name="Text 5"/>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Anmeldelser, der klager over rengøring, pr. måned.</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3  ·  SVAR TIL GÆSTERNE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AI svarer gæsten </a:t>
            </a:r>
            <a:pPr algn="l" indent="0" marL="0">
              <a:lnSpc>
                <a:spcPct val="93000"/>
              </a:lnSpc>
              <a:buNone/>
            </a:pPr>
            <a:r>
              <a:rPr lang="en-US" sz="3400" b="1" dirty="0">
                <a:solidFill>
                  <a:schemeClr val="accent1"/>
                </a:solidFill>
              </a:rPr>
              <a:t>på gæstens eget sprog</a:t>
            </a:r>
            <a:endParaRPr lang="en-US" sz="3400" dirty="0"/>
          </a:p>
        </p:txBody>
      </p:sp>
      <p:sp>
        <p:nvSpPr>
          <p:cNvPr id="4" name="Shape 2"/>
          <p:cNvSpPr/>
          <p:nvPr/>
        </p:nvSpPr>
        <p:spPr>
          <a:xfrm>
            <a:off x="685800" y="2606040"/>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685800" y="261061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2578608"/>
            <a:ext cx="3840480" cy="731520"/>
          </a:xfrm>
          <a:prstGeom prst="rect">
            <a:avLst/>
          </a:prstGeom>
          <a:noFill/>
          <a:ln/>
        </p:spPr>
        <p:txBody>
          <a:bodyPr wrap="square" lIns="0" tIns="0" rIns="0" bIns="0" rtlCol="0" anchor="t"/>
          <a:lstStyle/>
          <a:p>
            <a:pPr indent="0" marL="0">
              <a:buNone/>
            </a:pPr>
            <a:r>
              <a:rPr lang="en-US" sz="1800" dirty="0">
                <a:solidFill>
                  <a:schemeClr val="bg1"/>
                </a:solidFill>
              </a:rPr>
              <a:t>Tysk anmeldelse fra Booking.com</a:t>
            </a:r>
            <a:endParaRPr lang="en-US" sz="1800" dirty="0"/>
          </a:p>
        </p:txBody>
      </p:sp>
      <p:sp>
        <p:nvSpPr>
          <p:cNvPr id="7" name="Shape 5"/>
          <p:cNvSpPr/>
          <p:nvPr/>
        </p:nvSpPr>
        <p:spPr>
          <a:xfrm>
            <a:off x="685800" y="3566160"/>
            <a:ext cx="329184" cy="329184"/>
          </a:xfrm>
          <a:prstGeom prst="ellipse">
            <a:avLst/>
          </a:prstGeom>
          <a:solidFill>
            <a:schemeClr val="accent1"/>
          </a:solidFill>
          <a:ln w="12700">
            <a:solidFill>
              <a:schemeClr val="accent1"/>
            </a:solidFill>
            <a:prstDash val="solid"/>
          </a:ln>
        </p:spPr>
      </p:sp>
      <p:sp>
        <p:nvSpPr>
          <p:cNvPr id="8" name="Text 6"/>
          <p:cNvSpPr txBox="1"/>
          <p:nvPr/>
        </p:nvSpPr>
        <p:spPr>
          <a:xfrm>
            <a:off x="685800" y="35707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234440" y="3538728"/>
            <a:ext cx="3840480" cy="731520"/>
          </a:xfrm>
          <a:prstGeom prst="rect">
            <a:avLst/>
          </a:prstGeom>
          <a:noFill/>
          <a:ln/>
        </p:spPr>
        <p:txBody>
          <a:bodyPr wrap="square" lIns="0" tIns="0" rIns="0" bIns="0" rtlCol="0" anchor="t"/>
          <a:lstStyle/>
          <a:p>
            <a:pPr indent="0" marL="0">
              <a:buNone/>
            </a:pPr>
            <a:r>
              <a:rPr lang="en-US" sz="1800" dirty="0">
                <a:solidFill>
                  <a:schemeClr val="bg1"/>
                </a:solidFill>
              </a:rPr>
              <a:t>Tager både ros og klage med</a:t>
            </a:r>
            <a:endParaRPr lang="en-US" sz="1800" dirty="0"/>
          </a:p>
        </p:txBody>
      </p:sp>
      <p:sp>
        <p:nvSpPr>
          <p:cNvPr id="10" name="Shape 8"/>
          <p:cNvSpPr/>
          <p:nvPr/>
        </p:nvSpPr>
        <p:spPr>
          <a:xfrm>
            <a:off x="685800" y="4526280"/>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685800" y="453085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1234440" y="4498848"/>
            <a:ext cx="3840480" cy="731520"/>
          </a:xfrm>
          <a:prstGeom prst="rect">
            <a:avLst/>
          </a:prstGeom>
          <a:noFill/>
          <a:ln/>
        </p:spPr>
        <p:txBody>
          <a:bodyPr wrap="square" lIns="0" tIns="0" rIns="0" bIns="0" rtlCol="0" anchor="t"/>
          <a:lstStyle/>
          <a:p>
            <a:pPr indent="0" marL="0">
              <a:buNone/>
            </a:pPr>
            <a:r>
              <a:rPr lang="en-US" sz="1800" dirty="0">
                <a:solidFill>
                  <a:schemeClr val="bg1"/>
                </a:solidFill>
              </a:rPr>
              <a:t>Klar til at poste</a:t>
            </a:r>
            <a:endParaRPr lang="en-US" sz="1800" dirty="0"/>
          </a:p>
        </p:txBody>
      </p:sp>
      <p:sp>
        <p:nvSpPr>
          <p:cNvPr id="13" name="Shape 11"/>
          <p:cNvSpPr/>
          <p:nvPr/>
        </p:nvSpPr>
        <p:spPr>
          <a:xfrm>
            <a:off x="5760720" y="2148840"/>
            <a:ext cx="5742432" cy="1783080"/>
          </a:xfrm>
          <a:prstGeom prst="roundRect">
            <a:avLst>
              <a:gd name="adj" fmla="val 5128"/>
            </a:avLst>
          </a:prstGeom>
          <a:solidFill>
            <a:srgbClr val="1C1C1E"/>
          </a:solidFill>
          <a:ln w="12700">
            <a:solidFill>
              <a:srgbClr val="1C1C1E"/>
            </a:solidFill>
            <a:prstDash val="solid"/>
          </a:ln>
        </p:spPr>
      </p:sp>
      <p:sp>
        <p:nvSpPr>
          <p:cNvPr id="14" name="Text 12"/>
          <p:cNvSpPr txBox="1"/>
          <p:nvPr/>
        </p:nvSpPr>
        <p:spPr>
          <a:xfrm>
            <a:off x="6126480" y="2377440"/>
            <a:ext cx="45720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BOOKING.COM  ·  6/10  ·  TYSK</a:t>
            </a:r>
            <a:endParaRPr lang="en-US" sz="1100" dirty="0"/>
          </a:p>
        </p:txBody>
      </p:sp>
      <p:sp>
        <p:nvSpPr>
          <p:cNvPr id="15" name="Text 13"/>
          <p:cNvSpPr txBox="1"/>
          <p:nvPr/>
        </p:nvSpPr>
        <p:spPr>
          <a:xfrm>
            <a:off x="6126480" y="2697480"/>
            <a:ext cx="4919472" cy="1143000"/>
          </a:xfrm>
          <a:prstGeom prst="rect">
            <a:avLst/>
          </a:prstGeom>
          <a:noFill/>
          <a:ln/>
        </p:spPr>
        <p:txBody>
          <a:bodyPr wrap="square" lIns="0" tIns="0" rIns="0" bIns="0" rtlCol="0" anchor="t"/>
          <a:lstStyle/>
          <a:p>
            <a:pPr indent="0" marL="0">
              <a:buNone/>
            </a:pPr>
            <a:r>
              <a:rPr lang="en-US" sz="1500" dirty="0">
                <a:solidFill>
                  <a:schemeClr val="bg1"/>
                </a:solidFill>
              </a:rPr>
              <a:t>Modernes Zimmer mit sehr bequemem Bett. Leider sehr laut wegen der Lüftung. Wenige Parkplätze, und sie kosten extra.</a:t>
            </a:r>
            <a:endParaRPr lang="en-US" sz="1500" dirty="0"/>
          </a:p>
        </p:txBody>
      </p:sp>
      <p:sp>
        <p:nvSpPr>
          <p:cNvPr id="16" name="Shape 14"/>
          <p:cNvSpPr/>
          <p:nvPr/>
        </p:nvSpPr>
        <p:spPr>
          <a:xfrm>
            <a:off x="10954512" y="2331720"/>
            <a:ext cx="329184" cy="329184"/>
          </a:xfrm>
          <a:prstGeom prst="ellipse">
            <a:avLst/>
          </a:prstGeom>
          <a:solidFill>
            <a:schemeClr val="accent1"/>
          </a:solidFill>
          <a:ln w="12700">
            <a:solidFill>
              <a:schemeClr val="accent1"/>
            </a:solidFill>
            <a:prstDash val="solid"/>
          </a:ln>
        </p:spPr>
      </p:sp>
      <p:sp>
        <p:nvSpPr>
          <p:cNvPr id="17" name="Text 15"/>
          <p:cNvSpPr txBox="1"/>
          <p:nvPr/>
        </p:nvSpPr>
        <p:spPr>
          <a:xfrm>
            <a:off x="10954512" y="23362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Shape 16"/>
          <p:cNvSpPr/>
          <p:nvPr/>
        </p:nvSpPr>
        <p:spPr>
          <a:xfrm>
            <a:off x="5760720" y="4114800"/>
            <a:ext cx="5742432" cy="2148840"/>
          </a:xfrm>
          <a:prstGeom prst="roundRect">
            <a:avLst>
              <a:gd name="adj" fmla="val 4255"/>
            </a:avLst>
          </a:prstGeom>
          <a:solidFill>
            <a:srgbClr val="FFFFFF"/>
          </a:solidFill>
          <a:ln w="12700">
            <a:solidFill>
              <a:srgbClr val="FFFFFF"/>
            </a:solidFill>
            <a:prstDash val="solid"/>
          </a:ln>
        </p:spPr>
      </p:sp>
      <p:sp>
        <p:nvSpPr>
          <p:cNvPr id="19" name="Text 17"/>
          <p:cNvSpPr txBox="1"/>
          <p:nvPr/>
        </p:nvSpPr>
        <p:spPr>
          <a:xfrm>
            <a:off x="6126480" y="4343400"/>
            <a:ext cx="45720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SVAR FRA HOTEL FJORDLYS</a:t>
            </a:r>
            <a:endParaRPr lang="en-US" sz="1100" dirty="0"/>
          </a:p>
        </p:txBody>
      </p:sp>
      <p:sp>
        <p:nvSpPr>
          <p:cNvPr id="20" name="Text 18"/>
          <p:cNvSpPr txBox="1"/>
          <p:nvPr/>
        </p:nvSpPr>
        <p:spPr>
          <a:xfrm>
            <a:off x="6126480" y="4663440"/>
            <a:ext cx="4919472" cy="1508760"/>
          </a:xfrm>
          <a:prstGeom prst="rect">
            <a:avLst/>
          </a:prstGeom>
          <a:noFill/>
          <a:ln/>
        </p:spPr>
        <p:txBody>
          <a:bodyPr wrap="square" lIns="0" tIns="0" rIns="0" bIns="0" rtlCol="0" anchor="t"/>
          <a:lstStyle/>
          <a:p>
            <a:pPr indent="0" marL="0">
              <a:buNone/>
            </a:pPr>
            <a:r>
              <a:rPr lang="en-US" sz="1400" dirty="0">
                <a:solidFill>
                  <a:schemeClr val="tx1"/>
                </a:solidFill>
              </a:rPr>
              <a:t>Vielen Dank für Ihre Bewertung. Schön, dass Ihnen Zimmer und Bett gefallen haben. Es tut uns leid, dass die Lüftung zu laut war. Beim nächsten Besuch reservieren wir Ihnen gern ein ruhiges Zimmer.</a:t>
            </a:r>
            <a:endParaRPr lang="en-US" sz="1400" dirty="0"/>
          </a:p>
        </p:txBody>
      </p:sp>
      <p:sp>
        <p:nvSpPr>
          <p:cNvPr id="21" name="Shape 19"/>
          <p:cNvSpPr/>
          <p:nvPr/>
        </p:nvSpPr>
        <p:spPr>
          <a:xfrm>
            <a:off x="10954512" y="4297680"/>
            <a:ext cx="329184" cy="329184"/>
          </a:xfrm>
          <a:prstGeom prst="ellipse">
            <a:avLst/>
          </a:prstGeom>
          <a:solidFill>
            <a:schemeClr val="accent1"/>
          </a:solidFill>
          <a:ln w="12700">
            <a:solidFill>
              <a:schemeClr val="accent1"/>
            </a:solidFill>
            <a:prstDash val="solid"/>
          </a:ln>
        </p:spPr>
      </p:sp>
      <p:sp>
        <p:nvSpPr>
          <p:cNvPr id="22" name="Text 20"/>
          <p:cNvSpPr txBox="1"/>
          <p:nvPr/>
        </p:nvSpPr>
        <p:spPr>
          <a:xfrm>
            <a:off x="10954512" y="430225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4  ·  NØGLETAL</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RevPAR faldt </a:t>
            </a:r>
            <a:pPr algn="l" indent="0" marL="0">
              <a:lnSpc>
                <a:spcPct val="93000"/>
              </a:lnSpc>
              <a:buNone/>
            </a:pPr>
            <a:r>
              <a:rPr lang="en-US" sz="3400" b="1" dirty="0">
                <a:solidFill>
                  <a:schemeClr val="accent1"/>
                </a:solidFill>
              </a:rPr>
              <a:t>35 %</a:t>
            </a:r>
            <a:pPr algn="l" indent="0" marL="0">
              <a:lnSpc>
                <a:spcPct val="93000"/>
              </a:lnSpc>
              <a:buNone/>
            </a:pPr>
            <a:r>
              <a:rPr lang="en-US" sz="3400" b="1" dirty="0">
                <a:solidFill>
                  <a:schemeClr val="bg1"/>
                </a:solidFill>
              </a:rPr>
              <a:t> fra juli til september</a:t>
            </a:r>
            <a:endParaRPr lang="en-US" sz="3400" dirty="0"/>
          </a:p>
        </p:txBody>
      </p:sp>
      <p:graphicFrame>
        <p:nvGraphicFramePr>
          <p:cNvPr id="4" name="Chart 0" descr=""/>
          <p:cNvGraphicFramePr/>
          <p:nvPr/>
        </p:nvGraphicFramePr>
        <p:xfrm>
          <a:off x="685800" y="224028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2377440"/>
            <a:ext cx="3502152" cy="0"/>
          </a:xfrm>
          <a:prstGeom prst="line">
            <a:avLst/>
          </a:prstGeom>
          <a:noFill/>
          <a:ln w="12700">
            <a:solidFill>
              <a:schemeClr val="accent5"/>
            </a:solidFill>
            <a:prstDash val="solid"/>
          </a:ln>
        </p:spPr>
      </p:sp>
      <p:sp>
        <p:nvSpPr>
          <p:cNvPr id="6" name="Text 3"/>
          <p:cNvSpPr txBox="1"/>
          <p:nvPr/>
        </p:nvSpPr>
        <p:spPr>
          <a:xfrm>
            <a:off x="8001000" y="2542032"/>
            <a:ext cx="347472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BELÆGNING</a:t>
            </a:r>
            <a:endParaRPr lang="en-US" sz="1200" dirty="0"/>
          </a:p>
        </p:txBody>
      </p:sp>
      <p:sp>
        <p:nvSpPr>
          <p:cNvPr id="7" name="Text 4"/>
          <p:cNvSpPr txBox="1"/>
          <p:nvPr/>
        </p:nvSpPr>
        <p:spPr>
          <a:xfrm>
            <a:off x="8001000" y="2880360"/>
            <a:ext cx="3520440" cy="548640"/>
          </a:xfrm>
          <a:prstGeom prst="rect">
            <a:avLst/>
          </a:prstGeom>
          <a:noFill/>
          <a:ln/>
        </p:spPr>
        <p:txBody>
          <a:bodyPr wrap="square" lIns="0" tIns="0" rIns="0" bIns="0" rtlCol="0" anchor="t"/>
          <a:lstStyle/>
          <a:p>
            <a:pPr indent="0" marL="0">
              <a:buNone/>
            </a:pPr>
            <a:r>
              <a:rPr lang="en-US" sz="2600" b="1" dirty="0">
                <a:solidFill>
                  <a:schemeClr val="accent3"/>
                </a:solidFill>
              </a:rPr>
              <a:t>88,7 %</a:t>
            </a:r>
            <a:pPr indent="0" marL="0">
              <a:buNone/>
            </a:pPr>
            <a:r>
              <a:rPr lang="en-US" sz="2600" b="1" dirty="0">
                <a:solidFill>
                  <a:schemeClr val="accent3"/>
                </a:solidFill>
              </a:rPr>
              <a:t>  →  </a:t>
            </a:r>
            <a:pPr indent="0" marL="0">
              <a:buNone/>
            </a:pPr>
            <a:r>
              <a:rPr lang="en-US" sz="2600" b="1" dirty="0">
                <a:solidFill>
                  <a:schemeClr val="bg1"/>
                </a:solidFill>
              </a:rPr>
              <a:t>65,6 %</a:t>
            </a:r>
            <a:endParaRPr lang="en-US" sz="2600" dirty="0"/>
          </a:p>
        </p:txBody>
      </p:sp>
      <p:sp>
        <p:nvSpPr>
          <p:cNvPr id="8" name="Shape 5"/>
          <p:cNvSpPr/>
          <p:nvPr/>
        </p:nvSpPr>
        <p:spPr>
          <a:xfrm>
            <a:off x="8001000" y="3840480"/>
            <a:ext cx="3502152" cy="0"/>
          </a:xfrm>
          <a:prstGeom prst="line">
            <a:avLst/>
          </a:prstGeom>
          <a:noFill/>
          <a:ln w="12700">
            <a:solidFill>
              <a:schemeClr val="accent5"/>
            </a:solidFill>
            <a:prstDash val="solid"/>
          </a:ln>
        </p:spPr>
      </p:sp>
      <p:sp>
        <p:nvSpPr>
          <p:cNvPr id="9" name="Text 6"/>
          <p:cNvSpPr txBox="1"/>
          <p:nvPr/>
        </p:nvSpPr>
        <p:spPr>
          <a:xfrm>
            <a:off x="8001000" y="4005072"/>
            <a:ext cx="347472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ADR</a:t>
            </a:r>
            <a:endParaRPr lang="en-US" sz="1200" dirty="0"/>
          </a:p>
        </p:txBody>
      </p:sp>
      <p:sp>
        <p:nvSpPr>
          <p:cNvPr id="10" name="Text 7"/>
          <p:cNvSpPr txBox="1"/>
          <p:nvPr/>
        </p:nvSpPr>
        <p:spPr>
          <a:xfrm>
            <a:off x="8001000" y="4343400"/>
            <a:ext cx="3520440" cy="548640"/>
          </a:xfrm>
          <a:prstGeom prst="rect">
            <a:avLst/>
          </a:prstGeom>
          <a:noFill/>
          <a:ln/>
        </p:spPr>
        <p:txBody>
          <a:bodyPr wrap="square" lIns="0" tIns="0" rIns="0" bIns="0" rtlCol="0" anchor="t"/>
          <a:lstStyle/>
          <a:p>
            <a:pPr indent="0" marL="0">
              <a:buNone/>
            </a:pPr>
            <a:r>
              <a:rPr lang="en-US" sz="2600" b="1" dirty="0">
                <a:solidFill>
                  <a:schemeClr val="accent3"/>
                </a:solidFill>
              </a:rPr>
              <a:t>1.289 kr.</a:t>
            </a:r>
            <a:pPr indent="0" marL="0">
              <a:buNone/>
            </a:pPr>
            <a:r>
              <a:rPr lang="en-US" sz="2600" b="1" dirty="0">
                <a:solidFill>
                  <a:schemeClr val="accent3"/>
                </a:solidFill>
              </a:rPr>
              <a:t>  →  </a:t>
            </a:r>
            <a:pPr indent="0" marL="0">
              <a:buNone/>
            </a:pPr>
            <a:r>
              <a:rPr lang="en-US" sz="2600" b="1" dirty="0">
                <a:solidFill>
                  <a:schemeClr val="bg1"/>
                </a:solidFill>
              </a:rPr>
              <a:t>1.132 kr.</a:t>
            </a:r>
            <a:endParaRPr lang="en-US" sz="2600" dirty="0"/>
          </a:p>
        </p:txBody>
      </p:sp>
      <p:sp>
        <p:nvSpPr>
          <p:cNvPr id="11" name="Text 8"/>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RevPAR er værelsesomsætning pr. tilgængeligt værelse. Juli til september 2026.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PROMPT 5  ·  KANALSTRATEGI</a:t>
            </a:r>
            <a:endParaRPr lang="en-US" sz="1200" dirty="0"/>
          </a:p>
        </p:txBody>
      </p:sp>
      <p:sp>
        <p:nvSpPr>
          <p:cNvPr id="3" name="Text 1"/>
          <p:cNvSpPr txBox="1"/>
          <p:nvPr/>
        </p:nvSpPr>
        <p:spPr>
          <a:xfrm>
            <a:off x="685800" y="804672"/>
            <a:ext cx="10820095" cy="1280160"/>
          </a:xfrm>
          <a:prstGeom prst="rect">
            <a:avLst/>
          </a:prstGeom>
          <a:noFill/>
          <a:ln/>
        </p:spPr>
        <p:txBody>
          <a:bodyPr wrap="square" lIns="0" tIns="0" rIns="0" bIns="0" rtlCol="0" anchor="t"/>
          <a:lstStyle/>
          <a:p>
            <a:pPr indent="0" marL="0">
              <a:lnSpc>
                <a:spcPct val="93000"/>
              </a:lnSpc>
              <a:buNone/>
            </a:pPr>
            <a:r>
              <a:rPr lang="en-US" sz="3400" b="1" dirty="0">
                <a:solidFill>
                  <a:schemeClr val="bg1"/>
                </a:solidFill>
              </a:rPr>
              <a:t>Booking.com tager en </a:t>
            </a:r>
            <a:pPr indent="0" marL="0">
              <a:lnSpc>
                <a:spcPct val="93000"/>
              </a:lnSpc>
              <a:buNone/>
            </a:pPr>
            <a:r>
              <a:rPr lang="en-US" sz="3400" b="1" dirty="0">
                <a:solidFill>
                  <a:schemeClr val="accent1"/>
                </a:solidFill>
              </a:rPr>
              <a:t>stadig større bid</a:t>
            </a:r>
            <a:endParaRPr lang="en-US" sz="3400" dirty="0"/>
          </a:p>
        </p:txBody>
      </p:sp>
      <p:sp>
        <p:nvSpPr>
          <p:cNvPr id="4" name="Text 2"/>
          <p:cNvSpPr txBox="1"/>
          <p:nvPr/>
        </p:nvSpPr>
        <p:spPr>
          <a:xfrm>
            <a:off x="640080" y="2240280"/>
            <a:ext cx="10515600" cy="2377440"/>
          </a:xfrm>
          <a:prstGeom prst="rect">
            <a:avLst/>
          </a:prstGeom>
          <a:noFill/>
          <a:ln/>
        </p:spPr>
        <p:txBody>
          <a:bodyPr wrap="square" lIns="0" tIns="0" rIns="0" bIns="0" rtlCol="0" anchor="ctr"/>
          <a:lstStyle/>
          <a:p>
            <a:pPr indent="0" marL="0">
              <a:lnSpc>
                <a:spcPct val="90000"/>
              </a:lnSpc>
              <a:buNone/>
            </a:pPr>
            <a:r>
              <a:rPr lang="en-US" sz="12000" b="1" dirty="0">
                <a:solidFill>
                  <a:schemeClr val="accent1"/>
                </a:solidFill>
              </a:rPr>
              <a:t>438.522 kr.</a:t>
            </a:r>
            <a:endParaRPr lang="en-US" sz="12000" dirty="0"/>
          </a:p>
        </p:txBody>
      </p:sp>
      <p:sp>
        <p:nvSpPr>
          <p:cNvPr id="5" name="Text 3"/>
          <p:cNvSpPr txBox="1"/>
          <p:nvPr/>
        </p:nvSpPr>
        <p:spPr>
          <a:xfrm>
            <a:off x="685800" y="4800600"/>
            <a:ext cx="8686800" cy="1097280"/>
          </a:xfrm>
          <a:prstGeom prst="rect">
            <a:avLst/>
          </a:prstGeom>
          <a:noFill/>
          <a:ln/>
        </p:spPr>
        <p:txBody>
          <a:bodyPr wrap="square" lIns="0" tIns="0" rIns="0" bIns="0" rtlCol="0" anchor="t"/>
          <a:lstStyle/>
          <a:p>
            <a:pPr indent="0" marL="0">
              <a:buNone/>
            </a:pPr>
            <a:r>
              <a:rPr lang="en-US" sz="2200" dirty="0">
                <a:solidFill>
                  <a:schemeClr val="accent3"/>
                </a:solidFill>
              </a:rPr>
              <a:t>i kommission på ét kvartal. Booking.com-andelen steg fra 44,8 % i juli til 55,9 % i september.</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HANDS-ON  ·  PARVIS</a:t>
            </a:r>
            <a:endParaRPr lang="en-US" sz="1200" dirty="0"/>
          </a:p>
        </p:txBody>
      </p:sp>
      <p:sp>
        <p:nvSpPr>
          <p:cNvPr id="3" name="Text 1"/>
          <p:cNvSpPr txBox="1"/>
          <p:nvPr/>
        </p:nvSpPr>
        <p:spPr>
          <a:xfrm>
            <a:off x="685800" y="1280160"/>
            <a:ext cx="10058400" cy="2011680"/>
          </a:xfrm>
          <a:prstGeom prst="rect">
            <a:avLst/>
          </a:prstGeom>
          <a:noFill/>
          <a:ln/>
        </p:spPr>
        <p:txBody>
          <a:bodyPr wrap="square" lIns="0" tIns="0" rIns="0" bIns="0" rtlCol="0" anchor="b"/>
          <a:lstStyle/>
          <a:p>
            <a:pPr indent="0" marL="0">
              <a:buNone/>
            </a:pPr>
            <a:r>
              <a:rPr lang="en-US" sz="11000" b="1" dirty="0">
                <a:solidFill>
                  <a:schemeClr val="bg1"/>
                </a:solidFill>
              </a:rPr>
              <a:t>Din tur.</a:t>
            </a:r>
            <a:endParaRPr lang="en-US" sz="11000" dirty="0"/>
          </a:p>
        </p:txBody>
      </p:sp>
      <p:sp>
        <p:nvSpPr>
          <p:cNvPr id="4" name="Text 2"/>
          <p:cNvSpPr txBox="1"/>
          <p:nvPr/>
        </p:nvSpPr>
        <p:spPr>
          <a:xfrm>
            <a:off x="685800" y="3611880"/>
            <a:ext cx="9601200" cy="1280160"/>
          </a:xfrm>
          <a:prstGeom prst="rect">
            <a:avLst/>
          </a:prstGeom>
          <a:noFill/>
          <a:ln/>
        </p:spPr>
        <p:txBody>
          <a:bodyPr wrap="square" lIns="0" tIns="0" rIns="0" bIns="0" rtlCol="0" anchor="t"/>
          <a:lstStyle/>
          <a:p>
            <a:pPr indent="0" marL="0">
              <a:buNone/>
            </a:pPr>
            <a:r>
              <a:rPr lang="en-US" sz="2600" dirty="0">
                <a:solidFill>
                  <a:schemeClr val="bg1"/>
                </a:solidFill>
              </a:rPr>
              <a:t>Upload </a:t>
            </a:r>
            <a:pPr indent="0" marL="0">
              <a:buNone/>
            </a:pPr>
            <a:r>
              <a:rPr lang="en-US" sz="2600" dirty="0">
                <a:solidFill>
                  <a:schemeClr val="accent1"/>
                </a:solidFill>
              </a:rPr>
              <a:t>Serviceokonom_HotelFjordlys.xlsx</a:t>
            </a:r>
            <a:pPr indent="0" marL="0">
              <a:buNone/>
            </a:pPr>
            <a:r>
              <a:rPr lang="en-US" sz="2600" dirty="0">
                <a:solidFill>
                  <a:schemeClr val="bg1"/>
                </a:solidFill>
              </a:rPr>
              <a:t>. Kør promptkortet. Find de tre vigtigste ting, og få AI til at lave én graf.</a:t>
            </a:r>
            <a:endParaRPr lang="en-US" sz="2600" dirty="0"/>
          </a:p>
        </p:txBody>
      </p:sp>
      <p:sp>
        <p:nvSpPr>
          <p:cNvPr id="5" name="Text 3"/>
          <p:cNvSpPr txBox="1"/>
          <p:nvPr/>
        </p:nvSpPr>
        <p:spPr>
          <a:xfrm>
            <a:off x="685800" y="5120640"/>
            <a:ext cx="9144000" cy="457200"/>
          </a:xfrm>
          <a:prstGeom prst="rect">
            <a:avLst/>
          </a:prstGeom>
          <a:noFill/>
          <a:ln/>
        </p:spPr>
        <p:txBody>
          <a:bodyPr wrap="square" lIns="0" tIns="0" rIns="0" bIns="0" rtlCol="0" anchor="t"/>
          <a:lstStyle/>
          <a:p>
            <a:pPr indent="0" marL="0">
              <a:buNone/>
            </a:pPr>
            <a:r>
              <a:rPr lang="en-US" sz="2000" dirty="0">
                <a:solidFill>
                  <a:schemeClr val="accent3"/>
                </a:solidFill>
              </a:rPr>
              <a:t>Det er jobbet, I øver. Tag svarene.</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600" b="1" dirty="0">
                <a:solidFill>
                  <a:schemeClr val="bg1"/>
                </a:solidFill>
              </a:rPr>
              <a:t>Spørg som en chef. </a:t>
            </a:r>
            <a:pPr indent="0" marL="0">
              <a:lnSpc>
                <a:spcPct val="95000"/>
              </a:lnSpc>
              <a:buNone/>
            </a:pPr>
            <a:r>
              <a:rPr lang="en-US" sz="6600" b="1" dirty="0">
                <a:solidFill>
                  <a:schemeClr val="accent1"/>
                </a:solidFill>
              </a:rPr>
              <a:t>Lad AI regne.</a:t>
            </a:r>
            <a:endParaRPr lang="en-US" sz="6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04  ·  AI I JOBBET</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Lad AI lave </a:t>
            </a:r>
            <a:pPr indent="0" marL="0">
              <a:lnSpc>
                <a:spcPct val="90000"/>
              </a:lnSpc>
              <a:buNone/>
            </a:pPr>
            <a:r>
              <a:rPr lang="en-US" sz="9600" b="1" dirty="0">
                <a:solidFill>
                  <a:schemeClr val="accent1"/>
                </a:solidFill>
              </a:rPr>
              <a:t>arbejdet.</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Sådan bruger jeg AI i mine egne job.</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7177857"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Vibecoding</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AUTONOMITRAPPEN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Jo højere op ad trappen, jo mere </a:t>
            </a:r>
            <a:pPr algn="l" indent="0" marL="0">
              <a:lnSpc>
                <a:spcPct val="93000"/>
              </a:lnSpc>
              <a:buNone/>
            </a:pPr>
            <a:r>
              <a:rPr lang="en-US" sz="3400" b="1" dirty="0">
                <a:solidFill>
                  <a:schemeClr val="accent1"/>
                </a:solidFill>
              </a:rPr>
              <a:t>arbejder AI uden dig</a:t>
            </a:r>
            <a:endParaRPr lang="en-US" sz="3400" dirty="0"/>
          </a:p>
        </p:txBody>
      </p:sp>
      <p:sp>
        <p:nvSpPr>
          <p:cNvPr id="4" name="Shape 2"/>
          <p:cNvSpPr/>
          <p:nvPr/>
        </p:nvSpPr>
        <p:spPr>
          <a:xfrm>
            <a:off x="685800" y="4754880"/>
            <a:ext cx="2602154" cy="1417320"/>
          </a:xfrm>
          <a:prstGeom prst="roundRect">
            <a:avLst>
              <a:gd name="adj" fmla="val 5161"/>
            </a:avLst>
          </a:prstGeom>
          <a:solidFill>
            <a:srgbClr val="1C1C1E"/>
          </a:solidFill>
          <a:ln w="12700">
            <a:solidFill>
              <a:srgbClr val="1C1C1E"/>
            </a:solidFill>
            <a:prstDash val="solid"/>
          </a:ln>
        </p:spPr>
      </p:sp>
      <p:sp>
        <p:nvSpPr>
          <p:cNvPr id="5" name="Text 3"/>
          <p:cNvSpPr txBox="1"/>
          <p:nvPr/>
        </p:nvSpPr>
        <p:spPr>
          <a:xfrm>
            <a:off x="914400" y="49377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1</a:t>
            </a:r>
            <a:endParaRPr lang="en-US" sz="1600" dirty="0"/>
          </a:p>
        </p:txBody>
      </p:sp>
      <p:sp>
        <p:nvSpPr>
          <p:cNvPr id="6" name="Text 4"/>
          <p:cNvSpPr txBox="1"/>
          <p:nvPr/>
        </p:nvSpPr>
        <p:spPr>
          <a:xfrm>
            <a:off x="914400" y="52852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Chat</a:t>
            </a:r>
            <a:endParaRPr lang="en-US" sz="1900" dirty="0"/>
          </a:p>
        </p:txBody>
      </p:sp>
      <p:sp>
        <p:nvSpPr>
          <p:cNvPr id="7" name="Text 5"/>
          <p:cNvSpPr txBox="1"/>
          <p:nvPr/>
        </p:nvSpPr>
        <p:spPr>
          <a:xfrm>
            <a:off x="914400" y="5669280"/>
            <a:ext cx="2190674" cy="822960"/>
          </a:xfrm>
          <a:prstGeom prst="rect">
            <a:avLst/>
          </a:prstGeom>
          <a:noFill/>
          <a:ln/>
        </p:spPr>
        <p:txBody>
          <a:bodyPr wrap="square" lIns="0" tIns="0" rIns="0" bIns="0" rtlCol="0" anchor="t"/>
          <a:lstStyle/>
          <a:p>
            <a:pPr indent="0" marL="0">
              <a:buNone/>
            </a:pPr>
            <a:r>
              <a:rPr lang="en-US" sz="1500" dirty="0">
                <a:solidFill>
                  <a:schemeClr val="accent3"/>
                </a:solidFill>
              </a:rPr>
              <a:t>Du kopierer ind og ud</a:t>
            </a:r>
            <a:endParaRPr lang="en-US" sz="1500" dirty="0"/>
          </a:p>
        </p:txBody>
      </p:sp>
      <p:sp>
        <p:nvSpPr>
          <p:cNvPr id="8" name="Shape 6"/>
          <p:cNvSpPr/>
          <p:nvPr/>
        </p:nvSpPr>
        <p:spPr>
          <a:xfrm>
            <a:off x="3425114" y="4069080"/>
            <a:ext cx="2602154" cy="2103120"/>
          </a:xfrm>
          <a:prstGeom prst="roundRect">
            <a:avLst>
              <a:gd name="adj" fmla="val 3478"/>
            </a:avLst>
          </a:prstGeom>
          <a:solidFill>
            <a:srgbClr val="1C1C1E"/>
          </a:solidFill>
          <a:ln w="12700">
            <a:solidFill>
              <a:srgbClr val="1C1C1E"/>
            </a:solidFill>
            <a:prstDash val="solid"/>
          </a:ln>
        </p:spPr>
      </p:sp>
      <p:sp>
        <p:nvSpPr>
          <p:cNvPr id="9" name="Text 7"/>
          <p:cNvSpPr txBox="1"/>
          <p:nvPr/>
        </p:nvSpPr>
        <p:spPr>
          <a:xfrm>
            <a:off x="3653714" y="42519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10" name="Text 8"/>
          <p:cNvSpPr txBox="1"/>
          <p:nvPr/>
        </p:nvSpPr>
        <p:spPr>
          <a:xfrm>
            <a:off x="3653714" y="45994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Forbundne værktøjer</a:t>
            </a:r>
            <a:endParaRPr lang="en-US" sz="1900" dirty="0"/>
          </a:p>
        </p:txBody>
      </p:sp>
      <p:sp>
        <p:nvSpPr>
          <p:cNvPr id="11" name="Text 9"/>
          <p:cNvSpPr txBox="1"/>
          <p:nvPr/>
        </p:nvSpPr>
        <p:spPr>
          <a:xfrm>
            <a:off x="3653714" y="5276088"/>
            <a:ext cx="2190674" cy="822960"/>
          </a:xfrm>
          <a:prstGeom prst="rect">
            <a:avLst/>
          </a:prstGeom>
          <a:noFill/>
          <a:ln/>
        </p:spPr>
        <p:txBody>
          <a:bodyPr wrap="square" lIns="0" tIns="0" rIns="0" bIns="0" rtlCol="0" anchor="t"/>
          <a:lstStyle/>
          <a:p>
            <a:pPr indent="0" marL="0">
              <a:buNone/>
            </a:pPr>
            <a:r>
              <a:rPr lang="en-US" sz="1500" dirty="0">
                <a:solidFill>
                  <a:schemeClr val="accent3"/>
                </a:solidFill>
              </a:rPr>
              <a:t>AI læser og skriver i HubSpot, Sheets og Slack</a:t>
            </a:r>
            <a:endParaRPr lang="en-US" sz="1500" dirty="0"/>
          </a:p>
        </p:txBody>
      </p:sp>
      <p:sp>
        <p:nvSpPr>
          <p:cNvPr id="12" name="Shape 10"/>
          <p:cNvSpPr/>
          <p:nvPr/>
        </p:nvSpPr>
        <p:spPr>
          <a:xfrm>
            <a:off x="6164428" y="3383280"/>
            <a:ext cx="2602154" cy="2788920"/>
          </a:xfrm>
          <a:prstGeom prst="roundRect">
            <a:avLst>
              <a:gd name="adj" fmla="val 2811"/>
            </a:avLst>
          </a:prstGeom>
          <a:solidFill>
            <a:srgbClr val="1C1C1E"/>
          </a:solidFill>
          <a:ln w="12700">
            <a:solidFill>
              <a:srgbClr val="1C1C1E"/>
            </a:solidFill>
            <a:prstDash val="solid"/>
          </a:ln>
        </p:spPr>
      </p:sp>
      <p:sp>
        <p:nvSpPr>
          <p:cNvPr id="13" name="Text 11"/>
          <p:cNvSpPr txBox="1"/>
          <p:nvPr/>
        </p:nvSpPr>
        <p:spPr>
          <a:xfrm>
            <a:off x="6393028" y="3566160"/>
            <a:ext cx="914400" cy="365760"/>
          </a:xfrm>
          <a:prstGeom prst="rect">
            <a:avLst/>
          </a:prstGeom>
          <a:noFill/>
          <a:ln/>
        </p:spPr>
        <p:txBody>
          <a:bodyPr wrap="square" lIns="0" tIns="0" rIns="0" bIns="0" rtlCol="0" anchor="t"/>
          <a:lstStyle/>
          <a:p>
            <a:pPr indent="0" marL="0">
              <a:buNone/>
            </a:pPr>
            <a:r>
              <a:rPr lang="en-US" sz="1600" b="1" dirty="0">
                <a:solidFill>
                  <a:schemeClr val="accent1"/>
                </a:solidFill>
              </a:rPr>
              <a:t>3</a:t>
            </a:r>
            <a:endParaRPr lang="en-US" sz="1600" dirty="0"/>
          </a:p>
        </p:txBody>
      </p:sp>
      <p:sp>
        <p:nvSpPr>
          <p:cNvPr id="14" name="Text 12"/>
          <p:cNvSpPr txBox="1"/>
          <p:nvPr/>
        </p:nvSpPr>
        <p:spPr>
          <a:xfrm>
            <a:off x="6393028" y="39136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Automatisering</a:t>
            </a:r>
            <a:endParaRPr lang="en-US" sz="1900" dirty="0"/>
          </a:p>
        </p:txBody>
      </p:sp>
      <p:sp>
        <p:nvSpPr>
          <p:cNvPr id="15" name="Text 13"/>
          <p:cNvSpPr txBox="1"/>
          <p:nvPr/>
        </p:nvSpPr>
        <p:spPr>
          <a:xfrm>
            <a:off x="6393028" y="4297680"/>
            <a:ext cx="2190674" cy="822960"/>
          </a:xfrm>
          <a:prstGeom prst="rect">
            <a:avLst/>
          </a:prstGeom>
          <a:noFill/>
          <a:ln/>
        </p:spPr>
        <p:txBody>
          <a:bodyPr wrap="square" lIns="0" tIns="0" rIns="0" bIns="0" rtlCol="0" anchor="t"/>
          <a:lstStyle/>
          <a:p>
            <a:pPr indent="0" marL="0">
              <a:buNone/>
            </a:pPr>
            <a:r>
              <a:rPr lang="en-US" sz="1500" dirty="0">
                <a:solidFill>
                  <a:schemeClr val="accent3"/>
                </a:solidFill>
              </a:rPr>
              <a:t>Et nyt lead udløser opgave og Slack-besked</a:t>
            </a:r>
            <a:endParaRPr lang="en-US" sz="1500" dirty="0"/>
          </a:p>
        </p:txBody>
      </p:sp>
      <p:sp>
        <p:nvSpPr>
          <p:cNvPr id="16" name="Shape 14"/>
          <p:cNvSpPr/>
          <p:nvPr/>
        </p:nvSpPr>
        <p:spPr>
          <a:xfrm>
            <a:off x="8903741" y="2697480"/>
            <a:ext cx="2602154" cy="3474720"/>
          </a:xfrm>
          <a:prstGeom prst="roundRect">
            <a:avLst>
              <a:gd name="adj" fmla="val 2811"/>
            </a:avLst>
          </a:prstGeom>
          <a:solidFill>
            <a:srgbClr val="009A92"/>
          </a:solidFill>
          <a:ln w="12700">
            <a:solidFill>
              <a:srgbClr val="009A92"/>
            </a:solidFill>
            <a:prstDash val="solid"/>
          </a:ln>
        </p:spPr>
      </p:sp>
      <p:sp>
        <p:nvSpPr>
          <p:cNvPr id="17" name="Text 15"/>
          <p:cNvSpPr txBox="1"/>
          <p:nvPr/>
        </p:nvSpPr>
        <p:spPr>
          <a:xfrm>
            <a:off x="9132341" y="2880360"/>
            <a:ext cx="914400" cy="365760"/>
          </a:xfrm>
          <a:prstGeom prst="rect">
            <a:avLst/>
          </a:prstGeom>
          <a:noFill/>
          <a:ln/>
        </p:spPr>
        <p:txBody>
          <a:bodyPr wrap="square" lIns="0" tIns="0" rIns="0" bIns="0" rtlCol="0" anchor="t"/>
          <a:lstStyle/>
          <a:p>
            <a:pPr indent="0" marL="0">
              <a:buNone/>
            </a:pPr>
            <a:r>
              <a:rPr lang="en-US" sz="1600" b="1" dirty="0">
                <a:solidFill>
                  <a:schemeClr val="bg1"/>
                </a:solidFill>
              </a:rPr>
              <a:t>4</a:t>
            </a:r>
            <a:endParaRPr lang="en-US" sz="1600" dirty="0"/>
          </a:p>
        </p:txBody>
      </p:sp>
      <p:sp>
        <p:nvSpPr>
          <p:cNvPr id="18" name="Text 16"/>
          <p:cNvSpPr txBox="1"/>
          <p:nvPr/>
        </p:nvSpPr>
        <p:spPr>
          <a:xfrm>
            <a:off x="9132341" y="3227832"/>
            <a:ext cx="2236394" cy="685800"/>
          </a:xfrm>
          <a:prstGeom prst="rect">
            <a:avLst/>
          </a:prstGeom>
          <a:noFill/>
          <a:ln/>
        </p:spPr>
        <p:txBody>
          <a:bodyPr wrap="square" lIns="0" tIns="0" rIns="0" bIns="0" rtlCol="0" anchor="t"/>
          <a:lstStyle/>
          <a:p>
            <a:pPr indent="0" marL="0">
              <a:buNone/>
            </a:pPr>
            <a:r>
              <a:rPr lang="en-US" sz="1900" b="1" dirty="0">
                <a:solidFill>
                  <a:schemeClr val="bg1"/>
                </a:solidFill>
              </a:rPr>
              <a:t>Agenter</a:t>
            </a:r>
            <a:endParaRPr lang="en-US" sz="1900" dirty="0"/>
          </a:p>
        </p:txBody>
      </p:sp>
      <p:sp>
        <p:nvSpPr>
          <p:cNvPr id="19" name="Text 17"/>
          <p:cNvSpPr txBox="1"/>
          <p:nvPr/>
        </p:nvSpPr>
        <p:spPr>
          <a:xfrm>
            <a:off x="9132341" y="3611880"/>
            <a:ext cx="2190674" cy="822960"/>
          </a:xfrm>
          <a:prstGeom prst="rect">
            <a:avLst/>
          </a:prstGeom>
          <a:noFill/>
          <a:ln/>
        </p:spPr>
        <p:txBody>
          <a:bodyPr wrap="square" lIns="0" tIns="0" rIns="0" bIns="0" rtlCol="0" anchor="t"/>
          <a:lstStyle/>
          <a:p>
            <a:pPr indent="0" marL="0">
              <a:buNone/>
            </a:pPr>
            <a:r>
              <a:rPr lang="en-US" sz="1500" dirty="0">
                <a:solidFill>
                  <a:schemeClr val="bg1"/>
                </a:solidFill>
              </a:rPr>
              <a:t>Grok finder leads. Claude Code bygger appen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DEMO  ·  THIRDBASE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Fra målgruppe til HubSpot </a:t>
            </a:r>
            <a:pPr algn="l" indent="0" marL="0">
              <a:lnSpc>
                <a:spcPct val="93000"/>
              </a:lnSpc>
              <a:buNone/>
            </a:pPr>
            <a:r>
              <a:rPr lang="en-US" sz="3400" b="1" dirty="0">
                <a:solidFill>
                  <a:schemeClr val="accent1"/>
                </a:solidFill>
              </a:rPr>
              <a:t>uden manuel research</a:t>
            </a:r>
            <a:endParaRPr lang="en-US" sz="3400" dirty="0"/>
          </a:p>
        </p:txBody>
      </p:sp>
      <p:sp>
        <p:nvSpPr>
          <p:cNvPr id="4" name="Shape 2"/>
          <p:cNvSpPr/>
          <p:nvPr/>
        </p:nvSpPr>
        <p:spPr>
          <a:xfrm>
            <a:off x="2606040" y="3383280"/>
            <a:ext cx="270434" cy="0"/>
          </a:xfrm>
          <a:prstGeom prst="line">
            <a:avLst/>
          </a:prstGeom>
          <a:noFill/>
          <a:ln w="15875">
            <a:solidFill>
              <a:srgbClr val="3A3A3C"/>
            </a:solidFill>
            <a:prstDash val="solid"/>
            <a:tailEnd type="triangle"/>
          </a:ln>
        </p:spPr>
      </p:sp>
      <p:sp>
        <p:nvSpPr>
          <p:cNvPr id="5" name="Shape 3"/>
          <p:cNvSpPr/>
          <p:nvPr/>
        </p:nvSpPr>
        <p:spPr>
          <a:xfrm>
            <a:off x="685800" y="2971800"/>
            <a:ext cx="1874520" cy="822960"/>
          </a:xfrm>
          <a:prstGeom prst="roundRect">
            <a:avLst>
              <a:gd name="adj" fmla="val 50000"/>
            </a:avLst>
          </a:prstGeom>
          <a:solidFill>
            <a:srgbClr val="009A92"/>
          </a:solidFill>
          <a:ln w="12700">
            <a:solidFill>
              <a:srgbClr val="009A92"/>
            </a:solidFill>
            <a:prstDash val="solid"/>
          </a:ln>
        </p:spPr>
      </p:sp>
      <p:sp>
        <p:nvSpPr>
          <p:cNvPr id="6" name="Text 4"/>
          <p:cNvSpPr txBox="1"/>
          <p:nvPr/>
        </p:nvSpPr>
        <p:spPr>
          <a:xfrm>
            <a:off x="685800"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Grok</a:t>
            </a:r>
            <a:endParaRPr lang="en-US" sz="1900" dirty="0"/>
          </a:p>
        </p:txBody>
      </p:sp>
      <p:sp>
        <p:nvSpPr>
          <p:cNvPr id="7" name="Text 5"/>
          <p:cNvSpPr txBox="1"/>
          <p:nvPr/>
        </p:nvSpPr>
        <p:spPr>
          <a:xfrm>
            <a:off x="731520"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finder virksomheder og beslutningstagere</a:t>
            </a:r>
            <a:endParaRPr lang="en-US" sz="1500" dirty="0"/>
          </a:p>
        </p:txBody>
      </p:sp>
      <p:sp>
        <p:nvSpPr>
          <p:cNvPr id="8" name="Shape 6"/>
          <p:cNvSpPr/>
          <p:nvPr/>
        </p:nvSpPr>
        <p:spPr>
          <a:xfrm>
            <a:off x="4842434" y="3383280"/>
            <a:ext cx="270434" cy="0"/>
          </a:xfrm>
          <a:prstGeom prst="line">
            <a:avLst/>
          </a:prstGeom>
          <a:noFill/>
          <a:ln w="15875">
            <a:solidFill>
              <a:srgbClr val="3A3A3C"/>
            </a:solidFill>
            <a:prstDash val="solid"/>
            <a:tailEnd type="triangle"/>
          </a:ln>
        </p:spPr>
      </p:sp>
      <p:sp>
        <p:nvSpPr>
          <p:cNvPr id="9" name="Shape 7"/>
          <p:cNvSpPr/>
          <p:nvPr/>
        </p:nvSpPr>
        <p:spPr>
          <a:xfrm>
            <a:off x="2922194" y="2971800"/>
            <a:ext cx="1874520" cy="822960"/>
          </a:xfrm>
          <a:prstGeom prst="roundRect">
            <a:avLst>
              <a:gd name="adj" fmla="val 50000"/>
            </a:avLst>
          </a:prstGeom>
          <a:solidFill>
            <a:srgbClr val="1C1C1E"/>
          </a:solidFill>
          <a:ln w="12700">
            <a:solidFill>
              <a:srgbClr val="1C1C1E"/>
            </a:solidFill>
            <a:prstDash val="solid"/>
          </a:ln>
        </p:spPr>
      </p:sp>
      <p:sp>
        <p:nvSpPr>
          <p:cNvPr id="10" name="Text 8"/>
          <p:cNvSpPr txBox="1"/>
          <p:nvPr/>
        </p:nvSpPr>
        <p:spPr>
          <a:xfrm>
            <a:off x="2922194"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Google Sheets</a:t>
            </a:r>
            <a:endParaRPr lang="en-US" sz="1900" dirty="0"/>
          </a:p>
        </p:txBody>
      </p:sp>
      <p:sp>
        <p:nvSpPr>
          <p:cNvPr id="11" name="Text 9"/>
          <p:cNvSpPr txBox="1"/>
          <p:nvPr/>
        </p:nvSpPr>
        <p:spPr>
          <a:xfrm>
            <a:off x="2967914"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samler listen</a:t>
            </a:r>
            <a:endParaRPr lang="en-US" sz="1500" dirty="0"/>
          </a:p>
        </p:txBody>
      </p:sp>
      <p:sp>
        <p:nvSpPr>
          <p:cNvPr id="12" name="Shape 10"/>
          <p:cNvSpPr/>
          <p:nvPr/>
        </p:nvSpPr>
        <p:spPr>
          <a:xfrm>
            <a:off x="7078828" y="3383280"/>
            <a:ext cx="270434" cy="0"/>
          </a:xfrm>
          <a:prstGeom prst="line">
            <a:avLst/>
          </a:prstGeom>
          <a:noFill/>
          <a:ln w="15875">
            <a:solidFill>
              <a:srgbClr val="3A3A3C"/>
            </a:solidFill>
            <a:prstDash val="solid"/>
            <a:tailEnd type="triangle"/>
          </a:ln>
        </p:spPr>
      </p:sp>
      <p:sp>
        <p:nvSpPr>
          <p:cNvPr id="13" name="Shape 11"/>
          <p:cNvSpPr/>
          <p:nvPr/>
        </p:nvSpPr>
        <p:spPr>
          <a:xfrm>
            <a:off x="5158588" y="2971800"/>
            <a:ext cx="1874520" cy="822960"/>
          </a:xfrm>
          <a:prstGeom prst="roundRect">
            <a:avLst>
              <a:gd name="adj" fmla="val 50000"/>
            </a:avLst>
          </a:prstGeom>
          <a:solidFill>
            <a:srgbClr val="009A92"/>
          </a:solidFill>
          <a:ln w="12700">
            <a:solidFill>
              <a:srgbClr val="009A92"/>
            </a:solidFill>
            <a:prstDash val="solid"/>
          </a:ln>
        </p:spPr>
      </p:sp>
      <p:sp>
        <p:nvSpPr>
          <p:cNvPr id="14" name="Text 12"/>
          <p:cNvSpPr txBox="1"/>
          <p:nvPr/>
        </p:nvSpPr>
        <p:spPr>
          <a:xfrm>
            <a:off x="5158588"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AI</a:t>
            </a:r>
            <a:endParaRPr lang="en-US" sz="1900" dirty="0"/>
          </a:p>
        </p:txBody>
      </p:sp>
      <p:sp>
        <p:nvSpPr>
          <p:cNvPr id="15" name="Text 13"/>
          <p:cNvSpPr txBox="1"/>
          <p:nvPr/>
        </p:nvSpPr>
        <p:spPr>
          <a:xfrm>
            <a:off x="5204308"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renser og beriger</a:t>
            </a:r>
            <a:endParaRPr lang="en-US" sz="1500" dirty="0"/>
          </a:p>
        </p:txBody>
      </p:sp>
      <p:sp>
        <p:nvSpPr>
          <p:cNvPr id="16" name="Shape 14"/>
          <p:cNvSpPr/>
          <p:nvPr/>
        </p:nvSpPr>
        <p:spPr>
          <a:xfrm>
            <a:off x="9315221" y="3383280"/>
            <a:ext cx="270434" cy="0"/>
          </a:xfrm>
          <a:prstGeom prst="line">
            <a:avLst/>
          </a:prstGeom>
          <a:noFill/>
          <a:ln w="15875">
            <a:solidFill>
              <a:srgbClr val="3A3A3C"/>
            </a:solidFill>
            <a:prstDash val="solid"/>
            <a:tailEnd type="triangle"/>
          </a:ln>
        </p:spPr>
      </p:sp>
      <p:sp>
        <p:nvSpPr>
          <p:cNvPr id="17" name="Shape 15"/>
          <p:cNvSpPr/>
          <p:nvPr/>
        </p:nvSpPr>
        <p:spPr>
          <a:xfrm>
            <a:off x="7394981" y="2971800"/>
            <a:ext cx="1874520" cy="822960"/>
          </a:xfrm>
          <a:prstGeom prst="roundRect">
            <a:avLst>
              <a:gd name="adj" fmla="val 50000"/>
            </a:avLst>
          </a:prstGeom>
          <a:solidFill>
            <a:srgbClr val="1C1C1E"/>
          </a:solidFill>
          <a:ln w="12700">
            <a:solidFill>
              <a:srgbClr val="1C1C1E"/>
            </a:solidFill>
            <a:prstDash val="solid"/>
          </a:ln>
        </p:spPr>
      </p:sp>
      <p:sp>
        <p:nvSpPr>
          <p:cNvPr id="18" name="Text 16"/>
          <p:cNvSpPr txBox="1"/>
          <p:nvPr/>
        </p:nvSpPr>
        <p:spPr>
          <a:xfrm>
            <a:off x="7394981"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HubSpot</a:t>
            </a:r>
            <a:endParaRPr lang="en-US" sz="1900" dirty="0"/>
          </a:p>
        </p:txBody>
      </p:sp>
      <p:sp>
        <p:nvSpPr>
          <p:cNvPr id="19" name="Text 17"/>
          <p:cNvSpPr txBox="1"/>
          <p:nvPr/>
        </p:nvSpPr>
        <p:spPr>
          <a:xfrm>
            <a:off x="7440701"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firma, kontakt og deal</a:t>
            </a:r>
            <a:endParaRPr lang="en-US" sz="1500" dirty="0"/>
          </a:p>
        </p:txBody>
      </p:sp>
      <p:sp>
        <p:nvSpPr>
          <p:cNvPr id="20" name="Shape 18"/>
          <p:cNvSpPr/>
          <p:nvPr/>
        </p:nvSpPr>
        <p:spPr>
          <a:xfrm>
            <a:off x="9631375" y="2971800"/>
            <a:ext cx="1874520" cy="822960"/>
          </a:xfrm>
          <a:prstGeom prst="roundRect">
            <a:avLst>
              <a:gd name="adj" fmla="val 50000"/>
            </a:avLst>
          </a:prstGeom>
          <a:solidFill>
            <a:srgbClr val="009A92"/>
          </a:solidFill>
          <a:ln w="12700">
            <a:solidFill>
              <a:srgbClr val="009A92"/>
            </a:solidFill>
            <a:prstDash val="solid"/>
          </a:ln>
        </p:spPr>
      </p:sp>
      <p:sp>
        <p:nvSpPr>
          <p:cNvPr id="21" name="Text 19"/>
          <p:cNvSpPr txBox="1"/>
          <p:nvPr/>
        </p:nvSpPr>
        <p:spPr>
          <a:xfrm>
            <a:off x="9631375" y="2971800"/>
            <a:ext cx="1874520" cy="822960"/>
          </a:xfrm>
          <a:prstGeom prst="rect">
            <a:avLst/>
          </a:prstGeom>
          <a:noFill/>
          <a:ln/>
        </p:spPr>
        <p:txBody>
          <a:bodyPr wrap="square" lIns="0" tIns="0" rIns="0" bIns="0" rtlCol="0" anchor="ctr"/>
          <a:lstStyle/>
          <a:p>
            <a:pPr algn="ctr" indent="0" marL="0">
              <a:buNone/>
            </a:pPr>
            <a:r>
              <a:rPr lang="en-US" sz="1900" b="1" dirty="0">
                <a:solidFill>
                  <a:schemeClr val="bg1"/>
                </a:solidFill>
              </a:rPr>
              <a:t>AI</a:t>
            </a:r>
            <a:endParaRPr lang="en-US" sz="1900" dirty="0"/>
          </a:p>
        </p:txBody>
      </p:sp>
      <p:sp>
        <p:nvSpPr>
          <p:cNvPr id="22" name="Text 20"/>
          <p:cNvSpPr txBox="1"/>
          <p:nvPr/>
        </p:nvSpPr>
        <p:spPr>
          <a:xfrm>
            <a:off x="9677095" y="4023360"/>
            <a:ext cx="1783080" cy="1097280"/>
          </a:xfrm>
          <a:prstGeom prst="rect">
            <a:avLst/>
          </a:prstGeom>
          <a:noFill/>
          <a:ln/>
        </p:spPr>
        <p:txBody>
          <a:bodyPr wrap="square" lIns="0" tIns="0" rIns="0" bIns="0" rtlCol="0" anchor="t"/>
          <a:lstStyle/>
          <a:p>
            <a:pPr algn="ctr" indent="0" marL="0">
              <a:buNone/>
            </a:pPr>
            <a:r>
              <a:rPr lang="en-US" sz="1500" dirty="0">
                <a:solidFill>
                  <a:schemeClr val="accent3"/>
                </a:solidFill>
              </a:rPr>
              <a:t>skriver beskeder og opfølgninger</a:t>
            </a:r>
            <a:endParaRPr lang="en-US" sz="1500" dirty="0"/>
          </a:p>
        </p:txBody>
      </p:sp>
      <p:sp>
        <p:nvSpPr>
          <p:cNvPr id="23" name="Text 21"/>
          <p:cNvSpPr txBox="1"/>
          <p:nvPr/>
        </p:nvSpPr>
        <p:spPr>
          <a:xfrm>
            <a:off x="685800" y="5486400"/>
            <a:ext cx="5486400" cy="320040"/>
          </a:xfrm>
          <a:prstGeom prst="rect">
            <a:avLst/>
          </a:prstGeom>
          <a:noFill/>
          <a:ln/>
        </p:spPr>
        <p:txBody>
          <a:bodyPr wrap="square" lIns="0" tIns="0" rIns="0" bIns="0" rtlCol="0" anchor="t"/>
          <a:lstStyle/>
          <a:p>
            <a:pPr indent="0" marL="0">
              <a:buNone/>
            </a:pPr>
            <a:r>
              <a:rPr lang="en-US" sz="1300" b="1" dirty="0">
                <a:solidFill>
                  <a:schemeClr val="accent1"/>
                </a:solidFill>
              </a:rPr>
              <a:t>AI-trin</a:t>
            </a:r>
            <a:pPr indent="0" marL="0">
              <a:buNone/>
            </a:pPr>
            <a:r>
              <a:rPr lang="en-US" sz="1300" dirty="0">
                <a:solidFill>
                  <a:schemeClr val="accent3"/>
                </a:solidFill>
              </a:rPr>
              <a:t>   ·   Systemer</a:t>
            </a:r>
            <a:endParaRPr lang="en-US" sz="1300" dirty="0"/>
          </a:p>
        </p:txBody>
      </p:sp>
      <p:sp>
        <p:nvSpPr>
          <p:cNvPr id="24" name="Text 22"/>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3"/>
                </a:solidFill>
              </a:rPr>
              <a:t>Thirdbase er mit eget konsulenthus inden for B2B-salg og marketing.</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SPILLEREGEL</a:t>
            </a:r>
            <a:endParaRPr lang="en-US" sz="1200" dirty="0"/>
          </a:p>
        </p:txBody>
      </p:sp>
      <p:sp>
        <p:nvSpPr>
          <p:cNvPr id="3" name="Text 1"/>
          <p:cNvSpPr txBox="1"/>
          <p:nvPr/>
        </p:nvSpPr>
        <p:spPr>
          <a:xfrm>
            <a:off x="685800" y="804672"/>
            <a:ext cx="10424160" cy="1828800"/>
          </a:xfrm>
          <a:prstGeom prst="rect">
            <a:avLst/>
          </a:prstGeom>
          <a:noFill/>
          <a:ln/>
        </p:spPr>
        <p:txBody>
          <a:bodyPr wrap="square" lIns="0" tIns="0" rIns="0" bIns="0" rtlCol="0" anchor="t"/>
          <a:lstStyle/>
          <a:p>
            <a:pPr indent="0" marL="0">
              <a:lnSpc>
                <a:spcPct val="95000"/>
              </a:lnSpc>
              <a:buNone/>
            </a:pPr>
            <a:r>
              <a:rPr lang="en-US" sz="4400" b="1" dirty="0">
                <a:solidFill>
                  <a:schemeClr val="tx1"/>
                </a:solidFill>
              </a:rPr>
              <a:t>Bot'en kan skrive på LinkedIn. </a:t>
            </a:r>
            <a:pPr indent="0" marL="0">
              <a:lnSpc>
                <a:spcPct val="95000"/>
              </a:lnSpc>
              <a:buNone/>
            </a:pPr>
            <a:r>
              <a:rPr lang="en-US" sz="4400" b="1" dirty="0">
                <a:solidFill>
                  <a:schemeClr val="accent1"/>
                </a:solidFill>
              </a:rPr>
              <a:t>Loven kræver samtykke.</a:t>
            </a:r>
            <a:endParaRPr lang="en-US" sz="4400" dirty="0"/>
          </a:p>
        </p:txBody>
      </p:sp>
      <p:sp>
        <p:nvSpPr>
          <p:cNvPr id="4" name="Text 2"/>
          <p:cNvSpPr txBox="1"/>
          <p:nvPr/>
        </p:nvSpPr>
        <p:spPr>
          <a:xfrm>
            <a:off x="685800" y="3017520"/>
            <a:ext cx="9326880" cy="1280160"/>
          </a:xfrm>
          <a:prstGeom prst="rect">
            <a:avLst/>
          </a:prstGeom>
          <a:noFill/>
          <a:ln/>
        </p:spPr>
        <p:txBody>
          <a:bodyPr wrap="square" lIns="0" tIns="0" rIns="0" bIns="0" rtlCol="0" anchor="t"/>
          <a:lstStyle/>
          <a:p>
            <a:pPr indent="0" marL="0">
              <a:buNone/>
            </a:pPr>
            <a:r>
              <a:rPr lang="en-US" sz="2200" dirty="0">
                <a:solidFill>
                  <a:schemeClr val="tx1"/>
                </a:solidFill>
              </a:rPr>
              <a:t>Markedsføring i LinkedIn-beskeder og invitationer er elektronisk post. Det kræver modtagerens samtykke efter markedsføringslovens § 10, også mellem virksomheder.</a:t>
            </a:r>
            <a:endParaRPr lang="en-US" sz="2200" dirty="0"/>
          </a:p>
        </p:txBody>
      </p:sp>
      <p:sp>
        <p:nvSpPr>
          <p:cNvPr id="5" name="Text 3"/>
          <p:cNvSpPr txBox="1"/>
          <p:nvPr/>
        </p:nvSpPr>
        <p:spPr>
          <a:xfrm>
            <a:off x="685800" y="4434840"/>
            <a:ext cx="9326880" cy="914400"/>
          </a:xfrm>
          <a:prstGeom prst="rect">
            <a:avLst/>
          </a:prstGeom>
          <a:noFill/>
          <a:ln/>
        </p:spPr>
        <p:txBody>
          <a:bodyPr wrap="square" lIns="0" tIns="0" rIns="0" bIns="0" rtlCol="0" anchor="t"/>
          <a:lstStyle/>
          <a:p>
            <a:pPr indent="0" marL="0">
              <a:buNone/>
            </a:pPr>
            <a:r>
              <a:rPr lang="en-US" sz="2200" dirty="0">
                <a:solidFill>
                  <a:schemeClr val="accent2"/>
                </a:solidFill>
              </a:rPr>
              <a:t>Automatisér research og udkast fuldt ud. </a:t>
            </a:r>
            <a:pPr indent="0" marL="0">
              <a:buNone/>
            </a:pPr>
            <a:r>
              <a:rPr lang="en-US" sz="2200" dirty="0">
                <a:solidFill>
                  <a:schemeClr val="accent1"/>
                </a:solidFill>
              </a:rPr>
              <a:t>Send markedsføringen dér, hvor reglerne tillader det.</a:t>
            </a:r>
            <a:endParaRPr lang="en-US" sz="2200" dirty="0"/>
          </a:p>
        </p:txBody>
      </p:sp>
      <p:sp>
        <p:nvSpPr>
          <p:cNvPr id="6" name="Text 4"/>
          <p:cNvSpPr txBox="1"/>
          <p:nvPr/>
        </p:nvSpPr>
        <p:spPr>
          <a:xfrm>
            <a:off x="685800" y="6144768"/>
            <a:ext cx="10820095" cy="320040"/>
          </a:xfrm>
          <a:prstGeom prst="rect">
            <a:avLst/>
          </a:prstGeom>
          <a:noFill/>
          <a:ln/>
        </p:spPr>
        <p:txBody>
          <a:bodyPr wrap="square" lIns="0" tIns="0" rIns="0" bIns="0" rtlCol="0" anchor="t"/>
          <a:lstStyle/>
          <a:p>
            <a:pPr indent="0" marL="0">
              <a:buNone/>
            </a:pPr>
            <a:r>
              <a:rPr lang="en-US" sz="1200" dirty="0">
                <a:solidFill>
                  <a:schemeClr val="accent2"/>
                </a:solidFill>
              </a:rPr>
              <a:t>Kilde. Forbrugerombudsmanden, gengivet af Dansk Erhverv 2020. LinkedIns brugeraftale forbyder desuden bots.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DEMO  ·  FRA MØDE TIL HANDLING</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Pocket har lyttet med hele timen. </a:t>
            </a:r>
            <a:pPr algn="l" indent="0" marL="0">
              <a:lnSpc>
                <a:spcPct val="93000"/>
              </a:lnSpc>
              <a:buNone/>
            </a:pPr>
            <a:r>
              <a:rPr lang="en-US" sz="3400" b="1" dirty="0">
                <a:solidFill>
                  <a:schemeClr val="accent1"/>
                </a:solidFill>
              </a:rPr>
              <a:t>Nu bliver det til handling</a:t>
            </a:r>
            <a:endParaRPr lang="en-US" sz="3400" dirty="0"/>
          </a:p>
        </p:txBody>
      </p:sp>
      <p:sp>
        <p:nvSpPr>
          <p:cNvPr id="4" name="Shape 2"/>
          <p:cNvSpPr/>
          <p:nvPr/>
        </p:nvSpPr>
        <p:spPr>
          <a:xfrm>
            <a:off x="685800" y="2624328"/>
            <a:ext cx="201168" cy="201168"/>
          </a:xfrm>
          <a:prstGeom prst="ellipse">
            <a:avLst/>
          </a:prstGeom>
          <a:solidFill>
            <a:srgbClr val="A1A1A6"/>
          </a:solidFill>
          <a:ln w="12700">
            <a:solidFill>
              <a:srgbClr val="A1A1A6"/>
            </a:solidFill>
            <a:prstDash val="solid"/>
          </a:ln>
        </p:spPr>
      </p:sp>
      <p:sp>
        <p:nvSpPr>
          <p:cNvPr id="5" name="Shape 3"/>
          <p:cNvSpPr/>
          <p:nvPr/>
        </p:nvSpPr>
        <p:spPr>
          <a:xfrm>
            <a:off x="786384" y="2898648"/>
            <a:ext cx="0" cy="868680"/>
          </a:xfrm>
          <a:prstGeom prst="line">
            <a:avLst/>
          </a:prstGeom>
          <a:noFill/>
          <a:ln w="12700">
            <a:solidFill>
              <a:schemeClr val="accent5"/>
            </a:solidFill>
            <a:prstDash val="solid"/>
          </a:ln>
        </p:spPr>
      </p:sp>
      <p:sp>
        <p:nvSpPr>
          <p:cNvPr id="6" name="Text 4"/>
          <p:cNvSpPr txBox="1"/>
          <p:nvPr/>
        </p:nvSpPr>
        <p:spPr>
          <a:xfrm>
            <a:off x="1143000" y="2514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Pocket og Read.ai</a:t>
            </a:r>
            <a:endParaRPr lang="en-US" sz="2100" dirty="0"/>
          </a:p>
        </p:txBody>
      </p:sp>
      <p:sp>
        <p:nvSpPr>
          <p:cNvPr id="7" name="Text 5"/>
          <p:cNvSpPr txBox="1"/>
          <p:nvPr/>
        </p:nvSpPr>
        <p:spPr>
          <a:xfrm>
            <a:off x="1143000" y="2926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optager fysiske og online møder</a:t>
            </a:r>
            <a:endParaRPr lang="en-US" sz="1500" dirty="0"/>
          </a:p>
        </p:txBody>
      </p:sp>
      <p:sp>
        <p:nvSpPr>
          <p:cNvPr id="8" name="Shape 6"/>
          <p:cNvSpPr/>
          <p:nvPr/>
        </p:nvSpPr>
        <p:spPr>
          <a:xfrm>
            <a:off x="685800" y="3767328"/>
            <a:ext cx="201168" cy="201168"/>
          </a:xfrm>
          <a:prstGeom prst="ellipse">
            <a:avLst/>
          </a:prstGeom>
          <a:solidFill>
            <a:srgbClr val="009A92"/>
          </a:solidFill>
          <a:ln w="12700">
            <a:solidFill>
              <a:srgbClr val="009A92"/>
            </a:solidFill>
            <a:prstDash val="solid"/>
          </a:ln>
        </p:spPr>
      </p:sp>
      <p:sp>
        <p:nvSpPr>
          <p:cNvPr id="9" name="Shape 7"/>
          <p:cNvSpPr/>
          <p:nvPr/>
        </p:nvSpPr>
        <p:spPr>
          <a:xfrm>
            <a:off x="786384" y="4041648"/>
            <a:ext cx="0" cy="868680"/>
          </a:xfrm>
          <a:prstGeom prst="line">
            <a:avLst/>
          </a:prstGeom>
          <a:noFill/>
          <a:ln w="12700">
            <a:solidFill>
              <a:schemeClr val="accent5"/>
            </a:solidFill>
            <a:prstDash val="solid"/>
          </a:ln>
        </p:spPr>
      </p:sp>
      <p:sp>
        <p:nvSpPr>
          <p:cNvPr id="10" name="Text 8"/>
          <p:cNvSpPr txBox="1"/>
          <p:nvPr/>
        </p:nvSpPr>
        <p:spPr>
          <a:xfrm>
            <a:off x="1143000" y="3657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AI</a:t>
            </a:r>
            <a:endParaRPr lang="en-US" sz="2100" dirty="0"/>
          </a:p>
        </p:txBody>
      </p:sp>
      <p:sp>
        <p:nvSpPr>
          <p:cNvPr id="11" name="Text 9"/>
          <p:cNvSpPr txBox="1"/>
          <p:nvPr/>
        </p:nvSpPr>
        <p:spPr>
          <a:xfrm>
            <a:off x="1143000" y="4069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skriver referat, beslutninger og opgaver</a:t>
            </a:r>
            <a:endParaRPr lang="en-US" sz="1500" dirty="0"/>
          </a:p>
        </p:txBody>
      </p:sp>
      <p:sp>
        <p:nvSpPr>
          <p:cNvPr id="12" name="Shape 10"/>
          <p:cNvSpPr/>
          <p:nvPr/>
        </p:nvSpPr>
        <p:spPr>
          <a:xfrm>
            <a:off x="685800" y="4910328"/>
            <a:ext cx="201168" cy="201168"/>
          </a:xfrm>
          <a:prstGeom prst="ellipse">
            <a:avLst/>
          </a:prstGeom>
          <a:solidFill>
            <a:srgbClr val="A1A1A6"/>
          </a:solidFill>
          <a:ln w="12700">
            <a:solidFill>
              <a:srgbClr val="A1A1A6"/>
            </a:solidFill>
            <a:prstDash val="solid"/>
          </a:ln>
        </p:spPr>
      </p:sp>
      <p:sp>
        <p:nvSpPr>
          <p:cNvPr id="13" name="Text 11"/>
          <p:cNvSpPr txBox="1"/>
          <p:nvPr/>
        </p:nvSpPr>
        <p:spPr>
          <a:xfrm>
            <a:off x="1143000" y="4800600"/>
            <a:ext cx="3931920" cy="411480"/>
          </a:xfrm>
          <a:prstGeom prst="rect">
            <a:avLst/>
          </a:prstGeom>
          <a:noFill/>
          <a:ln/>
        </p:spPr>
        <p:txBody>
          <a:bodyPr wrap="square" lIns="0" tIns="0" rIns="0" bIns="0" rtlCol="0" anchor="t"/>
          <a:lstStyle/>
          <a:p>
            <a:pPr indent="0" marL="0">
              <a:buNone/>
            </a:pPr>
            <a:r>
              <a:rPr lang="en-US" sz="2100" b="1" dirty="0">
                <a:solidFill>
                  <a:schemeClr val="bg1"/>
                </a:solidFill>
              </a:rPr>
              <a:t>HubSpot og Slack</a:t>
            </a:r>
            <a:endParaRPr lang="en-US" sz="2100" dirty="0"/>
          </a:p>
        </p:txBody>
      </p:sp>
      <p:sp>
        <p:nvSpPr>
          <p:cNvPr id="14" name="Text 12"/>
          <p:cNvSpPr txBox="1"/>
          <p:nvPr/>
        </p:nvSpPr>
        <p:spPr>
          <a:xfrm>
            <a:off x="1143000" y="5212080"/>
            <a:ext cx="3931920" cy="365760"/>
          </a:xfrm>
          <a:prstGeom prst="rect">
            <a:avLst/>
          </a:prstGeom>
          <a:noFill/>
          <a:ln/>
        </p:spPr>
        <p:txBody>
          <a:bodyPr wrap="square" lIns="0" tIns="0" rIns="0" bIns="0" rtlCol="0" anchor="t"/>
          <a:lstStyle/>
          <a:p>
            <a:pPr indent="0" marL="0">
              <a:buNone/>
            </a:pPr>
            <a:r>
              <a:rPr lang="en-US" sz="1500" dirty="0">
                <a:solidFill>
                  <a:schemeClr val="accent3"/>
                </a:solidFill>
              </a:rPr>
              <a:t>opgaver og besked til holdet</a:t>
            </a:r>
            <a:endParaRPr lang="en-US" sz="1500" dirty="0"/>
          </a:p>
        </p:txBody>
      </p:sp>
      <p:sp>
        <p:nvSpPr>
          <p:cNvPr id="15" name="Shape 13"/>
          <p:cNvSpPr/>
          <p:nvPr/>
        </p:nvSpPr>
        <p:spPr>
          <a:xfrm>
            <a:off x="5669280" y="2377440"/>
            <a:ext cx="5833872" cy="3611880"/>
          </a:xfrm>
          <a:prstGeom prst="roundRect">
            <a:avLst>
              <a:gd name="adj" fmla="val 3038"/>
            </a:avLst>
          </a:prstGeom>
          <a:solidFill>
            <a:srgbClr val="1C1C1E"/>
          </a:solidFill>
          <a:ln w="12700">
            <a:solidFill>
              <a:srgbClr val="1C1C1E"/>
            </a:solidFill>
            <a:prstDash val="solid"/>
          </a:ln>
        </p:spPr>
      </p:sp>
      <p:sp>
        <p:nvSpPr>
          <p:cNvPr id="16" name="Text 14"/>
          <p:cNvSpPr txBox="1"/>
          <p:nvPr/>
        </p:nvSpPr>
        <p:spPr>
          <a:xfrm>
            <a:off x="5989320" y="2606040"/>
            <a:ext cx="2743200" cy="320040"/>
          </a:xfrm>
          <a:prstGeom prst="rect">
            <a:avLst/>
          </a:prstGeom>
          <a:noFill/>
          <a:ln/>
        </p:spPr>
        <p:txBody>
          <a:bodyPr wrap="square" lIns="0" tIns="0" rIns="0" bIns="0" rtlCol="0" anchor="t"/>
          <a:lstStyle/>
          <a:p>
            <a:pPr indent="0" marL="0">
              <a:buNone/>
            </a:pPr>
            <a:r>
              <a:rPr lang="en-US" sz="1400" b="1" dirty="0">
                <a:solidFill>
                  <a:schemeClr val="accent3"/>
                </a:solidFill>
              </a:rPr>
              <a:t># hold-ai</a:t>
            </a:r>
            <a:endParaRPr lang="en-US" sz="1400" dirty="0"/>
          </a:p>
        </p:txBody>
      </p:sp>
      <p:sp>
        <p:nvSpPr>
          <p:cNvPr id="17" name="Shape 15"/>
          <p:cNvSpPr/>
          <p:nvPr/>
        </p:nvSpPr>
        <p:spPr>
          <a:xfrm>
            <a:off x="5669280" y="3063240"/>
            <a:ext cx="5833872" cy="0"/>
          </a:xfrm>
          <a:prstGeom prst="line">
            <a:avLst/>
          </a:prstGeom>
          <a:noFill/>
          <a:ln w="9525">
            <a:solidFill>
              <a:schemeClr val="accent5"/>
            </a:solidFill>
            <a:prstDash val="solid"/>
          </a:ln>
        </p:spPr>
      </p:sp>
      <p:sp>
        <p:nvSpPr>
          <p:cNvPr id="18" name="Shape 16"/>
          <p:cNvSpPr/>
          <p:nvPr/>
        </p:nvSpPr>
        <p:spPr>
          <a:xfrm>
            <a:off x="5989320" y="3291840"/>
            <a:ext cx="457200" cy="457200"/>
          </a:xfrm>
          <a:prstGeom prst="roundRect">
            <a:avLst>
              <a:gd name="adj" fmla="val 20000"/>
            </a:avLst>
          </a:prstGeom>
          <a:solidFill>
            <a:srgbClr val="009A92"/>
          </a:solidFill>
          <a:ln w="12700">
            <a:solidFill>
              <a:srgbClr val="009A92"/>
            </a:solidFill>
            <a:prstDash val="solid"/>
          </a:ln>
        </p:spPr>
      </p:sp>
      <p:sp>
        <p:nvSpPr>
          <p:cNvPr id="19" name="Text 17"/>
          <p:cNvSpPr txBox="1"/>
          <p:nvPr/>
        </p:nvSpPr>
        <p:spPr>
          <a:xfrm>
            <a:off x="5989320" y="32918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AI</a:t>
            </a:r>
            <a:endParaRPr lang="en-US" sz="1300" dirty="0"/>
          </a:p>
        </p:txBody>
      </p:sp>
      <p:sp>
        <p:nvSpPr>
          <p:cNvPr id="20" name="Text 18"/>
          <p:cNvSpPr txBox="1"/>
          <p:nvPr/>
        </p:nvSpPr>
        <p:spPr>
          <a:xfrm>
            <a:off x="6629400" y="3273552"/>
            <a:ext cx="3657600" cy="274320"/>
          </a:xfrm>
          <a:prstGeom prst="rect">
            <a:avLst/>
          </a:prstGeom>
          <a:noFill/>
          <a:ln/>
        </p:spPr>
        <p:txBody>
          <a:bodyPr wrap="square" lIns="0" tIns="0" rIns="0" bIns="0" rtlCol="0" anchor="t"/>
          <a:lstStyle/>
          <a:p>
            <a:pPr indent="0" marL="0">
              <a:buNone/>
            </a:pPr>
            <a:r>
              <a:rPr lang="en-US" sz="1400" b="1" dirty="0">
                <a:solidFill>
                  <a:schemeClr val="bg1"/>
                </a:solidFill>
              </a:rPr>
              <a:t>Referat fra Pocket</a:t>
            </a:r>
            <a:endParaRPr lang="en-US" sz="1400" dirty="0"/>
          </a:p>
        </p:txBody>
      </p:sp>
      <p:sp>
        <p:nvSpPr>
          <p:cNvPr id="21" name="Text 19"/>
          <p:cNvSpPr txBox="1"/>
          <p:nvPr/>
        </p:nvSpPr>
        <p:spPr>
          <a:xfrm>
            <a:off x="6629400" y="3566160"/>
            <a:ext cx="4114800" cy="274320"/>
          </a:xfrm>
          <a:prstGeom prst="rect">
            <a:avLst/>
          </a:prstGeom>
          <a:noFill/>
          <a:ln/>
        </p:spPr>
        <p:txBody>
          <a:bodyPr wrap="square" lIns="0" tIns="0" rIns="0" bIns="0" rtlCol="0" anchor="t"/>
          <a:lstStyle/>
          <a:p>
            <a:pPr indent="0" marL="0">
              <a:buNone/>
            </a:pPr>
            <a:r>
              <a:rPr lang="en-US" sz="1400" dirty="0">
                <a:solidFill>
                  <a:schemeClr val="accent3"/>
                </a:solidFill>
              </a:rPr>
              <a:t>Tre pointer fra i dag</a:t>
            </a:r>
            <a:endParaRPr lang="en-US" sz="1400" dirty="0"/>
          </a:p>
        </p:txBody>
      </p:sp>
      <p:sp>
        <p:nvSpPr>
          <p:cNvPr id="22" name="Text 20"/>
          <p:cNvSpPr txBox="1"/>
          <p:nvPr/>
        </p:nvSpPr>
        <p:spPr>
          <a:xfrm>
            <a:off x="6629400" y="4069080"/>
            <a:ext cx="4663440" cy="365760"/>
          </a:xfrm>
          <a:prstGeom prst="rect">
            <a:avLst/>
          </a:prstGeom>
          <a:noFill/>
          <a:ln/>
        </p:spPr>
        <p:txBody>
          <a:bodyPr wrap="square" lIns="0" tIns="0" rIns="0" bIns="0" rtlCol="0" anchor="t"/>
          <a:lstStyle/>
          <a:p>
            <a:pPr indent="0" marL="0">
              <a:buNone/>
            </a:pPr>
            <a:r>
              <a:rPr lang="en-US" sz="1500" dirty="0">
                <a:solidFill>
                  <a:schemeClr val="bg1"/>
                </a:solidFill>
              </a:rPr>
              <a:t>1   Som studerende tænker AI med dig</a:t>
            </a:r>
            <a:endParaRPr lang="en-US" sz="1500" dirty="0"/>
          </a:p>
        </p:txBody>
      </p:sp>
      <p:sp>
        <p:nvSpPr>
          <p:cNvPr id="23" name="Text 21"/>
          <p:cNvSpPr txBox="1"/>
          <p:nvPr/>
        </p:nvSpPr>
        <p:spPr>
          <a:xfrm>
            <a:off x="6629400" y="4526280"/>
            <a:ext cx="4663440" cy="365760"/>
          </a:xfrm>
          <a:prstGeom prst="rect">
            <a:avLst/>
          </a:prstGeom>
          <a:noFill/>
          <a:ln/>
        </p:spPr>
        <p:txBody>
          <a:bodyPr wrap="square" lIns="0" tIns="0" rIns="0" bIns="0" rtlCol="0" anchor="t"/>
          <a:lstStyle/>
          <a:p>
            <a:pPr indent="0" marL="0">
              <a:buNone/>
            </a:pPr>
            <a:r>
              <a:rPr lang="en-US" sz="1500" dirty="0">
                <a:solidFill>
                  <a:schemeClr val="bg1"/>
                </a:solidFill>
              </a:rPr>
              <a:t>2   I jobbet arbejder AI for dig</a:t>
            </a:r>
            <a:endParaRPr lang="en-US" sz="1500" dirty="0"/>
          </a:p>
        </p:txBody>
      </p:sp>
      <p:sp>
        <p:nvSpPr>
          <p:cNvPr id="24" name="Text 22"/>
          <p:cNvSpPr txBox="1"/>
          <p:nvPr/>
        </p:nvSpPr>
        <p:spPr>
          <a:xfrm>
            <a:off x="6629400" y="4983480"/>
            <a:ext cx="4663440" cy="365760"/>
          </a:xfrm>
          <a:prstGeom prst="rect">
            <a:avLst/>
          </a:prstGeom>
          <a:noFill/>
          <a:ln/>
        </p:spPr>
        <p:txBody>
          <a:bodyPr wrap="square" lIns="0" tIns="0" rIns="0" bIns="0" rtlCol="0" anchor="t"/>
          <a:lstStyle/>
          <a:p>
            <a:pPr indent="0" marL="0">
              <a:buNone/>
            </a:pPr>
            <a:r>
              <a:rPr lang="en-US" sz="1500" dirty="0">
                <a:solidFill>
                  <a:schemeClr val="bg1"/>
                </a:solidFill>
              </a:rPr>
              <a:t>3   Skriv dine prompts med KRAFT</a:t>
            </a:r>
            <a:endParaRPr lang="en-US" sz="1500" dirty="0"/>
          </a:p>
        </p:txBody>
      </p:sp>
      <p:sp>
        <p:nvSpPr>
          <p:cNvPr id="25" name="Text 23"/>
          <p:cNvSpPr txBox="1"/>
          <p:nvPr/>
        </p:nvSpPr>
        <p:spPr>
          <a:xfrm>
            <a:off x="6629400" y="5486400"/>
            <a:ext cx="4754880" cy="320040"/>
          </a:xfrm>
          <a:prstGeom prst="rect">
            <a:avLst/>
          </a:prstGeom>
          <a:noFill/>
          <a:ln/>
        </p:spPr>
        <p:txBody>
          <a:bodyPr wrap="square" lIns="0" tIns="0" rIns="0" bIns="0" rtlCol="0" anchor="t"/>
          <a:lstStyle/>
          <a:p>
            <a:pPr indent="0" marL="0">
              <a:buNone/>
            </a:pPr>
            <a:r>
              <a:rPr lang="en-US" sz="1200" dirty="0">
                <a:solidFill>
                  <a:schemeClr val="accent3"/>
                </a:solidFill>
              </a:rPr>
              <a:t>Opgave  ·  Kør promptkortet på jeres datasæt</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DEMO  ·  CLAUDE DESIGN</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Ét design system. </a:t>
            </a:r>
            <a:pPr algn="l" indent="0" marL="0">
              <a:lnSpc>
                <a:spcPct val="93000"/>
              </a:lnSpc>
              <a:buNone/>
            </a:pPr>
            <a:r>
              <a:rPr lang="en-US" sz="3400" b="1" dirty="0">
                <a:solidFill>
                  <a:schemeClr val="accent1"/>
                </a:solidFill>
              </a:rPr>
              <a:t>Alt materiale</a:t>
            </a:r>
            <a:pPr algn="l" indent="0" marL="0">
              <a:lnSpc>
                <a:spcPct val="93000"/>
              </a:lnSpc>
              <a:buNone/>
            </a:pPr>
            <a:r>
              <a:rPr lang="en-US" sz="3400" b="1" dirty="0">
                <a:solidFill>
                  <a:schemeClr val="tx1"/>
                </a:solidFill>
              </a:rPr>
              <a:t> i samme stil</a:t>
            </a:r>
            <a:endParaRPr lang="en-US" sz="3400" dirty="0"/>
          </a:p>
        </p:txBody>
      </p:sp>
      <p:sp>
        <p:nvSpPr>
          <p:cNvPr id="4" name="Shape 2"/>
          <p:cNvSpPr/>
          <p:nvPr/>
        </p:nvSpPr>
        <p:spPr>
          <a:xfrm>
            <a:off x="685800" y="2606040"/>
            <a:ext cx="1097280" cy="1097280"/>
          </a:xfrm>
          <a:prstGeom prst="ellipse">
            <a:avLst/>
          </a:prstGeom>
          <a:solidFill>
            <a:srgbClr val="181818"/>
          </a:solidFill>
          <a:ln w="12700">
            <a:solidFill>
              <a:srgbClr val="181818"/>
            </a:solidFill>
            <a:prstDash val="solid"/>
          </a:ln>
        </p:spPr>
      </p:sp>
      <p:sp>
        <p:nvSpPr>
          <p:cNvPr id="5" name="Text 3"/>
          <p:cNvSpPr txBox="1"/>
          <p:nvPr/>
        </p:nvSpPr>
        <p:spPr>
          <a:xfrm>
            <a:off x="68580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Sort</a:t>
            </a:r>
            <a:endParaRPr lang="en-US" sz="1400" dirty="0"/>
          </a:p>
        </p:txBody>
      </p:sp>
      <p:sp>
        <p:nvSpPr>
          <p:cNvPr id="6" name="Text 4"/>
          <p:cNvSpPr txBox="1"/>
          <p:nvPr/>
        </p:nvSpPr>
        <p:spPr>
          <a:xfrm>
            <a:off x="68580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#181818</a:t>
            </a:r>
            <a:endParaRPr lang="en-US" sz="1200" dirty="0"/>
          </a:p>
        </p:txBody>
      </p:sp>
      <p:sp>
        <p:nvSpPr>
          <p:cNvPr id="7" name="Shape 5"/>
          <p:cNvSpPr/>
          <p:nvPr/>
        </p:nvSpPr>
        <p:spPr>
          <a:xfrm>
            <a:off x="2103120" y="2606040"/>
            <a:ext cx="1097280" cy="1097280"/>
          </a:xfrm>
          <a:prstGeom prst="ellipse">
            <a:avLst/>
          </a:prstGeom>
          <a:solidFill>
            <a:srgbClr val="FF442B"/>
          </a:solidFill>
          <a:ln w="12700">
            <a:solidFill>
              <a:srgbClr val="FF442B"/>
            </a:solidFill>
            <a:prstDash val="solid"/>
          </a:ln>
        </p:spPr>
      </p:sp>
      <p:sp>
        <p:nvSpPr>
          <p:cNvPr id="8" name="Text 6"/>
          <p:cNvSpPr txBox="1"/>
          <p:nvPr/>
        </p:nvSpPr>
        <p:spPr>
          <a:xfrm>
            <a:off x="210312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Signal</a:t>
            </a:r>
            <a:endParaRPr lang="en-US" sz="1400" dirty="0"/>
          </a:p>
        </p:txBody>
      </p:sp>
      <p:sp>
        <p:nvSpPr>
          <p:cNvPr id="9" name="Text 7"/>
          <p:cNvSpPr txBox="1"/>
          <p:nvPr/>
        </p:nvSpPr>
        <p:spPr>
          <a:xfrm>
            <a:off x="210312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#FF442B</a:t>
            </a:r>
            <a:endParaRPr lang="en-US" sz="1200" dirty="0"/>
          </a:p>
        </p:txBody>
      </p:sp>
      <p:sp>
        <p:nvSpPr>
          <p:cNvPr id="10" name="Shape 8"/>
          <p:cNvSpPr/>
          <p:nvPr/>
        </p:nvSpPr>
        <p:spPr>
          <a:xfrm>
            <a:off x="3520440" y="2606040"/>
            <a:ext cx="1097280" cy="1097280"/>
          </a:xfrm>
          <a:prstGeom prst="ellipse">
            <a:avLst/>
          </a:prstGeom>
          <a:solidFill>
            <a:srgbClr val="3355FF"/>
          </a:solidFill>
          <a:ln w="12700">
            <a:solidFill>
              <a:srgbClr val="3355FF"/>
            </a:solidFill>
            <a:prstDash val="solid"/>
          </a:ln>
        </p:spPr>
      </p:sp>
      <p:sp>
        <p:nvSpPr>
          <p:cNvPr id="11" name="Text 9"/>
          <p:cNvSpPr txBox="1"/>
          <p:nvPr/>
        </p:nvSpPr>
        <p:spPr>
          <a:xfrm>
            <a:off x="352044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Blå</a:t>
            </a:r>
            <a:endParaRPr lang="en-US" sz="1400" dirty="0"/>
          </a:p>
        </p:txBody>
      </p:sp>
      <p:sp>
        <p:nvSpPr>
          <p:cNvPr id="12" name="Text 10"/>
          <p:cNvSpPr txBox="1"/>
          <p:nvPr/>
        </p:nvSpPr>
        <p:spPr>
          <a:xfrm>
            <a:off x="352044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#3355FF</a:t>
            </a:r>
            <a:endParaRPr lang="en-US" sz="1200" dirty="0"/>
          </a:p>
        </p:txBody>
      </p:sp>
      <p:sp>
        <p:nvSpPr>
          <p:cNvPr id="13" name="Shape 11"/>
          <p:cNvSpPr/>
          <p:nvPr/>
        </p:nvSpPr>
        <p:spPr>
          <a:xfrm>
            <a:off x="4937760" y="2606040"/>
            <a:ext cx="1097280" cy="1097280"/>
          </a:xfrm>
          <a:prstGeom prst="ellipse">
            <a:avLst/>
          </a:prstGeom>
          <a:solidFill>
            <a:srgbClr val="F7F8F9"/>
          </a:solidFill>
          <a:ln w="12700">
            <a:solidFill>
              <a:srgbClr val="D2D2D7"/>
            </a:solidFill>
            <a:prstDash val="solid"/>
          </a:ln>
        </p:spPr>
      </p:sp>
      <p:sp>
        <p:nvSpPr>
          <p:cNvPr id="14" name="Text 12"/>
          <p:cNvSpPr txBox="1"/>
          <p:nvPr/>
        </p:nvSpPr>
        <p:spPr>
          <a:xfrm>
            <a:off x="4937760" y="3840480"/>
            <a:ext cx="1280160" cy="274320"/>
          </a:xfrm>
          <a:prstGeom prst="rect">
            <a:avLst/>
          </a:prstGeom>
          <a:noFill/>
          <a:ln/>
        </p:spPr>
        <p:txBody>
          <a:bodyPr wrap="square" lIns="0" tIns="0" rIns="0" bIns="0" rtlCol="0" anchor="t"/>
          <a:lstStyle/>
          <a:p>
            <a:pPr indent="0" marL="0">
              <a:buNone/>
            </a:pPr>
            <a:r>
              <a:rPr lang="en-US" sz="1400" b="1" dirty="0">
                <a:solidFill>
                  <a:schemeClr val="tx1"/>
                </a:solidFill>
              </a:rPr>
              <a:t>Lys</a:t>
            </a:r>
            <a:endParaRPr lang="en-US" sz="1400" dirty="0"/>
          </a:p>
        </p:txBody>
      </p:sp>
      <p:sp>
        <p:nvSpPr>
          <p:cNvPr id="15" name="Text 13"/>
          <p:cNvSpPr txBox="1"/>
          <p:nvPr/>
        </p:nvSpPr>
        <p:spPr>
          <a:xfrm>
            <a:off x="4937760" y="4114800"/>
            <a:ext cx="1280160" cy="274320"/>
          </a:xfrm>
          <a:prstGeom prst="rect">
            <a:avLst/>
          </a:prstGeom>
          <a:noFill/>
          <a:ln/>
        </p:spPr>
        <p:txBody>
          <a:bodyPr wrap="square" lIns="0" tIns="0" rIns="0" bIns="0" rtlCol="0" anchor="t"/>
          <a:lstStyle/>
          <a:p>
            <a:pPr indent="0" marL="0">
              <a:buNone/>
            </a:pPr>
            <a:r>
              <a:rPr lang="en-US" sz="1200" dirty="0">
                <a:solidFill>
                  <a:schemeClr val="accent2"/>
                </a:solidFill>
              </a:rPr>
              <a:t>#F7F8F9</a:t>
            </a:r>
            <a:endParaRPr lang="en-US" sz="1200" dirty="0"/>
          </a:p>
        </p:txBody>
      </p:sp>
      <p:sp>
        <p:nvSpPr>
          <p:cNvPr id="16" name="Shape 14"/>
          <p:cNvSpPr/>
          <p:nvPr/>
        </p:nvSpPr>
        <p:spPr>
          <a:xfrm>
            <a:off x="6629400" y="2377440"/>
            <a:ext cx="4873752" cy="3291840"/>
          </a:xfrm>
          <a:prstGeom prst="roundRect">
            <a:avLst>
              <a:gd name="adj" fmla="val 3889"/>
            </a:avLst>
          </a:prstGeom>
          <a:solidFill>
            <a:srgbClr val="181818"/>
          </a:solidFill>
          <a:ln w="12700">
            <a:solidFill>
              <a:srgbClr val="181818"/>
            </a:solidFill>
            <a:prstDash val="solid"/>
          </a:ln>
        </p:spPr>
      </p:sp>
      <p:sp>
        <p:nvSpPr>
          <p:cNvPr id="17" name="Text 15"/>
          <p:cNvSpPr txBox="1"/>
          <p:nvPr/>
        </p:nvSpPr>
        <p:spPr>
          <a:xfrm>
            <a:off x="7040880" y="2697480"/>
            <a:ext cx="3657600" cy="274320"/>
          </a:xfrm>
          <a:prstGeom prst="rect">
            <a:avLst/>
          </a:prstGeom>
          <a:noFill/>
          <a:ln/>
        </p:spPr>
        <p:txBody>
          <a:bodyPr wrap="square" lIns="0" tIns="0" rIns="0" bIns="0" rtlCol="0" anchor="t"/>
          <a:lstStyle/>
          <a:p>
            <a:pPr indent="0" marL="0">
              <a:buNone/>
            </a:pPr>
            <a:r>
              <a:rPr lang="en-US" sz="1200" b="1" spc="300" kern="0" dirty="0">
                <a:solidFill>
                  <a:srgbClr val="FFFFFF"/>
                </a:solidFill>
              </a:rPr>
              <a:t>THIRDBASE</a:t>
            </a:r>
            <a:endParaRPr lang="en-US" sz="1200" dirty="0"/>
          </a:p>
        </p:txBody>
      </p:sp>
      <p:sp>
        <p:nvSpPr>
          <p:cNvPr id="18" name="Text 16"/>
          <p:cNvSpPr txBox="1"/>
          <p:nvPr/>
        </p:nvSpPr>
        <p:spPr>
          <a:xfrm>
            <a:off x="7040880" y="3291840"/>
            <a:ext cx="4114800" cy="1371600"/>
          </a:xfrm>
          <a:prstGeom prst="rect">
            <a:avLst/>
          </a:prstGeom>
          <a:noFill/>
          <a:ln/>
        </p:spPr>
        <p:txBody>
          <a:bodyPr wrap="square" lIns="0" tIns="0" rIns="0" bIns="0" rtlCol="0" anchor="t"/>
          <a:lstStyle/>
          <a:p>
            <a:pPr indent="0" marL="0">
              <a:buNone/>
            </a:pPr>
            <a:r>
              <a:rPr lang="en-US" sz="3600" b="1" dirty="0">
                <a:solidFill>
                  <a:srgbClr val="FFFFFF"/>
                </a:solidFill>
              </a:rPr>
              <a:t>Fra synlighed </a:t>
            </a:r>
            <a:pPr indent="0" marL="0">
              <a:buNone/>
            </a:pPr>
            <a:r>
              <a:rPr lang="en-US" sz="3600" b="1" dirty="0">
                <a:solidFill>
                  <a:srgbClr val="FF442B"/>
                </a:solidFill>
              </a:rPr>
              <a:t>til salg</a:t>
            </a:r>
            <a:endParaRPr lang="en-US" sz="3600" dirty="0"/>
          </a:p>
        </p:txBody>
      </p:sp>
      <p:sp>
        <p:nvSpPr>
          <p:cNvPr id="19" name="Shape 17"/>
          <p:cNvSpPr/>
          <p:nvPr/>
        </p:nvSpPr>
        <p:spPr>
          <a:xfrm>
            <a:off x="7040880" y="4846320"/>
            <a:ext cx="1737360" cy="457200"/>
          </a:xfrm>
          <a:prstGeom prst="roundRect">
            <a:avLst>
              <a:gd name="adj" fmla="val 50000"/>
            </a:avLst>
          </a:prstGeom>
          <a:solidFill>
            <a:srgbClr val="3355FF"/>
          </a:solidFill>
          <a:ln w="12700">
            <a:solidFill>
              <a:srgbClr val="3355FF"/>
            </a:solidFill>
            <a:prstDash val="solid"/>
          </a:ln>
        </p:spPr>
      </p:sp>
      <p:sp>
        <p:nvSpPr>
          <p:cNvPr id="20" name="Text 18"/>
          <p:cNvSpPr txBox="1"/>
          <p:nvPr/>
        </p:nvSpPr>
        <p:spPr>
          <a:xfrm>
            <a:off x="7040880" y="484632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rPr>
              <a:t>Book et møde</a:t>
            </a:r>
            <a:endParaRPr lang="en-US" sz="1300" dirty="0"/>
          </a:p>
        </p:txBody>
      </p:sp>
      <p:sp>
        <p:nvSpPr>
          <p:cNvPr id="21" name="Text 19"/>
          <p:cNvSpPr txBox="1"/>
          <p:nvPr/>
        </p:nvSpPr>
        <p:spPr>
          <a:xfrm>
            <a:off x="685800" y="4800600"/>
            <a:ext cx="5303520" cy="822960"/>
          </a:xfrm>
          <a:prstGeom prst="rect">
            <a:avLst/>
          </a:prstGeom>
          <a:noFill/>
          <a:ln/>
        </p:spPr>
        <p:txBody>
          <a:bodyPr wrap="square" lIns="0" tIns="0" rIns="0" bIns="0" rtlCol="0" anchor="t"/>
          <a:lstStyle/>
          <a:p>
            <a:pPr indent="0" marL="0">
              <a:buNone/>
            </a:pPr>
            <a:r>
              <a:rPr lang="en-US" sz="1700" dirty="0">
                <a:solidFill>
                  <a:schemeClr val="accent2"/>
                </a:solidFill>
              </a:rPr>
              <a:t>Farver, typografi, komponenter og tone er defineret én gang.</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AFSLØRING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5800" b="1" dirty="0">
                <a:solidFill>
                  <a:schemeClr val="bg1"/>
                </a:solidFill>
              </a:rPr>
              <a:t>Jeg har haft mine stikord </a:t>
            </a:r>
            <a:pPr indent="0" marL="0">
              <a:lnSpc>
                <a:spcPct val="95000"/>
              </a:lnSpc>
              <a:buNone/>
            </a:pPr>
            <a:r>
              <a:rPr lang="en-US" sz="5800" b="1" dirty="0">
                <a:solidFill>
                  <a:schemeClr val="accent1"/>
                </a:solidFill>
              </a:rPr>
              <a:t>i brillerne</a:t>
            </a:r>
            <a:pPr indent="0" marL="0">
              <a:lnSpc>
                <a:spcPct val="95000"/>
              </a:lnSpc>
              <a:buNone/>
            </a:pPr>
            <a:r>
              <a:rPr lang="en-US" sz="5800" b="1" dirty="0">
                <a:solidFill>
                  <a:schemeClr val="bg1"/>
                </a:solidFill>
              </a:rPr>
              <a:t> hele timen.</a:t>
            </a:r>
            <a:endParaRPr lang="en-US" sz="58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Even Realities. Tekst og AI-svar direkte i synsfeltet.</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AI UDEN SKÆRM</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AI uden skærm står bag </a:t>
            </a:r>
            <a:pPr algn="l" indent="0" marL="0">
              <a:lnSpc>
                <a:spcPct val="93000"/>
              </a:lnSpc>
              <a:buNone/>
            </a:pPr>
            <a:r>
              <a:rPr lang="en-US" sz="3400" b="1" dirty="0">
                <a:solidFill>
                  <a:schemeClr val="accent1"/>
                </a:solidFill>
              </a:rPr>
              <a:t>skranken</a:t>
            </a:r>
            <a:endParaRPr lang="en-US" sz="3400" dirty="0"/>
          </a:p>
        </p:txBody>
      </p:sp>
      <p:sp>
        <p:nvSpPr>
          <p:cNvPr id="4" name="Shape 2"/>
          <p:cNvSpPr/>
          <p:nvPr/>
        </p:nvSpPr>
        <p:spPr>
          <a:xfrm>
            <a:off x="685800" y="2560320"/>
            <a:ext cx="5120640" cy="0"/>
          </a:xfrm>
          <a:prstGeom prst="line">
            <a:avLst/>
          </a:prstGeom>
          <a:noFill/>
          <a:ln w="12700">
            <a:solidFill>
              <a:schemeClr val="accent5"/>
            </a:solidFill>
            <a:prstDash val="solid"/>
          </a:ln>
        </p:spPr>
      </p:sp>
      <p:sp>
        <p:nvSpPr>
          <p:cNvPr id="5" name="Text 3"/>
          <p:cNvSpPr txBox="1"/>
          <p:nvPr/>
        </p:nvSpPr>
        <p:spPr>
          <a:xfrm>
            <a:off x="685800" y="2788920"/>
            <a:ext cx="5120640" cy="457200"/>
          </a:xfrm>
          <a:prstGeom prst="rect">
            <a:avLst/>
          </a:prstGeom>
          <a:noFill/>
          <a:ln/>
        </p:spPr>
        <p:txBody>
          <a:bodyPr wrap="square" lIns="0" tIns="0" rIns="0" bIns="0" rtlCol="0" anchor="t"/>
          <a:lstStyle/>
          <a:p>
            <a:pPr indent="0" marL="0">
              <a:buNone/>
            </a:pPr>
            <a:r>
              <a:rPr lang="en-US" sz="2400" b="1" dirty="0">
                <a:solidFill>
                  <a:schemeClr val="bg1"/>
                </a:solidFill>
              </a:rPr>
              <a:t>Even Realities-briller</a:t>
            </a:r>
            <a:endParaRPr lang="en-US" sz="2400" dirty="0"/>
          </a:p>
        </p:txBody>
      </p:sp>
      <p:sp>
        <p:nvSpPr>
          <p:cNvPr id="6" name="Text 4"/>
          <p:cNvSpPr txBox="1"/>
          <p:nvPr/>
        </p:nvSpPr>
        <p:spPr>
          <a:xfrm>
            <a:off x="685800" y="329184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Live-oversættelse, mens gæsten taler</a:t>
            </a:r>
            <a:endParaRPr lang="en-US" sz="1800" dirty="0"/>
          </a:p>
        </p:txBody>
      </p:sp>
      <p:sp>
        <p:nvSpPr>
          <p:cNvPr id="7" name="Shape 5"/>
          <p:cNvSpPr/>
          <p:nvPr/>
        </p:nvSpPr>
        <p:spPr>
          <a:xfrm>
            <a:off x="6217920" y="2560320"/>
            <a:ext cx="5120640" cy="0"/>
          </a:xfrm>
          <a:prstGeom prst="line">
            <a:avLst/>
          </a:prstGeom>
          <a:noFill/>
          <a:ln w="12700">
            <a:solidFill>
              <a:schemeClr val="accent5"/>
            </a:solidFill>
            <a:prstDash val="solid"/>
          </a:ln>
        </p:spPr>
      </p:sp>
      <p:sp>
        <p:nvSpPr>
          <p:cNvPr id="8" name="Text 6"/>
          <p:cNvSpPr txBox="1"/>
          <p:nvPr/>
        </p:nvSpPr>
        <p:spPr>
          <a:xfrm>
            <a:off x="6217920" y="2788920"/>
            <a:ext cx="5120640" cy="457200"/>
          </a:xfrm>
          <a:prstGeom prst="rect">
            <a:avLst/>
          </a:prstGeom>
          <a:noFill/>
          <a:ln/>
        </p:spPr>
        <p:txBody>
          <a:bodyPr wrap="square" lIns="0" tIns="0" rIns="0" bIns="0" rtlCol="0" anchor="t"/>
          <a:lstStyle/>
          <a:p>
            <a:pPr indent="0" marL="0">
              <a:buNone/>
            </a:pPr>
            <a:r>
              <a:rPr lang="en-US" sz="2400" b="1" dirty="0">
                <a:solidFill>
                  <a:schemeClr val="bg1"/>
                </a:solidFill>
              </a:rPr>
              <a:t>Pocket</a:t>
            </a:r>
            <a:endParaRPr lang="en-US" sz="2400" dirty="0"/>
          </a:p>
        </p:txBody>
      </p:sp>
      <p:sp>
        <p:nvSpPr>
          <p:cNvPr id="9" name="Text 7"/>
          <p:cNvSpPr txBox="1"/>
          <p:nvPr/>
        </p:nvSpPr>
        <p:spPr>
          <a:xfrm>
            <a:off x="6217920" y="329184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Leverandørmødet bliver til drejebog og opgaver</a:t>
            </a:r>
            <a:endParaRPr lang="en-US" sz="1800" dirty="0"/>
          </a:p>
        </p:txBody>
      </p:sp>
      <p:sp>
        <p:nvSpPr>
          <p:cNvPr id="10" name="Shape 8"/>
          <p:cNvSpPr/>
          <p:nvPr/>
        </p:nvSpPr>
        <p:spPr>
          <a:xfrm>
            <a:off x="685800" y="4251960"/>
            <a:ext cx="5120640" cy="0"/>
          </a:xfrm>
          <a:prstGeom prst="line">
            <a:avLst/>
          </a:prstGeom>
          <a:noFill/>
          <a:ln w="12700">
            <a:solidFill>
              <a:schemeClr val="accent5"/>
            </a:solidFill>
            <a:prstDash val="solid"/>
          </a:ln>
        </p:spPr>
      </p:sp>
      <p:sp>
        <p:nvSpPr>
          <p:cNvPr id="11" name="Text 9"/>
          <p:cNvSpPr txBox="1"/>
          <p:nvPr/>
        </p:nvSpPr>
        <p:spPr>
          <a:xfrm>
            <a:off x="685800" y="4480560"/>
            <a:ext cx="5120640" cy="457200"/>
          </a:xfrm>
          <a:prstGeom prst="rect">
            <a:avLst/>
          </a:prstGeom>
          <a:noFill/>
          <a:ln/>
        </p:spPr>
        <p:txBody>
          <a:bodyPr wrap="square" lIns="0" tIns="0" rIns="0" bIns="0" rtlCol="0" anchor="t"/>
          <a:lstStyle/>
          <a:p>
            <a:pPr indent="0" marL="0">
              <a:buNone/>
            </a:pPr>
            <a:r>
              <a:rPr lang="en-US" sz="2400" b="1" dirty="0">
                <a:solidFill>
                  <a:schemeClr val="bg1"/>
                </a:solidFill>
              </a:rPr>
              <a:t>Ultrahuman-ring</a:t>
            </a:r>
            <a:endParaRPr lang="en-US" sz="2400" dirty="0"/>
          </a:p>
        </p:txBody>
      </p:sp>
      <p:sp>
        <p:nvSpPr>
          <p:cNvPr id="12" name="Text 10"/>
          <p:cNvSpPr txBox="1"/>
          <p:nvPr/>
        </p:nvSpPr>
        <p:spPr>
          <a:xfrm>
            <a:off x="685800" y="498348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Restitution efter lange eventdage</a:t>
            </a:r>
            <a:endParaRPr lang="en-US" sz="1800" dirty="0"/>
          </a:p>
        </p:txBody>
      </p:sp>
      <p:sp>
        <p:nvSpPr>
          <p:cNvPr id="13" name="Shape 11"/>
          <p:cNvSpPr/>
          <p:nvPr/>
        </p:nvSpPr>
        <p:spPr>
          <a:xfrm>
            <a:off x="6217920" y="4251960"/>
            <a:ext cx="5120640" cy="0"/>
          </a:xfrm>
          <a:prstGeom prst="line">
            <a:avLst/>
          </a:prstGeom>
          <a:noFill/>
          <a:ln w="12700">
            <a:solidFill>
              <a:schemeClr val="accent5"/>
            </a:solidFill>
            <a:prstDash val="solid"/>
          </a:ln>
        </p:spPr>
      </p:sp>
      <p:sp>
        <p:nvSpPr>
          <p:cNvPr id="14" name="Text 12"/>
          <p:cNvSpPr txBox="1"/>
          <p:nvPr/>
        </p:nvSpPr>
        <p:spPr>
          <a:xfrm>
            <a:off x="6217920" y="4480560"/>
            <a:ext cx="5120640" cy="457200"/>
          </a:xfrm>
          <a:prstGeom prst="rect">
            <a:avLst/>
          </a:prstGeom>
          <a:noFill/>
          <a:ln/>
        </p:spPr>
        <p:txBody>
          <a:bodyPr wrap="square" lIns="0" tIns="0" rIns="0" bIns="0" rtlCol="0" anchor="t"/>
          <a:lstStyle/>
          <a:p>
            <a:pPr indent="0" marL="0">
              <a:buNone/>
            </a:pPr>
            <a:r>
              <a:rPr lang="en-US" sz="2400" b="1" dirty="0">
                <a:solidFill>
                  <a:schemeClr val="accent3"/>
                </a:solidFill>
              </a:rPr>
              <a:t>Lava Music-guitar</a:t>
            </a:r>
            <a:endParaRPr lang="en-US" sz="2400" dirty="0"/>
          </a:p>
        </p:txBody>
      </p:sp>
      <p:sp>
        <p:nvSpPr>
          <p:cNvPr id="15" name="Text 13"/>
          <p:cNvSpPr txBox="1"/>
          <p:nvPr/>
        </p:nvSpPr>
        <p:spPr>
          <a:xfrm>
            <a:off x="6217920" y="4983480"/>
            <a:ext cx="4937760" cy="731520"/>
          </a:xfrm>
          <a:prstGeom prst="rect">
            <a:avLst/>
          </a:prstGeom>
          <a:noFill/>
          <a:ln/>
        </p:spPr>
        <p:txBody>
          <a:bodyPr wrap="square" lIns="0" tIns="0" rIns="0" bIns="0" rtlCol="0" anchor="t"/>
          <a:lstStyle/>
          <a:p>
            <a:pPr indent="0" marL="0">
              <a:buNone/>
            </a:pPr>
            <a:r>
              <a:rPr lang="en-US" sz="1800" dirty="0">
                <a:solidFill>
                  <a:schemeClr val="accent3"/>
                </a:solidFill>
              </a:rPr>
              <a:t>En øvemakker, der lytter. Her gælder studiereglen</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POINTE</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200" b="1" dirty="0">
                <a:solidFill>
                  <a:schemeClr val="bg1"/>
                </a:solidFill>
              </a:rPr>
              <a:t>I jobbet er AI din kollega. </a:t>
            </a:r>
            <a:pPr indent="0" marL="0">
              <a:lnSpc>
                <a:spcPct val="95000"/>
              </a:lnSpc>
              <a:buNone/>
            </a:pPr>
            <a:r>
              <a:rPr lang="en-US" sz="6200" b="1" dirty="0">
                <a:solidFill>
                  <a:schemeClr val="accent1"/>
                </a:solidFill>
              </a:rPr>
              <a:t>Lad den arbejde.</a:t>
            </a:r>
            <a:endParaRPr lang="en-US" sz="6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05  ·  VIBECODING</a:t>
            </a:r>
            <a:endParaRPr lang="en-US" sz="1200" dirty="0"/>
          </a:p>
        </p:txBody>
      </p:sp>
      <p:sp>
        <p:nvSpPr>
          <p:cNvPr id="3" name="Text 1"/>
          <p:cNvSpPr txBox="1"/>
          <p:nvPr/>
        </p:nvSpPr>
        <p:spPr>
          <a:xfrm>
            <a:off x="685800" y="1828800"/>
            <a:ext cx="10515600" cy="2194560"/>
          </a:xfrm>
          <a:prstGeom prst="rect">
            <a:avLst/>
          </a:prstGeom>
          <a:noFill/>
          <a:ln/>
        </p:spPr>
        <p:txBody>
          <a:bodyPr wrap="square" lIns="0" tIns="0" rIns="0" bIns="0" rtlCol="0" anchor="b"/>
          <a:lstStyle/>
          <a:p>
            <a:pPr indent="0" marL="0">
              <a:lnSpc>
                <a:spcPct val="90000"/>
              </a:lnSpc>
              <a:buNone/>
            </a:pPr>
            <a:r>
              <a:rPr lang="en-US" sz="9600" b="1" dirty="0">
                <a:solidFill>
                  <a:schemeClr val="bg1"/>
                </a:solidFill>
              </a:rPr>
              <a:t>Byg </a:t>
            </a:r>
            <a:pPr indent="0" marL="0">
              <a:lnSpc>
                <a:spcPct val="90000"/>
              </a:lnSpc>
              <a:buNone/>
            </a:pPr>
            <a:r>
              <a:rPr lang="en-US" sz="9600" b="1" dirty="0">
                <a:solidFill>
                  <a:schemeClr val="accent1"/>
                </a:solidFill>
              </a:rPr>
              <a:t>selv.</a:t>
            </a:r>
            <a:endParaRPr lang="en-US" sz="9600" dirty="0"/>
          </a:p>
        </p:txBody>
      </p:sp>
      <p:sp>
        <p:nvSpPr>
          <p:cNvPr id="4" name="Text 2"/>
          <p:cNvSpPr txBox="1"/>
          <p:nvPr/>
        </p:nvSpPr>
        <p:spPr>
          <a:xfrm>
            <a:off x="685800" y="4206240"/>
            <a:ext cx="9144000" cy="548640"/>
          </a:xfrm>
          <a:prstGeom prst="rect">
            <a:avLst/>
          </a:prstGeom>
          <a:noFill/>
          <a:ln/>
        </p:spPr>
        <p:txBody>
          <a:bodyPr wrap="square" lIns="0" tIns="0" rIns="0" bIns="0" rtlCol="0" anchor="t"/>
          <a:lstStyle/>
          <a:p>
            <a:pPr indent="0" marL="0">
              <a:buNone/>
            </a:pPr>
            <a:r>
              <a:rPr lang="en-US" sz="2400" dirty="0">
                <a:solidFill>
                  <a:schemeClr val="accent3"/>
                </a:solidFill>
              </a:rPr>
              <a:t>Du behøver ikke være udvikler for at lave dit eget værktøj.</a:t>
            </a:r>
            <a:endParaRPr lang="en-US" sz="2400" dirty="0"/>
          </a:p>
        </p:txBody>
      </p:sp>
      <p:sp>
        <p:nvSpPr>
          <p:cNvPr id="5" name="Shape 3"/>
          <p:cNvSpPr/>
          <p:nvPr/>
        </p:nvSpPr>
        <p:spPr>
          <a:xfrm>
            <a:off x="685800" y="5943600"/>
            <a:ext cx="10820095" cy="0"/>
          </a:xfrm>
          <a:prstGeom prst="line">
            <a:avLst/>
          </a:prstGeom>
          <a:noFill/>
          <a:ln w="12700">
            <a:solidFill>
              <a:schemeClr val="accent5"/>
            </a:solidFill>
            <a:prstDash val="solid"/>
          </a:ln>
        </p:spPr>
      </p:sp>
      <p:sp>
        <p:nvSpPr>
          <p:cNvPr id="6" name="Shape 4"/>
          <p:cNvSpPr/>
          <p:nvPr/>
        </p:nvSpPr>
        <p:spPr>
          <a:xfrm>
            <a:off x="9341876" y="5943600"/>
            <a:ext cx="2164019" cy="0"/>
          </a:xfrm>
          <a:prstGeom prst="line">
            <a:avLst/>
          </a:prstGeom>
          <a:noFill/>
          <a:ln w="38100">
            <a:solidFill>
              <a:schemeClr val="accent1"/>
            </a:solidFill>
            <a:prstDash val="solid"/>
          </a:ln>
        </p:spPr>
      </p:sp>
      <p:sp>
        <p:nvSpPr>
          <p:cNvPr id="7" name="Text 5"/>
          <p:cNvSpPr txBox="1"/>
          <p:nvPr/>
        </p:nvSpPr>
        <p:spPr>
          <a:xfrm>
            <a:off x="685800"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Som studerende</a:t>
            </a:r>
            <a:endParaRPr lang="en-US" sz="1200" dirty="0"/>
          </a:p>
        </p:txBody>
      </p:sp>
      <p:sp>
        <p:nvSpPr>
          <p:cNvPr id="8" name="Text 6"/>
          <p:cNvSpPr txBox="1"/>
          <p:nvPr/>
        </p:nvSpPr>
        <p:spPr>
          <a:xfrm>
            <a:off x="2849819"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Prompting</a:t>
            </a:r>
            <a:endParaRPr lang="en-US" sz="1200" dirty="0"/>
          </a:p>
        </p:txBody>
      </p:sp>
      <p:sp>
        <p:nvSpPr>
          <p:cNvPr id="9" name="Text 7"/>
          <p:cNvSpPr txBox="1"/>
          <p:nvPr/>
        </p:nvSpPr>
        <p:spPr>
          <a:xfrm>
            <a:off x="5013838"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Excel og data</a:t>
            </a:r>
            <a:endParaRPr lang="en-US" sz="1200" dirty="0"/>
          </a:p>
        </p:txBody>
      </p:sp>
      <p:sp>
        <p:nvSpPr>
          <p:cNvPr id="10" name="Text 8"/>
          <p:cNvSpPr txBox="1"/>
          <p:nvPr/>
        </p:nvSpPr>
        <p:spPr>
          <a:xfrm>
            <a:off x="7177857" y="6089904"/>
            <a:ext cx="2072579" cy="274320"/>
          </a:xfrm>
          <a:prstGeom prst="rect">
            <a:avLst/>
          </a:prstGeom>
          <a:noFill/>
          <a:ln/>
        </p:spPr>
        <p:txBody>
          <a:bodyPr wrap="square" lIns="0" tIns="0" rIns="0" bIns="0" rtlCol="0" anchor="t"/>
          <a:lstStyle/>
          <a:p>
            <a:pPr indent="0" marL="0">
              <a:buNone/>
            </a:pPr>
            <a:r>
              <a:rPr lang="en-US" sz="1200" dirty="0">
                <a:solidFill>
                  <a:schemeClr val="accent3"/>
                </a:solidFill>
              </a:rPr>
              <a:t>AI i jobbet</a:t>
            </a:r>
            <a:endParaRPr lang="en-US" sz="1200" dirty="0"/>
          </a:p>
        </p:txBody>
      </p:sp>
      <p:sp>
        <p:nvSpPr>
          <p:cNvPr id="11" name="Text 9"/>
          <p:cNvSpPr txBox="1"/>
          <p:nvPr/>
        </p:nvSpPr>
        <p:spPr>
          <a:xfrm>
            <a:off x="9341876" y="6089904"/>
            <a:ext cx="2072579" cy="274320"/>
          </a:xfrm>
          <a:prstGeom prst="rect">
            <a:avLst/>
          </a:prstGeom>
          <a:noFill/>
          <a:ln/>
        </p:spPr>
        <p:txBody>
          <a:bodyPr wrap="square" lIns="0" tIns="0" rIns="0" bIns="0" rtlCol="0" anchor="t"/>
          <a:lstStyle/>
          <a:p>
            <a:pPr indent="0" marL="0">
              <a:buNone/>
            </a:pPr>
            <a:r>
              <a:rPr lang="en-US" sz="1200" b="1" dirty="0">
                <a:solidFill>
                  <a:schemeClr val="bg1"/>
                </a:solidFill>
              </a:rPr>
              <a:t>Vibecoding</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VIBECODING</a:t>
            </a:r>
            <a:endParaRPr lang="en-US" sz="1200" dirty="0"/>
          </a:p>
        </p:txBody>
      </p:sp>
      <p:sp>
        <p:nvSpPr>
          <p:cNvPr id="3" name="Text 1"/>
          <p:cNvSpPr txBox="1"/>
          <p:nvPr/>
        </p:nvSpPr>
        <p:spPr>
          <a:xfrm>
            <a:off x="685800" y="1143000"/>
            <a:ext cx="10241280" cy="3566160"/>
          </a:xfrm>
          <a:prstGeom prst="rect">
            <a:avLst/>
          </a:prstGeom>
          <a:noFill/>
          <a:ln/>
        </p:spPr>
        <p:txBody>
          <a:bodyPr wrap="square" lIns="0" tIns="0" rIns="0" bIns="0" rtlCol="0" anchor="b"/>
          <a:lstStyle/>
          <a:p>
            <a:pPr indent="0" marL="0">
              <a:lnSpc>
                <a:spcPct val="95000"/>
              </a:lnSpc>
              <a:buNone/>
            </a:pPr>
            <a:r>
              <a:rPr lang="en-US" sz="6000" b="1" dirty="0">
                <a:solidFill>
                  <a:schemeClr val="bg1"/>
                </a:solidFill>
              </a:rPr>
              <a:t>Du beskriver. </a:t>
            </a:r>
            <a:pPr indent="0" marL="0">
              <a:lnSpc>
                <a:spcPct val="95000"/>
              </a:lnSpc>
              <a:buNone/>
            </a:pPr>
            <a:r>
              <a:rPr lang="en-US" sz="6000" b="1" dirty="0">
                <a:solidFill>
                  <a:schemeClr val="accent1"/>
                </a:solidFill>
              </a:rPr>
              <a:t>AI koder.</a:t>
            </a:r>
            <a:pPr indent="0" marL="0">
              <a:lnSpc>
                <a:spcPct val="95000"/>
              </a:lnSpc>
              <a:buNone/>
            </a:pPr>
            <a:r>
              <a:rPr lang="en-US" sz="6000" b="1" dirty="0">
                <a:solidFill>
                  <a:schemeClr val="bg1"/>
                </a:solidFill>
              </a:rPr>
              <a:t> Du bedømmer resultatet.</a:t>
            </a:r>
            <a:endParaRPr lang="en-US" sz="6000" dirty="0"/>
          </a:p>
        </p:txBody>
      </p:sp>
      <p:sp>
        <p:nvSpPr>
          <p:cNvPr id="4" name="Text 2"/>
          <p:cNvSpPr txBox="1"/>
          <p:nvPr/>
        </p:nvSpPr>
        <p:spPr>
          <a:xfrm>
            <a:off x="685800" y="4983480"/>
            <a:ext cx="9601200" cy="822960"/>
          </a:xfrm>
          <a:prstGeom prst="rect">
            <a:avLst/>
          </a:prstGeom>
          <a:noFill/>
          <a:ln/>
        </p:spPr>
        <p:txBody>
          <a:bodyPr wrap="square" lIns="0" tIns="0" rIns="0" bIns="0" rtlCol="0" anchor="t"/>
          <a:lstStyle/>
          <a:p>
            <a:pPr indent="0" marL="0">
              <a:buNone/>
            </a:pPr>
            <a:r>
              <a:rPr lang="en-US" sz="2200" dirty="0">
                <a:solidFill>
                  <a:schemeClr val="accent3"/>
                </a:solidFill>
              </a:rPr>
              <a:t>Begrebet vibecoding blev lanceret af Andrej Karpathy i februar 2025.</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MIN VÆRKTØJSKÆDE</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Fem værktøjer fra </a:t>
            </a:r>
            <a:pPr algn="l" indent="0" marL="0">
              <a:lnSpc>
                <a:spcPct val="93000"/>
              </a:lnSpc>
              <a:buNone/>
            </a:pPr>
            <a:r>
              <a:rPr lang="en-US" sz="3400" b="1" dirty="0">
                <a:solidFill>
                  <a:schemeClr val="accent1"/>
                </a:solidFill>
              </a:rPr>
              <a:t>skitse til rigtig adresse</a:t>
            </a:r>
            <a:endParaRPr lang="en-US" sz="3400" dirty="0"/>
          </a:p>
        </p:txBody>
      </p:sp>
      <p:sp>
        <p:nvSpPr>
          <p:cNvPr id="4" name="Shape 2"/>
          <p:cNvSpPr/>
          <p:nvPr/>
        </p:nvSpPr>
        <p:spPr>
          <a:xfrm>
            <a:off x="795528" y="3401568"/>
            <a:ext cx="8656076" cy="0"/>
          </a:xfrm>
          <a:prstGeom prst="line">
            <a:avLst/>
          </a:prstGeom>
          <a:noFill/>
          <a:ln w="19050">
            <a:solidFill>
              <a:schemeClr val="accent5"/>
            </a:solidFill>
            <a:prstDash val="solid"/>
          </a:ln>
        </p:spPr>
      </p:sp>
      <p:sp>
        <p:nvSpPr>
          <p:cNvPr id="5" name="Shape 3"/>
          <p:cNvSpPr/>
          <p:nvPr/>
        </p:nvSpPr>
        <p:spPr>
          <a:xfrm>
            <a:off x="685800" y="3291840"/>
            <a:ext cx="219456" cy="219456"/>
          </a:xfrm>
          <a:prstGeom prst="ellipse">
            <a:avLst/>
          </a:prstGeom>
          <a:solidFill>
            <a:srgbClr val="FFFFFF"/>
          </a:solidFill>
          <a:ln w="12700">
            <a:solidFill>
              <a:srgbClr val="FFFFFF"/>
            </a:solidFill>
            <a:prstDash val="solid"/>
          </a:ln>
        </p:spPr>
      </p:sp>
      <p:sp>
        <p:nvSpPr>
          <p:cNvPr id="6" name="Text 4"/>
          <p:cNvSpPr txBox="1"/>
          <p:nvPr/>
        </p:nvSpPr>
        <p:spPr>
          <a:xfrm>
            <a:off x="685800"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Claude Design</a:t>
            </a:r>
            <a:endParaRPr lang="en-US" sz="2100" dirty="0"/>
          </a:p>
        </p:txBody>
      </p:sp>
      <p:sp>
        <p:nvSpPr>
          <p:cNvPr id="7" name="Text 5"/>
          <p:cNvSpPr txBox="1"/>
          <p:nvPr/>
        </p:nvSpPr>
        <p:spPr>
          <a:xfrm>
            <a:off x="685800"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udseende og brand</a:t>
            </a:r>
            <a:endParaRPr lang="en-US" sz="1600" dirty="0"/>
          </a:p>
        </p:txBody>
      </p:sp>
      <p:sp>
        <p:nvSpPr>
          <p:cNvPr id="8" name="Shape 6"/>
          <p:cNvSpPr/>
          <p:nvPr/>
        </p:nvSpPr>
        <p:spPr>
          <a:xfrm>
            <a:off x="2849819" y="3291840"/>
            <a:ext cx="219456" cy="219456"/>
          </a:xfrm>
          <a:prstGeom prst="ellipse">
            <a:avLst/>
          </a:prstGeom>
          <a:solidFill>
            <a:srgbClr val="009A92"/>
          </a:solidFill>
          <a:ln w="12700">
            <a:solidFill>
              <a:srgbClr val="009A92"/>
            </a:solidFill>
            <a:prstDash val="solid"/>
          </a:ln>
        </p:spPr>
      </p:sp>
      <p:sp>
        <p:nvSpPr>
          <p:cNvPr id="9" name="Text 7"/>
          <p:cNvSpPr txBox="1"/>
          <p:nvPr/>
        </p:nvSpPr>
        <p:spPr>
          <a:xfrm>
            <a:off x="2849819"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Claude Code</a:t>
            </a:r>
            <a:endParaRPr lang="en-US" sz="2100" dirty="0"/>
          </a:p>
        </p:txBody>
      </p:sp>
      <p:sp>
        <p:nvSpPr>
          <p:cNvPr id="10" name="Text 8"/>
          <p:cNvSpPr txBox="1"/>
          <p:nvPr/>
        </p:nvSpPr>
        <p:spPr>
          <a:xfrm>
            <a:off x="2849819"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skriver og retter koden</a:t>
            </a:r>
            <a:endParaRPr lang="en-US" sz="1600" dirty="0"/>
          </a:p>
        </p:txBody>
      </p:sp>
      <p:sp>
        <p:nvSpPr>
          <p:cNvPr id="11" name="Shape 9"/>
          <p:cNvSpPr/>
          <p:nvPr/>
        </p:nvSpPr>
        <p:spPr>
          <a:xfrm>
            <a:off x="5013838" y="3291840"/>
            <a:ext cx="219456" cy="219456"/>
          </a:xfrm>
          <a:prstGeom prst="ellipse">
            <a:avLst/>
          </a:prstGeom>
          <a:solidFill>
            <a:srgbClr val="FFFFFF"/>
          </a:solidFill>
          <a:ln w="12700">
            <a:solidFill>
              <a:srgbClr val="FFFFFF"/>
            </a:solidFill>
            <a:prstDash val="solid"/>
          </a:ln>
        </p:spPr>
      </p:sp>
      <p:sp>
        <p:nvSpPr>
          <p:cNvPr id="12" name="Text 10"/>
          <p:cNvSpPr txBox="1"/>
          <p:nvPr/>
        </p:nvSpPr>
        <p:spPr>
          <a:xfrm>
            <a:off x="5013838"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GitHub</a:t>
            </a:r>
            <a:endParaRPr lang="en-US" sz="2100" dirty="0"/>
          </a:p>
        </p:txBody>
      </p:sp>
      <p:sp>
        <p:nvSpPr>
          <p:cNvPr id="13" name="Text 11"/>
          <p:cNvSpPr txBox="1"/>
          <p:nvPr/>
        </p:nvSpPr>
        <p:spPr>
          <a:xfrm>
            <a:off x="5013838"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versionsstyring og fortryd-knap</a:t>
            </a:r>
            <a:endParaRPr lang="en-US" sz="1600" dirty="0"/>
          </a:p>
        </p:txBody>
      </p:sp>
      <p:sp>
        <p:nvSpPr>
          <p:cNvPr id="14" name="Shape 12"/>
          <p:cNvSpPr/>
          <p:nvPr/>
        </p:nvSpPr>
        <p:spPr>
          <a:xfrm>
            <a:off x="7177857" y="3291840"/>
            <a:ext cx="219456" cy="219456"/>
          </a:xfrm>
          <a:prstGeom prst="ellipse">
            <a:avLst/>
          </a:prstGeom>
          <a:solidFill>
            <a:srgbClr val="FFFFFF"/>
          </a:solidFill>
          <a:ln w="12700">
            <a:solidFill>
              <a:srgbClr val="FFFFFF"/>
            </a:solidFill>
            <a:prstDash val="solid"/>
          </a:ln>
        </p:spPr>
      </p:sp>
      <p:sp>
        <p:nvSpPr>
          <p:cNvPr id="15" name="Text 13"/>
          <p:cNvSpPr txBox="1"/>
          <p:nvPr/>
        </p:nvSpPr>
        <p:spPr>
          <a:xfrm>
            <a:off x="7177857"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Vercel</a:t>
            </a:r>
            <a:endParaRPr lang="en-US" sz="2100" dirty="0"/>
          </a:p>
        </p:txBody>
      </p:sp>
      <p:sp>
        <p:nvSpPr>
          <p:cNvPr id="16" name="Text 14"/>
          <p:cNvSpPr txBox="1"/>
          <p:nvPr/>
        </p:nvSpPr>
        <p:spPr>
          <a:xfrm>
            <a:off x="7177857"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online på en rigtig adresse</a:t>
            </a:r>
            <a:endParaRPr lang="en-US" sz="1600" dirty="0"/>
          </a:p>
        </p:txBody>
      </p:sp>
      <p:sp>
        <p:nvSpPr>
          <p:cNvPr id="17" name="Shape 15"/>
          <p:cNvSpPr/>
          <p:nvPr/>
        </p:nvSpPr>
        <p:spPr>
          <a:xfrm>
            <a:off x="9341876" y="3291840"/>
            <a:ext cx="219456" cy="219456"/>
          </a:xfrm>
          <a:prstGeom prst="ellipse">
            <a:avLst/>
          </a:prstGeom>
          <a:solidFill>
            <a:srgbClr val="FFFFFF"/>
          </a:solidFill>
          <a:ln w="12700">
            <a:solidFill>
              <a:srgbClr val="FFFFFF"/>
            </a:solidFill>
            <a:prstDash val="solid"/>
          </a:ln>
        </p:spPr>
      </p:sp>
      <p:sp>
        <p:nvSpPr>
          <p:cNvPr id="18" name="Text 16"/>
          <p:cNvSpPr txBox="1"/>
          <p:nvPr/>
        </p:nvSpPr>
        <p:spPr>
          <a:xfrm>
            <a:off x="9341876" y="3749040"/>
            <a:ext cx="1981139" cy="457200"/>
          </a:xfrm>
          <a:prstGeom prst="rect">
            <a:avLst/>
          </a:prstGeom>
          <a:noFill/>
          <a:ln/>
        </p:spPr>
        <p:txBody>
          <a:bodyPr wrap="square" lIns="0" tIns="0" rIns="0" bIns="0" rtlCol="0" anchor="t"/>
          <a:lstStyle/>
          <a:p>
            <a:pPr indent="0" marL="0">
              <a:buNone/>
            </a:pPr>
            <a:r>
              <a:rPr lang="en-US" sz="2100" b="1" dirty="0">
                <a:solidFill>
                  <a:schemeClr val="bg1"/>
                </a:solidFill>
              </a:rPr>
              <a:t>Cursor</a:t>
            </a:r>
            <a:endParaRPr lang="en-US" sz="2100" dirty="0"/>
          </a:p>
        </p:txBody>
      </p:sp>
      <p:sp>
        <p:nvSpPr>
          <p:cNvPr id="19" name="Text 17"/>
          <p:cNvSpPr txBox="1"/>
          <p:nvPr/>
        </p:nvSpPr>
        <p:spPr>
          <a:xfrm>
            <a:off x="9341876" y="4206240"/>
            <a:ext cx="1843979" cy="822960"/>
          </a:xfrm>
          <a:prstGeom prst="rect">
            <a:avLst/>
          </a:prstGeom>
          <a:noFill/>
          <a:ln/>
        </p:spPr>
        <p:txBody>
          <a:bodyPr wrap="square" lIns="0" tIns="0" rIns="0" bIns="0" rtlCol="0" anchor="t"/>
          <a:lstStyle/>
          <a:p>
            <a:pPr indent="0" marL="0">
              <a:buNone/>
            </a:pPr>
            <a:r>
              <a:rPr lang="en-US" sz="1600" dirty="0">
                <a:solidFill>
                  <a:schemeClr val="accent3"/>
                </a:solidFill>
              </a:rPr>
              <a:t>når jeg selv vil ind i koden</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MINE PROJEKTER</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Bygget af </a:t>
            </a:r>
            <a:pPr algn="l" indent="0" marL="0">
              <a:lnSpc>
                <a:spcPct val="93000"/>
              </a:lnSpc>
              <a:buNone/>
            </a:pPr>
            <a:r>
              <a:rPr lang="en-US" sz="3400" b="1" dirty="0">
                <a:solidFill>
                  <a:schemeClr val="accent1"/>
                </a:solidFill>
              </a:rPr>
              <a:t>én person</a:t>
            </a:r>
            <a:pPr algn="l" indent="0" marL="0">
              <a:lnSpc>
                <a:spcPct val="93000"/>
              </a:lnSpc>
              <a:buNone/>
            </a:pPr>
            <a:r>
              <a:rPr lang="en-US" sz="3400" b="1" dirty="0">
                <a:solidFill>
                  <a:schemeClr val="bg1"/>
                </a:solidFill>
              </a:rPr>
              <a:t> med AI</a:t>
            </a:r>
            <a:endParaRPr lang="en-US" sz="3400" dirty="0"/>
          </a:p>
        </p:txBody>
      </p:sp>
      <p:sp>
        <p:nvSpPr>
          <p:cNvPr id="4" name="Shape 2"/>
          <p:cNvSpPr/>
          <p:nvPr/>
        </p:nvSpPr>
        <p:spPr>
          <a:xfrm>
            <a:off x="685800" y="2514600"/>
            <a:ext cx="10820095" cy="0"/>
          </a:xfrm>
          <a:prstGeom prst="line">
            <a:avLst/>
          </a:prstGeom>
          <a:noFill/>
          <a:ln w="12700">
            <a:solidFill>
              <a:schemeClr val="accent5"/>
            </a:solidFill>
            <a:prstDash val="solid"/>
          </a:ln>
        </p:spPr>
      </p:sp>
      <p:sp>
        <p:nvSpPr>
          <p:cNvPr id="5" name="Text 3"/>
          <p:cNvSpPr txBox="1"/>
          <p:nvPr/>
        </p:nvSpPr>
        <p:spPr>
          <a:xfrm>
            <a:off x="685800" y="2788920"/>
            <a:ext cx="4206240" cy="548640"/>
          </a:xfrm>
          <a:prstGeom prst="rect">
            <a:avLst/>
          </a:prstGeom>
          <a:noFill/>
          <a:ln/>
        </p:spPr>
        <p:txBody>
          <a:bodyPr wrap="square" lIns="0" tIns="0" rIns="0" bIns="0" rtlCol="0" anchor="t"/>
          <a:lstStyle/>
          <a:p>
            <a:pPr indent="0" marL="0">
              <a:buNone/>
            </a:pPr>
            <a:r>
              <a:rPr lang="en-US" sz="2800" b="1" dirty="0">
                <a:solidFill>
                  <a:schemeClr val="bg1"/>
                </a:solidFill>
              </a:rPr>
              <a:t>Projektstyring</a:t>
            </a:r>
            <a:endParaRPr lang="en-US" sz="2800" dirty="0"/>
          </a:p>
        </p:txBody>
      </p:sp>
      <p:sp>
        <p:nvSpPr>
          <p:cNvPr id="6" name="Text 4"/>
          <p:cNvSpPr txBox="1"/>
          <p:nvPr/>
        </p:nvSpPr>
        <p:spPr>
          <a:xfrm>
            <a:off x="5257800" y="284378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Login, projekter, opgaver, deadlines og mails til Thirdbase</a:t>
            </a:r>
            <a:endParaRPr lang="en-US" sz="1900" dirty="0"/>
          </a:p>
        </p:txBody>
      </p:sp>
      <p:sp>
        <p:nvSpPr>
          <p:cNvPr id="7" name="Shape 5"/>
          <p:cNvSpPr/>
          <p:nvPr/>
        </p:nvSpPr>
        <p:spPr>
          <a:xfrm>
            <a:off x="685800" y="3703320"/>
            <a:ext cx="10820095" cy="0"/>
          </a:xfrm>
          <a:prstGeom prst="line">
            <a:avLst/>
          </a:prstGeom>
          <a:noFill/>
          <a:ln w="12700">
            <a:solidFill>
              <a:schemeClr val="accent5"/>
            </a:solidFill>
            <a:prstDash val="solid"/>
          </a:ln>
        </p:spPr>
      </p:sp>
      <p:sp>
        <p:nvSpPr>
          <p:cNvPr id="8" name="Text 6"/>
          <p:cNvSpPr txBox="1"/>
          <p:nvPr/>
        </p:nvSpPr>
        <p:spPr>
          <a:xfrm>
            <a:off x="685800" y="3977640"/>
            <a:ext cx="4206240" cy="548640"/>
          </a:xfrm>
          <a:prstGeom prst="rect">
            <a:avLst/>
          </a:prstGeom>
          <a:noFill/>
          <a:ln/>
        </p:spPr>
        <p:txBody>
          <a:bodyPr wrap="square" lIns="0" tIns="0" rIns="0" bIns="0" rtlCol="0" anchor="t"/>
          <a:lstStyle/>
          <a:p>
            <a:pPr indent="0" marL="0">
              <a:buNone/>
            </a:pPr>
            <a:r>
              <a:rPr lang="en-US" sz="2800" b="1" dirty="0">
                <a:solidFill>
                  <a:schemeClr val="bg1"/>
                </a:solidFill>
              </a:rPr>
              <a:t>Synlighedsscanner</a:t>
            </a:r>
            <a:endParaRPr lang="en-US" sz="2800" dirty="0"/>
          </a:p>
        </p:txBody>
      </p:sp>
      <p:sp>
        <p:nvSpPr>
          <p:cNvPr id="9" name="Text 7"/>
          <p:cNvSpPr txBox="1"/>
          <p:nvPr/>
        </p:nvSpPr>
        <p:spPr>
          <a:xfrm>
            <a:off x="5257800" y="403250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Lead magnet, der sender leads direkte i HubSpot</a:t>
            </a:r>
            <a:endParaRPr lang="en-US" sz="1900" dirty="0"/>
          </a:p>
        </p:txBody>
      </p:sp>
      <p:sp>
        <p:nvSpPr>
          <p:cNvPr id="10" name="Shape 8"/>
          <p:cNvSpPr/>
          <p:nvPr/>
        </p:nvSpPr>
        <p:spPr>
          <a:xfrm>
            <a:off x="685800" y="4892040"/>
            <a:ext cx="10820095" cy="0"/>
          </a:xfrm>
          <a:prstGeom prst="line">
            <a:avLst/>
          </a:prstGeom>
          <a:noFill/>
          <a:ln w="12700">
            <a:solidFill>
              <a:schemeClr val="accent5"/>
            </a:solidFill>
            <a:prstDash val="solid"/>
          </a:ln>
        </p:spPr>
      </p:sp>
      <p:sp>
        <p:nvSpPr>
          <p:cNvPr id="11" name="Text 9"/>
          <p:cNvSpPr txBox="1"/>
          <p:nvPr/>
        </p:nvSpPr>
        <p:spPr>
          <a:xfrm>
            <a:off x="685800" y="5166360"/>
            <a:ext cx="4206240" cy="548640"/>
          </a:xfrm>
          <a:prstGeom prst="rect">
            <a:avLst/>
          </a:prstGeom>
          <a:noFill/>
          <a:ln/>
        </p:spPr>
        <p:txBody>
          <a:bodyPr wrap="square" lIns="0" tIns="0" rIns="0" bIns="0" rtlCol="0" anchor="t"/>
          <a:lstStyle/>
          <a:p>
            <a:pPr indent="0" marL="0">
              <a:buNone/>
            </a:pPr>
            <a:r>
              <a:rPr lang="en-US" sz="2800" b="1" dirty="0">
                <a:solidFill>
                  <a:schemeClr val="bg1"/>
                </a:solidFill>
              </a:rPr>
              <a:t>Bilinfo til HubSpot</a:t>
            </a:r>
            <a:endParaRPr lang="en-US" sz="2800" dirty="0"/>
          </a:p>
        </p:txBody>
      </p:sp>
      <p:sp>
        <p:nvSpPr>
          <p:cNvPr id="12" name="Text 10"/>
          <p:cNvSpPr txBox="1"/>
          <p:nvPr/>
        </p:nvSpPr>
        <p:spPr>
          <a:xfrm>
            <a:off x="5257800" y="5221224"/>
            <a:ext cx="6217920" cy="548640"/>
          </a:xfrm>
          <a:prstGeom prst="rect">
            <a:avLst/>
          </a:prstGeom>
          <a:noFill/>
          <a:ln/>
        </p:spPr>
        <p:txBody>
          <a:bodyPr wrap="square" lIns="0" tIns="0" rIns="0" bIns="0" rtlCol="0" anchor="t"/>
          <a:lstStyle/>
          <a:p>
            <a:pPr indent="0" marL="0">
              <a:buNone/>
            </a:pPr>
            <a:r>
              <a:rPr lang="en-US" sz="1900" dirty="0">
                <a:solidFill>
                  <a:schemeClr val="accent3"/>
                </a:solidFill>
              </a:rPr>
              <a:t>Henter biler ind i CRM for en bilforhandler</a:t>
            </a:r>
            <a:endParaRPr lang="en-US" sz="1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BUILD</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I dag bygger vi </a:t>
            </a:r>
            <a:pPr algn="l" indent="0" marL="0">
              <a:lnSpc>
                <a:spcPct val="93000"/>
              </a:lnSpc>
              <a:buNone/>
            </a:pPr>
            <a:r>
              <a:rPr lang="en-US" sz="3400" b="1" dirty="0">
                <a:solidFill>
                  <a:schemeClr val="accent1"/>
                </a:solidFill>
              </a:rPr>
              <a:t>Eventbudgettet</a:t>
            </a:r>
            <a:endParaRPr lang="en-US" sz="3400" dirty="0"/>
          </a:p>
        </p:txBody>
      </p:sp>
      <p:sp>
        <p:nvSpPr>
          <p:cNvPr id="4" name="Text 2"/>
          <p:cNvSpPr txBox="1"/>
          <p:nvPr/>
        </p:nvSpPr>
        <p:spPr>
          <a:xfrm>
            <a:off x="685800" y="25603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01</a:t>
            </a:r>
            <a:endParaRPr lang="en-US" sz="1800" dirty="0"/>
          </a:p>
        </p:txBody>
      </p:sp>
      <p:sp>
        <p:nvSpPr>
          <p:cNvPr id="5" name="Text 3"/>
          <p:cNvSpPr txBox="1"/>
          <p:nvPr/>
        </p:nvSpPr>
        <p:spPr>
          <a:xfrm>
            <a:off x="1508760" y="2523744"/>
            <a:ext cx="6035040" cy="822960"/>
          </a:xfrm>
          <a:prstGeom prst="rect">
            <a:avLst/>
          </a:prstGeom>
          <a:noFill/>
          <a:ln/>
        </p:spPr>
        <p:txBody>
          <a:bodyPr wrap="square" lIns="0" tIns="0" rIns="0" bIns="0" rtlCol="0" anchor="t"/>
          <a:lstStyle/>
          <a:p>
            <a:pPr indent="0" marL="0">
              <a:buNone/>
            </a:pPr>
            <a:r>
              <a:rPr lang="en-US" sz="2200" dirty="0">
                <a:solidFill>
                  <a:schemeClr val="bg1"/>
                </a:solidFill>
              </a:rPr>
              <a:t>Gæster, faste og variable omkostninger</a:t>
            </a:r>
            <a:endParaRPr lang="en-US" sz="2200" dirty="0"/>
          </a:p>
        </p:txBody>
      </p:sp>
      <p:sp>
        <p:nvSpPr>
          <p:cNvPr id="6" name="Text 4"/>
          <p:cNvSpPr txBox="1"/>
          <p:nvPr/>
        </p:nvSpPr>
        <p:spPr>
          <a:xfrm>
            <a:off x="685800" y="34747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02</a:t>
            </a:r>
            <a:endParaRPr lang="en-US" sz="1800" dirty="0"/>
          </a:p>
        </p:txBody>
      </p:sp>
      <p:sp>
        <p:nvSpPr>
          <p:cNvPr id="7" name="Text 5"/>
          <p:cNvSpPr txBox="1"/>
          <p:nvPr/>
        </p:nvSpPr>
        <p:spPr>
          <a:xfrm>
            <a:off x="1508760" y="3438144"/>
            <a:ext cx="6035040" cy="822960"/>
          </a:xfrm>
          <a:prstGeom prst="rect">
            <a:avLst/>
          </a:prstGeom>
          <a:noFill/>
          <a:ln/>
        </p:spPr>
        <p:txBody>
          <a:bodyPr wrap="square" lIns="0" tIns="0" rIns="0" bIns="0" rtlCol="0" anchor="t"/>
          <a:lstStyle/>
          <a:p>
            <a:pPr indent="0" marL="0">
              <a:buNone/>
            </a:pPr>
            <a:r>
              <a:rPr lang="en-US" sz="2200" dirty="0">
                <a:solidFill>
                  <a:schemeClr val="bg1"/>
                </a:solidFill>
              </a:rPr>
              <a:t>Buffer og ønsket fortjeneste</a:t>
            </a:r>
            <a:endParaRPr lang="en-US" sz="2200" dirty="0"/>
          </a:p>
        </p:txBody>
      </p:sp>
      <p:sp>
        <p:nvSpPr>
          <p:cNvPr id="8" name="Text 6"/>
          <p:cNvSpPr txBox="1"/>
          <p:nvPr/>
        </p:nvSpPr>
        <p:spPr>
          <a:xfrm>
            <a:off x="685800" y="4389120"/>
            <a:ext cx="731520" cy="457200"/>
          </a:xfrm>
          <a:prstGeom prst="rect">
            <a:avLst/>
          </a:prstGeom>
          <a:noFill/>
          <a:ln/>
        </p:spPr>
        <p:txBody>
          <a:bodyPr wrap="square" lIns="0" tIns="0" rIns="0" bIns="0" rtlCol="0" anchor="t"/>
          <a:lstStyle/>
          <a:p>
            <a:pPr indent="0" marL="0">
              <a:buNone/>
            </a:pPr>
            <a:r>
              <a:rPr lang="en-US" sz="1800" b="1" dirty="0">
                <a:solidFill>
                  <a:schemeClr val="accent1"/>
                </a:solidFill>
              </a:rPr>
              <a:t>03</a:t>
            </a:r>
            <a:endParaRPr lang="en-US" sz="1800" dirty="0"/>
          </a:p>
        </p:txBody>
      </p:sp>
      <p:sp>
        <p:nvSpPr>
          <p:cNvPr id="9" name="Text 7"/>
          <p:cNvSpPr txBox="1"/>
          <p:nvPr/>
        </p:nvSpPr>
        <p:spPr>
          <a:xfrm>
            <a:off x="1508760" y="4352544"/>
            <a:ext cx="6035040" cy="822960"/>
          </a:xfrm>
          <a:prstGeom prst="rect">
            <a:avLst/>
          </a:prstGeom>
          <a:noFill/>
          <a:ln/>
        </p:spPr>
        <p:txBody>
          <a:bodyPr wrap="square" lIns="0" tIns="0" rIns="0" bIns="0" rtlCol="0" anchor="t"/>
          <a:lstStyle/>
          <a:p>
            <a:pPr indent="0" marL="0">
              <a:buNone/>
            </a:pPr>
            <a:r>
              <a:rPr lang="en-US" sz="2200" dirty="0">
                <a:solidFill>
                  <a:schemeClr val="bg1"/>
                </a:solidFill>
              </a:rPr>
              <a:t>Billetpris, der går i nul</a:t>
            </a:r>
            <a:endParaRPr lang="en-US" sz="2200" dirty="0"/>
          </a:p>
        </p:txBody>
      </p:sp>
      <p:sp>
        <p:nvSpPr>
          <p:cNvPr id="10" name="Shape 8"/>
          <p:cNvSpPr/>
          <p:nvPr/>
        </p:nvSpPr>
        <p:spPr>
          <a:xfrm>
            <a:off x="7726680" y="2468880"/>
            <a:ext cx="3776472" cy="2286000"/>
          </a:xfrm>
          <a:prstGeom prst="roundRect">
            <a:avLst>
              <a:gd name="adj" fmla="val 4800"/>
            </a:avLst>
          </a:prstGeom>
          <a:solidFill>
            <a:srgbClr val="1C1C1E"/>
          </a:solidFill>
          <a:ln w="12700">
            <a:solidFill>
              <a:srgbClr val="1C1C1E"/>
            </a:solidFill>
            <a:prstDash val="solid"/>
          </a:ln>
        </p:spPr>
      </p:sp>
      <p:sp>
        <p:nvSpPr>
          <p:cNvPr id="11" name="Text 9"/>
          <p:cNvSpPr txBox="1"/>
          <p:nvPr/>
        </p:nvSpPr>
        <p:spPr>
          <a:xfrm>
            <a:off x="8046720" y="2724912"/>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TESTEN</a:t>
            </a:r>
            <a:endParaRPr lang="en-US" sz="1200" dirty="0"/>
          </a:p>
        </p:txBody>
      </p:sp>
      <p:sp>
        <p:nvSpPr>
          <p:cNvPr id="12" name="Text 10"/>
          <p:cNvSpPr txBox="1"/>
          <p:nvPr/>
        </p:nvSpPr>
        <p:spPr>
          <a:xfrm>
            <a:off x="8046720" y="3108960"/>
            <a:ext cx="3200400" cy="1463040"/>
          </a:xfrm>
          <a:prstGeom prst="rect">
            <a:avLst/>
          </a:prstGeom>
          <a:noFill/>
          <a:ln/>
        </p:spPr>
        <p:txBody>
          <a:bodyPr wrap="square" lIns="0" tIns="0" rIns="0" bIns="0" rtlCol="0" anchor="t"/>
          <a:lstStyle/>
          <a:p>
            <a:pPr indent="0" marL="0">
              <a:buNone/>
            </a:pPr>
            <a:r>
              <a:rPr lang="en-US" sz="2000" b="1" dirty="0">
                <a:solidFill>
                  <a:schemeClr val="bg1"/>
                </a:solidFill>
              </a:rPr>
              <a:t>100 gæster, 20.000 kr. faste, 350 kr. pr. gæst og 10 % buffer giver 605 kr.</a:t>
            </a:r>
            <a:endParaRPr lang="en-US" sz="2000" dirty="0"/>
          </a:p>
        </p:txBody>
      </p:sp>
      <p:sp>
        <p:nvSpPr>
          <p:cNvPr id="13" name="Text 11"/>
          <p:cNvSpPr txBox="1"/>
          <p:nvPr/>
        </p:nvSpPr>
        <p:spPr>
          <a:xfrm>
            <a:off x="685800" y="5486400"/>
            <a:ext cx="10058400" cy="548640"/>
          </a:xfrm>
          <a:prstGeom prst="rect">
            <a:avLst/>
          </a:prstGeom>
          <a:noFill/>
          <a:ln/>
        </p:spPr>
        <p:txBody>
          <a:bodyPr wrap="square" lIns="0" tIns="0" rIns="0" bIns="0" rtlCol="0" anchor="t"/>
          <a:lstStyle/>
          <a:p>
            <a:pPr indent="0" marL="0">
              <a:buNone/>
            </a:pPr>
            <a:r>
              <a:rPr lang="en-US" sz="2400" b="1" dirty="0">
                <a:solidFill>
                  <a:schemeClr val="accent3"/>
                </a:solidFill>
              </a:rPr>
              <a:t>Prompt. Byg. Gennemgå. Push. Test.</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LIVE BUILD</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bg1"/>
                </a:solidFill>
              </a:rPr>
              <a:t>Scan koden, og test appen, </a:t>
            </a:r>
            <a:pPr algn="l" indent="0" marL="0">
              <a:lnSpc>
                <a:spcPct val="93000"/>
              </a:lnSpc>
              <a:buNone/>
            </a:pPr>
            <a:r>
              <a:rPr lang="en-US" sz="3400" b="1" dirty="0">
                <a:solidFill>
                  <a:schemeClr val="accent1"/>
                </a:solidFill>
              </a:rPr>
              <a:t>når den er online</a:t>
            </a:r>
            <a:endParaRPr lang="en-US" sz="3400" dirty="0"/>
          </a:p>
        </p:txBody>
      </p:sp>
      <p:sp>
        <p:nvSpPr>
          <p:cNvPr id="4" name="Text 2"/>
          <p:cNvSpPr txBox="1"/>
          <p:nvPr/>
        </p:nvSpPr>
        <p:spPr>
          <a:xfrm>
            <a:off x="685800" y="2560320"/>
            <a:ext cx="5669280" cy="1280160"/>
          </a:xfrm>
          <a:prstGeom prst="rect">
            <a:avLst/>
          </a:prstGeom>
          <a:noFill/>
          <a:ln/>
        </p:spPr>
        <p:txBody>
          <a:bodyPr wrap="square" lIns="0" tIns="0" rIns="0" bIns="0" rtlCol="0" anchor="t"/>
          <a:lstStyle/>
          <a:p>
            <a:pPr indent="0" marL="0">
              <a:buNone/>
            </a:pPr>
            <a:r>
              <a:rPr lang="en-US" sz="2400" dirty="0">
                <a:solidFill>
                  <a:schemeClr val="bg1"/>
                </a:solidFill>
              </a:rPr>
              <a:t>Find en fejl, eller foreslå en forbedring. Så bygger vi én runde mere.</a:t>
            </a:r>
            <a:endParaRPr lang="en-US" sz="2400" dirty="0"/>
          </a:p>
        </p:txBody>
      </p:sp>
      <p:sp>
        <p:nvSpPr>
          <p:cNvPr id="5" name="Shape 3"/>
          <p:cNvSpPr/>
          <p:nvPr/>
        </p:nvSpPr>
        <p:spPr>
          <a:xfrm>
            <a:off x="7863840" y="2240280"/>
            <a:ext cx="3291840" cy="3291840"/>
          </a:xfrm>
          <a:prstGeom prst="roundRect">
            <a:avLst>
              <a:gd name="adj" fmla="val 3333"/>
            </a:avLst>
          </a:prstGeom>
          <a:solidFill>
            <a:srgbClr val="1C1C1E"/>
          </a:solidFill>
          <a:ln w="15875">
            <a:solidFill>
              <a:srgbClr val="A1A1A6"/>
            </a:solidFill>
            <a:prstDash val="dash"/>
          </a:ln>
        </p:spPr>
      </p:sp>
      <p:sp>
        <p:nvSpPr>
          <p:cNvPr id="6" name="Text 4"/>
          <p:cNvSpPr txBox="1"/>
          <p:nvPr/>
        </p:nvSpPr>
        <p:spPr>
          <a:xfrm>
            <a:off x="8138160" y="3383280"/>
            <a:ext cx="2743200" cy="914400"/>
          </a:xfrm>
          <a:prstGeom prst="rect">
            <a:avLst/>
          </a:prstGeom>
          <a:noFill/>
          <a:ln/>
        </p:spPr>
        <p:txBody>
          <a:bodyPr wrap="square" lIns="0" tIns="0" rIns="0" bIns="0" rtlCol="0" anchor="ctr"/>
          <a:lstStyle/>
          <a:p>
            <a:pPr algn="ctr" indent="0" marL="0">
              <a:buNone/>
            </a:pPr>
            <a:r>
              <a:rPr lang="en-US" sz="1500" dirty="0">
                <a:solidFill>
                  <a:schemeClr val="accent3"/>
                </a:solidFill>
              </a:rPr>
              <a:t>Indsæt QR-kode til Vercel-adressen</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6095848" y="0"/>
            <a:ext cx="6095848" cy="6858000"/>
          </a:xfrm>
          <a:prstGeom prst="rect">
            <a:avLst/>
          </a:prstGeom>
          <a:solidFill>
            <a:srgbClr val="0B0B0C"/>
          </a:solidFill>
          <a:ln w="12700">
            <a:solidFill>
              <a:srgbClr val="0B0B0C"/>
            </a:solidFill>
            <a:prstDash val="solid"/>
          </a:ln>
        </p:spPr>
      </p:sp>
      <p:sp>
        <p:nvSpPr>
          <p:cNvPr id="3" name="Text 1"/>
          <p:cNvSpPr txBox="1"/>
          <p:nvPr/>
        </p:nvSpPr>
        <p:spPr>
          <a:xfrm>
            <a:off x="68580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SOM STUDERENDE</a:t>
            </a:r>
            <a:endParaRPr lang="en-US" sz="1200" dirty="0"/>
          </a:p>
        </p:txBody>
      </p:sp>
      <p:sp>
        <p:nvSpPr>
          <p:cNvPr id="4" name="Text 2"/>
          <p:cNvSpPr txBox="1"/>
          <p:nvPr/>
        </p:nvSpPr>
        <p:spPr>
          <a:xfrm>
            <a:off x="685800" y="2103120"/>
            <a:ext cx="5044288" cy="2194560"/>
          </a:xfrm>
          <a:prstGeom prst="rect">
            <a:avLst/>
          </a:prstGeom>
          <a:noFill/>
          <a:ln/>
        </p:spPr>
        <p:txBody>
          <a:bodyPr wrap="square" lIns="0" tIns="0" rIns="0" bIns="0" rtlCol="0" anchor="t"/>
          <a:lstStyle/>
          <a:p>
            <a:pPr indent="0" marL="0">
              <a:lnSpc>
                <a:spcPct val="90000"/>
              </a:lnSpc>
              <a:buNone/>
            </a:pPr>
            <a:r>
              <a:rPr lang="en-US" sz="6400" b="1" dirty="0">
                <a:solidFill>
                  <a:schemeClr val="tx1"/>
                </a:solidFill>
              </a:rPr>
              <a:t>Tænk</a:t>
            </a:r>
            <a:endParaRPr lang="en-US" sz="6400" dirty="0"/>
          </a:p>
          <a:p>
            <a:pPr indent="0" marL="0">
              <a:lnSpc>
                <a:spcPct val="90000"/>
              </a:lnSpc>
              <a:buNone/>
            </a:pPr>
            <a:r>
              <a:rPr lang="en-US" sz="6400" b="1" dirty="0">
                <a:solidFill>
                  <a:schemeClr val="tx1"/>
                </a:solidFill>
              </a:rPr>
              <a:t>selv.</a:t>
            </a:r>
            <a:endParaRPr lang="en-US" sz="6400" dirty="0"/>
          </a:p>
        </p:txBody>
      </p:sp>
      <p:sp>
        <p:nvSpPr>
          <p:cNvPr id="5" name="Text 3"/>
          <p:cNvSpPr txBox="1"/>
          <p:nvPr/>
        </p:nvSpPr>
        <p:spPr>
          <a:xfrm>
            <a:off x="685800" y="4526280"/>
            <a:ext cx="4678528" cy="914400"/>
          </a:xfrm>
          <a:prstGeom prst="rect">
            <a:avLst/>
          </a:prstGeom>
          <a:noFill/>
          <a:ln/>
        </p:spPr>
        <p:txBody>
          <a:bodyPr wrap="square" lIns="0" tIns="0" rIns="0" bIns="0" rtlCol="0" anchor="t"/>
          <a:lstStyle/>
          <a:p>
            <a:pPr indent="0" marL="0">
              <a:buNone/>
            </a:pPr>
            <a:r>
              <a:rPr lang="en-US" sz="1900" dirty="0">
                <a:solidFill>
                  <a:schemeClr val="accent2"/>
                </a:solidFill>
              </a:rPr>
              <a:t>Lær det først. Brug AI som sparringspartner.</a:t>
            </a:r>
            <a:endParaRPr lang="en-US" sz="1900" dirty="0"/>
          </a:p>
        </p:txBody>
      </p:sp>
      <p:sp>
        <p:nvSpPr>
          <p:cNvPr id="6" name="Text 4"/>
          <p:cNvSpPr txBox="1"/>
          <p:nvPr/>
        </p:nvSpPr>
        <p:spPr>
          <a:xfrm>
            <a:off x="6644488"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 JOBBET</a:t>
            </a:r>
            <a:endParaRPr lang="en-US" sz="1200" dirty="0"/>
          </a:p>
        </p:txBody>
      </p:sp>
      <p:sp>
        <p:nvSpPr>
          <p:cNvPr id="7" name="Text 5"/>
          <p:cNvSpPr txBox="1"/>
          <p:nvPr/>
        </p:nvSpPr>
        <p:spPr>
          <a:xfrm>
            <a:off x="6644488" y="2103120"/>
            <a:ext cx="4998568" cy="2194560"/>
          </a:xfrm>
          <a:prstGeom prst="rect">
            <a:avLst/>
          </a:prstGeom>
          <a:noFill/>
          <a:ln/>
        </p:spPr>
        <p:txBody>
          <a:bodyPr wrap="square" lIns="0" tIns="0" rIns="0" bIns="0" rtlCol="0" anchor="t"/>
          <a:lstStyle/>
          <a:p>
            <a:pPr indent="0" marL="0">
              <a:lnSpc>
                <a:spcPct val="90000"/>
              </a:lnSpc>
              <a:buNone/>
            </a:pPr>
            <a:r>
              <a:rPr lang="en-US" sz="6400" b="1" dirty="0">
                <a:solidFill>
                  <a:schemeClr val="bg1"/>
                </a:solidFill>
              </a:rPr>
              <a:t>Brug AI</a:t>
            </a:r>
            <a:endParaRPr lang="en-US" sz="6400" dirty="0"/>
          </a:p>
          <a:p>
            <a:pPr indent="0" marL="0">
              <a:lnSpc>
                <a:spcPct val="90000"/>
              </a:lnSpc>
              <a:buNone/>
            </a:pPr>
            <a:r>
              <a:rPr lang="en-US" sz="6400" b="1" dirty="0">
                <a:solidFill>
                  <a:schemeClr val="accent1"/>
                </a:solidFill>
              </a:rPr>
              <a:t>fuldt ud.</a:t>
            </a:r>
            <a:endParaRPr lang="en-US" sz="6400" dirty="0"/>
          </a:p>
        </p:txBody>
      </p:sp>
      <p:sp>
        <p:nvSpPr>
          <p:cNvPr id="8" name="Text 6"/>
          <p:cNvSpPr txBox="1"/>
          <p:nvPr/>
        </p:nvSpPr>
        <p:spPr>
          <a:xfrm>
            <a:off x="6644488" y="4526280"/>
            <a:ext cx="4815688" cy="914400"/>
          </a:xfrm>
          <a:prstGeom prst="rect">
            <a:avLst/>
          </a:prstGeom>
          <a:noFill/>
          <a:ln/>
        </p:spPr>
        <p:txBody>
          <a:bodyPr wrap="square" lIns="0" tIns="0" rIns="0" bIns="0" rtlCol="0" anchor="t"/>
          <a:lstStyle/>
          <a:p>
            <a:pPr indent="0" marL="0">
              <a:buNone/>
            </a:pPr>
            <a:r>
              <a:rPr lang="en-US" sz="1900" dirty="0">
                <a:solidFill>
                  <a:schemeClr val="accent3"/>
                </a:solidFill>
              </a:rPr>
              <a:t>Tag svarene. Kør arbejdsgangene. Byg dine egne værktøjer.</a:t>
            </a:r>
            <a:endParaRPr 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68580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EXIT TICKET</a:t>
            </a:r>
            <a:endParaRPr lang="en-US" sz="1200" dirty="0"/>
          </a:p>
        </p:txBody>
      </p:sp>
      <p:sp>
        <p:nvSpPr>
          <p:cNvPr id="3" name="Text 0"/>
          <p:cNvSpPr/>
          <p:nvPr>
            <p:ph idx="100" type="title" hasCustomPrompt="1"/>
          </p:nvPr>
        </p:nvSpPr>
        <p:spPr>
          <a:xfrm>
            <a:off x="685800" y="804672"/>
            <a:ext cx="10820095" cy="1280160"/>
          </a:xfrm>
          <a:prstGeom prst="rect">
            <a:avLst/>
          </a:prstGeom>
          <a:noFill/>
          <a:ln/>
        </p:spPr>
        <p:txBody>
          <a:bodyPr wrap="square" lIns="0" tIns="0" rIns="0" bIns="0" rtlCol="0" anchor="t"/>
          <a:lstStyle/>
          <a:p>
            <a:pPr algn="l" indent="0" marL="0">
              <a:lnSpc>
                <a:spcPct val="93000"/>
              </a:lnSpc>
              <a:buNone/>
            </a:pPr>
            <a:r>
              <a:rPr lang="en-US" sz="3400" b="1" dirty="0">
                <a:solidFill>
                  <a:schemeClr val="tx1"/>
                </a:solidFill>
              </a:rPr>
              <a:t>Skriv </a:t>
            </a:r>
            <a:pPr algn="l" indent="0" marL="0">
              <a:lnSpc>
                <a:spcPct val="93000"/>
              </a:lnSpc>
              <a:buNone/>
            </a:pPr>
            <a:r>
              <a:rPr lang="en-US" sz="3400" b="1" dirty="0">
                <a:solidFill>
                  <a:schemeClr val="accent1"/>
                </a:solidFill>
              </a:rPr>
              <a:t>to ting</a:t>
            </a:r>
            <a:pPr algn="l" indent="0" marL="0">
              <a:lnSpc>
                <a:spcPct val="93000"/>
              </a:lnSpc>
              <a:buNone/>
            </a:pPr>
            <a:r>
              <a:rPr lang="en-US" sz="3400" b="1" dirty="0">
                <a:solidFill>
                  <a:schemeClr val="tx1"/>
                </a:solidFill>
              </a:rPr>
              <a:t>, før du går</a:t>
            </a:r>
            <a:endParaRPr lang="en-US" sz="3400" dirty="0"/>
          </a:p>
        </p:txBody>
      </p:sp>
      <p:sp>
        <p:nvSpPr>
          <p:cNvPr id="4" name="Text 2"/>
          <p:cNvSpPr txBox="1"/>
          <p:nvPr/>
        </p:nvSpPr>
        <p:spPr>
          <a:xfrm>
            <a:off x="685800" y="2377440"/>
            <a:ext cx="914400" cy="1097280"/>
          </a:xfrm>
          <a:prstGeom prst="rect">
            <a:avLst/>
          </a:prstGeom>
          <a:noFill/>
          <a:ln/>
        </p:spPr>
        <p:txBody>
          <a:bodyPr wrap="square" lIns="0" tIns="0" rIns="0" bIns="0" rtlCol="0" anchor="t"/>
          <a:lstStyle/>
          <a:p>
            <a:pPr indent="0" marL="0">
              <a:buNone/>
            </a:pPr>
            <a:r>
              <a:rPr lang="en-US" sz="8000" b="1" dirty="0">
                <a:solidFill>
                  <a:schemeClr val="accent1"/>
                </a:solidFill>
              </a:rPr>
              <a:t>1</a:t>
            </a:r>
            <a:endParaRPr lang="en-US" sz="8000" dirty="0"/>
          </a:p>
        </p:txBody>
      </p:sp>
      <p:sp>
        <p:nvSpPr>
          <p:cNvPr id="5" name="Text 3"/>
          <p:cNvSpPr txBox="1"/>
          <p:nvPr/>
        </p:nvSpPr>
        <p:spPr>
          <a:xfrm>
            <a:off x="1874520" y="2606040"/>
            <a:ext cx="8686800" cy="1097280"/>
          </a:xfrm>
          <a:prstGeom prst="rect">
            <a:avLst/>
          </a:prstGeom>
          <a:noFill/>
          <a:ln/>
        </p:spPr>
        <p:txBody>
          <a:bodyPr wrap="square" lIns="0" tIns="0" rIns="0" bIns="0" rtlCol="0" anchor="t"/>
          <a:lstStyle/>
          <a:p>
            <a:pPr indent="0" marL="0">
              <a:buNone/>
            </a:pPr>
            <a:r>
              <a:rPr lang="en-US" sz="2800" b="1" dirty="0">
                <a:solidFill>
                  <a:schemeClr val="tx1"/>
                </a:solidFill>
              </a:rPr>
              <a:t>Én arbejdsgang fra i dag, du vil bruge i dit studiejob eller din praktik.</a:t>
            </a:r>
            <a:endParaRPr lang="en-US" sz="2800" dirty="0"/>
          </a:p>
        </p:txBody>
      </p:sp>
      <p:sp>
        <p:nvSpPr>
          <p:cNvPr id="6" name="Text 4"/>
          <p:cNvSpPr txBox="1"/>
          <p:nvPr/>
        </p:nvSpPr>
        <p:spPr>
          <a:xfrm>
            <a:off x="685800" y="3977640"/>
            <a:ext cx="914400" cy="1097280"/>
          </a:xfrm>
          <a:prstGeom prst="rect">
            <a:avLst/>
          </a:prstGeom>
          <a:noFill/>
          <a:ln/>
        </p:spPr>
        <p:txBody>
          <a:bodyPr wrap="square" lIns="0" tIns="0" rIns="0" bIns="0" rtlCol="0" anchor="t"/>
          <a:lstStyle/>
          <a:p>
            <a:pPr indent="0" marL="0">
              <a:buNone/>
            </a:pPr>
            <a:r>
              <a:rPr lang="en-US" sz="8000" b="1" dirty="0">
                <a:solidFill>
                  <a:schemeClr val="accent1"/>
                </a:solidFill>
              </a:rPr>
              <a:t>2</a:t>
            </a:r>
            <a:endParaRPr lang="en-US" sz="8000" dirty="0"/>
          </a:p>
        </p:txBody>
      </p:sp>
      <p:sp>
        <p:nvSpPr>
          <p:cNvPr id="7" name="Text 5"/>
          <p:cNvSpPr txBox="1"/>
          <p:nvPr/>
        </p:nvSpPr>
        <p:spPr>
          <a:xfrm>
            <a:off x="1874520" y="4206240"/>
            <a:ext cx="8686800" cy="1097280"/>
          </a:xfrm>
          <a:prstGeom prst="rect">
            <a:avLst/>
          </a:prstGeom>
          <a:noFill/>
          <a:ln/>
        </p:spPr>
        <p:txBody>
          <a:bodyPr wrap="square" lIns="0" tIns="0" rIns="0" bIns="0" rtlCol="0" anchor="t"/>
          <a:lstStyle/>
          <a:p>
            <a:pPr indent="0" marL="0">
              <a:buNone/>
            </a:pPr>
            <a:r>
              <a:rPr lang="en-US" sz="2800" b="1" dirty="0">
                <a:solidFill>
                  <a:schemeClr val="tx1"/>
                </a:solidFill>
              </a:rPr>
              <a:t>Én ting, du vil lære selv, før du lader AI gøre det.</a:t>
            </a:r>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1371600"/>
            <a:ext cx="10058400" cy="3291840"/>
          </a:xfrm>
          <a:prstGeom prst="rect">
            <a:avLst/>
          </a:prstGeom>
          <a:noFill/>
          <a:ln/>
        </p:spPr>
        <p:txBody>
          <a:bodyPr wrap="square" lIns="0" tIns="0" rIns="0" bIns="0" rtlCol="0" anchor="b"/>
          <a:lstStyle/>
          <a:p>
            <a:pPr indent="0" marL="0">
              <a:lnSpc>
                <a:spcPct val="88000"/>
              </a:lnSpc>
              <a:buNone/>
            </a:pPr>
            <a:r>
              <a:rPr lang="en-US" sz="11000" b="1" dirty="0">
                <a:solidFill>
                  <a:schemeClr val="bg1"/>
                </a:solidFill>
              </a:rPr>
              <a:t>Tænk selv.</a:t>
            </a:r>
            <a:endParaRPr lang="en-US" sz="11000" dirty="0"/>
          </a:p>
          <a:p>
            <a:pPr indent="0" marL="0">
              <a:lnSpc>
                <a:spcPct val="88000"/>
              </a:lnSpc>
              <a:buNone/>
            </a:pPr>
            <a:r>
              <a:rPr lang="en-US" sz="11000" b="1" dirty="0">
                <a:solidFill>
                  <a:schemeClr val="accent1"/>
                </a:solidFill>
              </a:rPr>
              <a:t>Brug AI.</a:t>
            </a:r>
            <a:endParaRPr lang="en-US" sz="11000" dirty="0"/>
          </a:p>
        </p:txBody>
      </p:sp>
      <p:sp>
        <p:nvSpPr>
          <p:cNvPr id="3" name="Text 1"/>
          <p:cNvSpPr txBox="1"/>
          <p:nvPr/>
        </p:nvSpPr>
        <p:spPr>
          <a:xfrm>
            <a:off x="685800" y="5029200"/>
            <a:ext cx="9144000" cy="365760"/>
          </a:xfrm>
          <a:prstGeom prst="rect">
            <a:avLst/>
          </a:prstGeom>
          <a:noFill/>
          <a:ln/>
        </p:spPr>
        <p:txBody>
          <a:bodyPr wrap="square" lIns="0" tIns="0" rIns="0" bIns="0" rtlCol="0" anchor="t"/>
          <a:lstStyle/>
          <a:p>
            <a:pPr indent="0" marL="0">
              <a:buNone/>
            </a:pPr>
            <a:r>
              <a:rPr lang="en-US" sz="1800" dirty="0">
                <a:solidFill>
                  <a:schemeClr val="accent3"/>
                </a:solidFill>
              </a:rPr>
              <a:t>Andreas Riis Nielsen  ·  UCL Vejle  ·  Serviceøkonom</a:t>
            </a:r>
            <a:endParaRPr lang="en-US" sz="1800" dirty="0"/>
          </a:p>
        </p:txBody>
      </p:sp>
    </p:spTree>
  </p:cSld>
  <p:clrMapOvr>
    <a:masterClrMapping/>
  </p:clrMapOvr>
</p:sld>
</file>

<file path=ppt/theme/theme1.xml><?xml version="1.0" encoding="utf-8"?>
<a:theme xmlns:a="http://schemas.openxmlformats.org/drawingml/2006/main" name="Tænk selv Serviceøkonom">
  <a:themeElements>
    <a:clrScheme name="Tænk selv Serviceøkonom">
      <a:dk1>
        <a:srgbClr val="1D1D1F"/>
      </a:dk1>
      <a:lt1>
        <a:srgbClr val="FFFFFF"/>
      </a:lt1>
      <a:dk2>
        <a:srgbClr val="0B0B0C"/>
      </a:dk2>
      <a:lt2>
        <a:srgbClr val="F5F5F7"/>
      </a:lt2>
      <a:accent1>
        <a:srgbClr val="009A92"/>
      </a:accent1>
      <a:accent2>
        <a:srgbClr val="6E6E73"/>
      </a:accent2>
      <a:accent3>
        <a:srgbClr val="A1A1A6"/>
      </a:accent3>
      <a:accent4>
        <a:srgbClr val="D2D2D7"/>
      </a:accent4>
      <a:accent5>
        <a:srgbClr val="3A3A3C"/>
      </a:accent5>
      <a:accent6>
        <a:srgbClr val="1C1C1E"/>
      </a:accent6>
      <a:hlink>
        <a:srgbClr val="009A92"/>
      </a:hlink>
      <a:folHlink>
        <a:srgbClr val="6E6E73"/>
      </a:folHlink>
    </a:clrScheme>
    <a:fontScheme name="Tænk selv Serviceøkono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Tænk selv. Brug AI. Serviceøkonom</dc:title>
  <dc:subject>PptxGenJS Presentation</dc:subject>
  <dc:creator>Andreas Riis Nielsen</dc:creator>
  <cp:lastModifiedBy>Andreas Riis Nielsen</cp:lastModifiedBy>
  <cp:revision>1</cp:revision>
  <dcterms:created xsi:type="dcterms:W3CDTF">2026-10-08T12:52:04Z</dcterms:created>
  <dcterms:modified xsi:type="dcterms:W3CDTF">2026-10-08T12:52:04Z</dcterms:modified>
</cp:coreProperties>
</file>