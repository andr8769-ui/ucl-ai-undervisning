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4.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Åbning" id="{1ccfcc11-3b95-7e39-9085-2d39b31901b3}">
          <p14:sldIdLst>
            <p14:sldId id="256"/>
            <p14:sldId id="257"/>
            <p14:sldId id="258"/>
            <p14:sldId id="259"/>
            <p14:sldId id="260"/>
            <p14:sldId id="261"/>
          </p14:sldIdLst>
        </p14:section>
        <p14:section name="Som studerende" id="{ef9f8252-994f-a1b1-c3be-d90e60cbee6f}">
          <p14:sldIdLst>
            <p14:sldId id="262"/>
            <p14:sldId id="263"/>
            <p14:sldId id="264"/>
            <p14:sldId id="265"/>
            <p14:sldId id="266"/>
            <p14:sldId id="267"/>
            <p14:sldId id="268"/>
            <p14:sldId id="269"/>
          </p14:sldIdLst>
        </p14:section>
        <p14:section name="Prompting" id="{925674f9-94d7-8e05-a89c-20ff5ecbce25}">
          <p14:sldIdLst>
            <p14:sldId id="270"/>
            <p14:sldId id="271"/>
            <p14:sldId id="272"/>
            <p14:sldId id="273"/>
            <p14:sldId id="274"/>
            <p14:sldId id="275"/>
            <p14:sldId id="276"/>
          </p14:sldIdLst>
        </p14:section>
        <p14:section name="Excel og data" id="{31615caa-e009-1dd2-5db9-0e98ba3dc608}">
          <p14:sldIdLst>
            <p14:sldId id="277"/>
            <p14:sldId id="278"/>
            <p14:sldId id="279"/>
            <p14:sldId id="280"/>
            <p14:sldId id="281"/>
            <p14:sldId id="282"/>
            <p14:sldId id="283"/>
            <p14:sldId id="284"/>
            <p14:sldId id="285"/>
            <p14:sldId id="286"/>
            <p14:sldId id="287"/>
            <p14:sldId id="288"/>
            <p14:sldId id="289"/>
          </p14:sldIdLst>
        </p14:section>
        <p14:section name="AI i jobbet" id="{cffa8267-8ae9-d221-049b-659be1c96bda}">
          <p14:sldIdLst>
            <p14:sldId id="290"/>
            <p14:sldId id="291"/>
            <p14:sldId id="292"/>
            <p14:sldId id="293"/>
            <p14:sldId id="294"/>
            <p14:sldId id="295"/>
            <p14:sldId id="296"/>
            <p14:sldId id="297"/>
            <p14:sldId id="298"/>
          </p14:sldIdLst>
        </p14:section>
        <p14:section name="Vibecoding" id="{a496cc8d-1653-3f44-05da-28f39a534d92}">
          <p14:sldIdLst>
            <p14:sldId id="299"/>
            <p14:sldId id="300"/>
            <p14:sldId id="301"/>
            <p14:sldId id="302"/>
            <p14:sldId id="303"/>
            <p14:sldId id="304"/>
          </p14:sldIdLst>
        </p14:section>
        <p14:section name="Afrunding" id="{2c1ef133-3b91-4737-72b1-1ec4115750d4}">
          <p14:sldIdLst>
            <p14:sldId id="305"/>
            <p14:sldId id="306"/>
            <p14:sldId id="30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Dækningsgrad</c:v>
                </c:pt>
              </c:strCache>
            </c:strRef>
          </c:tx>
          <c:spPr>
            <a:solidFill>
              <a:srgbClr val="2C2C2E"/>
            </a:solidFill>
            <a:effectLst/>
          </c:spPr>
          <c:invertIfNegative val="0"/>
          <c:dLbls>
            <c:numFmt formatCode="0.0&quot; %&quot;" sourceLinked="0"/>
            <c:txPr>
              <a:bodyPr/>
              <a:lstStyle/>
              <a:p>
                <a:pPr>
                  <a:defRPr b="0" i="0" strike="noStrike" sz="15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2C2C2E"/>
              </a:solidFill>
              <a:effectLst/>
            </c:spPr>
          </c:dPt>
          <c:dPt>
            <c:idx val="1"/>
            <c:invertIfNegative val="0"/>
            <c:bubble3D val="0"/>
            <c:spPr>
              <a:solidFill>
                <a:srgbClr val="2C2C2E"/>
              </a:solidFill>
              <a:effectLst/>
            </c:spPr>
          </c:dPt>
          <c:dPt>
            <c:idx val="2"/>
            <c:invertIfNegative val="0"/>
            <c:bubble3D val="0"/>
            <c:spPr>
              <a:solidFill>
                <a:srgbClr val="2C2C2E"/>
              </a:solidFill>
              <a:effectLst/>
            </c:spPr>
          </c:dPt>
          <c:dPt>
            <c:idx val="3"/>
            <c:invertIfNegative val="0"/>
            <c:bubble3D val="0"/>
            <c:spPr>
              <a:solidFill>
                <a:srgbClr val="2C2C2E"/>
              </a:solidFill>
              <a:effectLst/>
            </c:spPr>
          </c:dPt>
          <c:dPt>
            <c:idx val="4"/>
            <c:invertIfNegative val="0"/>
            <c:bubble3D val="0"/>
            <c:spPr>
              <a:solidFill>
                <a:srgbClr val="EE4B1A"/>
              </a:solidFill>
              <a:effectLst/>
            </c:spPr>
          </c:dPt>
          <c:cat>
            <c:multiLvlStrRef>
              <c:f>Sheet1!$A$2:$A$6</c:f>
              <c:multiLvlStrCache>
                <c:ptCount val="5"/>
                <c:lvl>
                  <c:pt idx="0">
                    <c:v>Tilbehør</c:v>
                  </c:pt>
                  <c:pt idx="1">
                    <c:v>Rygsække</c:v>
                  </c:pt>
                  <c:pt idx="2">
                    <c:v>Telt og sove</c:v>
                  </c:pt>
                  <c:pt idx="3">
                    <c:v>Jakker</c:v>
                  </c:pt>
                  <c:pt idx="4">
                    <c:v>Sko</c:v>
                  </c:pt>
                </c:lvl>
              </c:multiLvlStrCache>
            </c:multiLvlStrRef>
          </c:cat>
          <c:val>
            <c:numRef>
              <c:f>Sheet1!$B$2:$B$6</c:f>
              <c:numCache>
                <c:formatCode>General</c:formatCode>
                <c:ptCount val="5"/>
                <c:pt idx="0">
                  <c:v>58</c:v>
                </c:pt>
                <c:pt idx="1">
                  <c:v>47.1</c:v>
                </c:pt>
                <c:pt idx="2">
                  <c:v>42.6</c:v>
                </c:pt>
                <c:pt idx="3">
                  <c:v>37.5</c:v>
                </c:pt>
                <c:pt idx="4">
                  <c:v>36</c:v>
                </c:pt>
              </c:numCache>
            </c:numRef>
          </c:val>
        </c:ser>
        <c:dLbls>
          <c:numFmt formatCode="0.0&quot; %&quot;" sourceLinked="0"/>
          <c:txPr>
            <a:bodyPr/>
            <a:lstStyle/>
            <a:p>
              <a:pPr>
                <a:defRPr b="0" i="0" strike="noStrike" sz="1500" u="none">
                  <a:solidFill>
                    <a:srgbClr val="FFFFF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3A3A3C"/>
            </a:solidFill>
            <a:prstDash val="solid"/>
            <a:round/>
          </a:ln>
        </c:spPr>
        <c:txPr>
          <a:bodyPr/>
          <a:lstStyle/>
          <a:p>
            <a:pPr>
              <a:defRPr sz="1600" b="0" i="0" u="none" strike="noStrike">
                <a:solidFill>
                  <a:srgbClr val="A1A1A6"/>
                </a:solidFill>
                <a:latin typeface="+mn-lt"/>
              </a:defRPr>
            </a:pPr>
            <a:endParaRPr lang="en-US"/>
          </a:p>
        </c:txPr>
        <c:crossAx val="2094734552"/>
        <c:crosses val="autoZero"/>
        <c:auto val="1"/>
        <c:lblAlgn val="ctr"/>
        <c:noMultiLvlLbl val="1"/>
      </c:catAx>
      <c:valAx>
        <c:axId val="2094734552"/>
        <c:scaling>
          <c:orientation val="minMax"/>
          <c:max val="7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A1A1A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Velkommen. I dag handler det om AI, både mens I studerer, og når I er færdige og ude på arbejdsmarkedet. Fortæl, at timen er bygget op om to regler, som I får om lidt. Fortæl også, at Pocket optager timen, hvis alle er okay med det, og at vi bruger optagelsen senere. Spørg om accept.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i Mentimeter eller hænder op. Spørg opfølgende, hvad de brugte det til, og om nogen har fået et svar, der viste sig at være forkert.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Tag en rigtig opgaveformulering fra et af deres fag, og lad Claude eller ChatGPT skrive en komplet besvarelse foran holdet. Lad dem læse med. Stil derefter spørgsmålet på sliden, og lad dem svare, før du går videre.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Svaret på spørgsmålet er, at det kommer an på, hvor du er. På studiet har du snydt dig selv for læringen, og du kan ikke forsvare besvarelsen til en mundtlig eksamen. I jobbet er det præcis det, din arbejdsgiver betaler for. Samme svar, to verdener. Hele timen er bygget op om den forskel. Den lyse del af præsentationen handler om studiet. Den mørke del handler om jobbet.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Gennemgå kort, hvad du bruger hvert værktøj til. Claude til studiet på kandidaten og til at bygge. ChatGPT privat og til at skrive prompts til andre modeller. Grok til outbound prospecting for Thirdbase. Claude Code, Cursor, GitHub og Vercel til egne programmer. Claude Design til brand og design systems. HubSpot, Excel, Sheets og Slack i det daglige arbejde. Pocket og Read.ai til fysiske og online møder. Ultrahuman-ringen med Jade, Even Realities-brillerne og Lava Music-guitaren som AI uden skærm. Pointen er, at du bruger AI hver dag, og at de får det meste at se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her er dagens to regler. Når du skal lære, så tænk selv, og brug AI som sparringspartner. Når du skal levere i et job, så brug AI fuldt ud, tag svarene, og lad arbejdsgangene køre. Det er ikke to holdninger til AI. Det er to forskellige formål.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Første del handler om studiet. Her er målet, at I lærer noget, og derfor gælder reglen om at tænke selv.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roller, AI gerne må have, mens I studerer. Sparringspartneren, der stiller spørgsmål og udfordrer jeres argumenter. Forklareren, der forklarer svær teori på flere niveauer og med eksempler fra jeres branche. Kritikeren, der giver feedback på jeres eget udkast ud fra opgavekravene. Og tre roller, den ikke må have. Forfatteren, der skriver opgaven. Kilden, der bliver citeret som fakta. Dommeren, der afgør, hvad der er rigtigt, uden at I forstår hvorfor.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Åbn dit Claude-projekt fra kandidaten, fx User Experience Design eller Webformidling og Webudvikling. Vis, at pensum, noter og opgavekrav ligger som viden i projektet. Bed om et overblik over en tekst, du skal læse. Bed Claude stille dig tre spørgsmål til teksten, og svar live foran holdet. Indsæt til sidst et afsnit, du selv har skrevet, og bed om feedback mod formkravene uden at omskrive det. Budskabet er, at du skriver selv. Claude er min sparringspartner, ikke min forfatter.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Kør begge prompts live. Den første giver en tekst, du ikke kan forsvare. Den anden giver en samtale, der gør dig klogere. Den fulde version af prompt B lyder sådan. Jeg er studerende og skal skrive en opgave om kundeloyalitet i en dansk detailkæde. Du er min vejleder. Du må ikke skrive tekst til opgaven. Stil mig i stedet ét spørgsmål ad gangen, der hjælper mig med at finde en skarp problemformulering. Udfordr mine svar, og sig til, når du synes, problemformuleringen holder. Spørg bagefter, hvilken af de to de kan forsvare til en mundtlig eksamen.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forudsiger det mest sandsynlige svar. Det gør den overbevisende, men ikke nødvendigvis korrekt. Fejlene gemmer sig i tal, citater, sidetal, årstal, forfattere og lovgivning. I studiet skal I altid finde originalkilden og henvise til 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 teksten ud fra Bilag A i undervisningsplanen, uden facit. Parvis finder de tre fejl og fortæller, hvordan de tjekkede. Facit. 1) NPS blev udviklet af Fred Reichheld i 2003, ikke Philip Kotler i 2010. 2) Promotorer svarer 9 til 10, ikke 7 til 10. 3) Nordisk Detailhandelsinstitut og tallet 73 procent findes ikke. Korrekt i teksten er Reichheld og Sasser 1990. Pointen er, at man kun kan fange fejlene, hvis man selv kender stoffet.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Indsæt UCL's gældende regler for brug af AI ved prøver på uddannelsen her i noterne eller på sliden, før du underviser. Reglerne står i studieordningen og i prøvebeskrivelsen for det enkelte fag. Gem chats som dokumentation for jeres proces.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Pointen for studiedelen. Hvis I ikke selv forstår stoffet, kan I ikke se, når AI tager fejl. Derfor tænker I selv, mens I studerer.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Anden del handler om at skrive prompts. Det gælder både på studiet og i jobbet.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KRAFT. Kontekst, rolle, arbejdsopgave, format og tjek. Kontekst er, hvem du er, hvad situationen er, og hvad du allerede har. Vedhæft materialet. Rolle er, hvem AI skal være, fx salgschef, indkøber eller skeptisk kunde. Arbejdsopgave er præcis, hvad den skal levere. Format er fx en Excel-fil, en mail eller en tabel, og hvilken længde, tone og modtager. Tjek er at bede den stille opklarende spørgsmål først og skrive sine antagelser til sidst.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Fortæl kort, hvad du bruger ChatGPT til privat. Vis derefter, hvordan du bruger ChatGPT til at skrive prompts til andre værktøjer. Live-eksempel. Jeg vil have Grok til at finde 20 mellemstore B2B-virksomheder i Trekantområdet, der kunne have brug for hjælp til salg og marketing, og lægge dem i et regneark. Lad ChatGPT stille spørgsmål og skrive prompten, og kør den bagefter i Grok. Pointen er, at modeller er gode til forskellige 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fulde version lyder sådan. Du er ekspert i at skrive prompts. Jeg vil have [værktøj] til at [mål]. Stil mig de spørgsmål, du har brug for, ét ad gangen. Når du har nok, så skriv den færdige prompt med kontekst, rolle, opgave, format og tjek.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Parvis skriver de den dovne prompt om med KRAFT og kører begge versioner. Sammenlign svarene. Et par viser før og efter på storskærmen.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 opfølgende spørgsmål, der gør ethvert svar bedre. Hvilke antagelser har du gjort? Hvad mangler, før det er færdigt? Lav tre versioner, og anbefal én. Gør det klar til at sende.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Bed de studerende hente datasættet og promptkortet fra læringsplatformen. Efter pausen skifter vi fra studiet til jobbet.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skifter vi til jobbet, og præsentationen skifter til mørk. Her gælder den anden regel. Brug AI fuldt ud, tag svarene, og lad arbejdsgangene køre.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ting, AI kan i Excel. Den finder det, du skal reagere på. Den bygger formler, pivottabeller, kontrolkort og grafer, du kan genbruge. Og den leverer dashboardet, rapporten eller mailen bagefter. Fra din egen praksis. Grok-leads lander i Google Sheets, AI renser og beriger listen, og derfra går den direkte ind i HubSpot.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Åbn Handelsokonom_FjordOutdoor.xlsx i Excel, og vis fanerne kort. Upload derefter filen til Claude, og kør prompterne én ad gangen. Spørg salen undervejs, hvor lang tid det ville tage dem i hånden.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Prompterne står fuldt ud på promptkortet i Bilag C. Kør dem i rækkefølge. Hver prompt bygger videre på den forrige.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skal AI finde. Omsætning 7,77 mio. kr., dækningsbidrag 3,19 mio. kr., dækningsgrad 41,0 procent. Tilbehør har den højeste dækningsgrad med 58,0 procent, sko den laveste med 36,0 procent.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skal AI finde. Vandresko Mid, Regnjakke Basic, Løbesko Trail X, Dunjakke Light og Skaljakke Pro giver tilsammen 56 procent af dækningsbidraget. Liggeunderlag, pandelampe og handsker er bunden. Bed AI sige, hvilken grænse den bruger til A, B og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skal AI finde. Løbesko Trail X i november 2025 med 45 procent rabat gav negativt dækningsbidrag i alle tre butikker, i alt ca. minus 16.800 kr. Rabatten er større end dækningsgraden på 40 procent, så hver solgt sko kostede penge.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skal AI finde. Kolding giver i snit 25,9 procent rabat på jakker. Vejle giver 9,1 og Fredericia 9,3 procent. Spørg AI, hvad det koster i dækningsbidrag, og hvad man bør gøre.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Kopiér formlen ind i kolonne I i fanen Salg, og træk den ned. Bed derefter AI om en pivottabel med dækningsbidrag pr. varegruppe og butik.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skal AI finde. 22 åbne deals til 1.118.000 kr. Seks er gået i stå i over 14 dage, i alt 302.000 kr. Bed AI skrive en opfølgningsmail til hver, klar til at sende.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 AI skrive en opfølgningsmail til hver af de seks deals, klar til at sende. Mockuppen viser opbygningen med kontakt og deal hentet fra Pipeline-fanen.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Parvis åbner de datasættet og kører promptkortet. Målet er at finde de tre vigtigste ting og få AI til at lave én graf eller én formel, de kan vise. Gå rundt og hjælp. Bagefter viser et par sit vigtigste fund på storskærmen. Brug facit i Bilag D til at supplere.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Pointen for Excel-delen. I jobbet stiller I de rigtige spørgsmål, og AI laver regnearbejdet.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Fjerde del. Rigtige arbejdsgange fra din egen hverdag, hvor AI laver arbejdet fra start til slut.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Autonomitrappen. Trin 1, chat, hvor du kopierer ind og ud. Trin 2, forbundne værktøjer, hvor AI læser og skriver direkte i HubSpot, Drive, Sheets og Slack. Trin 3, automatisering, hvor et workflow kører af sig selv, når noget sker. Trin 4, agenter, hvor AI planlægger og udfører flere skridt selv. I jobbet er målet at komme så højt op som muligt.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Vis Grok-prompten og den liste, den lavede. Slør navne og firmaer. Vis Sheets-arket, og hvordan listen blev importeret i HubSpot. Vis til sidst, hvordan AI skriver første besked og opfølgninger. Brug evt. Pipeline-fanen fra Fjord Outdoor-filen som demodata, og spørg, hvilke deals der er gået i stå i mere end 14 dage pr. 1. oktober. Bed om en opfølgningsmail til hver. Svaret er seks deals til i alt 302.000 kr.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Bot'en kan teknisk set også skrive til leads på LinkedIn. Men Forbrugerombudsmanden har vurderet, at markedsføring i LinkedIn-beskeder og invitationer er elektronisk post, som kræver samtykke efter markedsføringslovens § 10, også mellem virksomheder. LinkedIns brugeraftale forbyder desuden bots og uautoriseret automatisering. Det er en spilleregel i jobbet, ikke et spørgsmål om at tænke kritisk.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Åbn Pocket, og vis referatet af timen indtil nu. Bed AI lave en Slack-besked til holdet med de tre vigtigste pointer og en opgave til næste gang. Vis derefter et anonymiseret Read.ai-referat fra et online møde, og hvordan opgaverne lander i HubSpot eller projektstyringen. Mockuppen på sliden viser, hvordan resultatet kan se 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 Thirdbases design system i Claude Design. Farver, typografi, komponenter og tone er defineret én gang. Bed live om en LinkedIn-post og en invitation til et kundeevent i brandets stil. Vis derefter, hvordan Claude Code gør designet til en rigtig hjemmeside. Farverne på sliden er Thirdbases egne.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Afsløring. Tag brillerne af, og vis dem frem. Du har haft dine stikord i synsfeltet hele timen. Spørg holdet, hvor de kunne bruge det i deres kommende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 eksempler på AI uden skærm. Brillerne, Pocket, Ultrahuman-ringen med Jade og Lava Music-guitaren. De tre første er jobværktøjer. Guitaren er et læringsværktøj, og der gælder studiereglen, for det er dig, der skal lære at spille.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Pointen for jobdelen.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Femte del. Vibecoding og et live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Vibecoding betyder, at du beskriver på almindeligt sprog, hvad du vil have, og AI skriver koden. Du bedømmer resultatet frem for at læse hver linje. Perfekt til små interne værktøjer og prototyper. Jo vigtigere systemet er, jo mere tester du, før kollegerne bruger 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 værktøjskæde. Claude Design til udseende og brand. Claude Code skriver og retter koden. GitHub er versionsstyring og din fortryd-knap. Vercel lægger det online på en rigtig adresse. Cursor bruger jeg, når jeg selv vil ind i koden med AI ved siden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 to eller tre af dine egne projekter. Thirdbases projektstyringsprogram med login, projekter, opgaver, deadlines og mailnotifikationer. Synlighedsscanneren, der sender leads direkte i HubSpot. Integrationen, der henter biler fra Bilinfo ind i HubSpot for en bilforhandler.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build. Indsæt prompten i Claude Code, og fortæl, hvad der sker, mens den arbejder. Vis ændringerne kort, før du committer. Push til GitHub, og Vercel lægger appen online. Prompten lyder sådan. Kontekst. Jeg underviser handelsøkonomer i, hvorfor rabatter er dyre. Rolle. Du er en erfaren frontend-udvikler. Opgave. Byg en webapp i én fil, index.html, med HTML, CSS og JavaScript og uden frameworks. Brugeren indtaster salgspris, variable omkostninger pr. stk., nuværende afsætning og rabat i procent. Appen viser dækningsbidrag og dækningsgrad før og efter rabatten, og hvor mange procent og stk. mere der skal sælges for at bevare samme samlede dækningsbidrag. Brug formlen nødvendigt mersalg = rabat / (dækningsgrad før rabat − rabat). Er rabatten lig med eller større end dækningsgraden, skal appen tydeligt vise, at det ikke kan betale sig. Format. Dansk tekst, mobilvenlig, minimalistisk design og store tal. Tjek. Test selv med salgspris 100, variable omkostninger 60 og rabat 10 procent. Resultatet skal være 33,3 procent mersalg. Skriv til sidst, hvad jeg skal teste. Backup. Fejler nettet eller Claude Code, så kør samme prompt i Claude i browseren, eller vis den version, du har bygget på forhånd.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Erstat den stiplede firkant med en QR-kode til appens Vercel-adresse, før du underviser. Opret repo og Vercel-projekt på forhånd, så adressen er kendt. Tag ét forslag fra salen, og lav én runde mere.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Afrunding. To regler, ét værktøj. Som studerende tænker I selv og bruger AI som sparringspartner. I jobbet bruger I AI fuldt ud, tager svarene, kører arbejdsgangene og bygger jeres egne værktøjer.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i Mentimeter eller på en seddel. Del datasæt, promptkort og promptbanken til studiet på læringsplatformen.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 for i dag.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804672"/>
            <a:ext cx="10820095" cy="1280160"/>
          </a:xfrm>
          <a:prstGeom prst="rect">
            <a:avLst/>
          </a:prstGeom>
          <a:noFill/>
          <a:ln/>
        </p:spPr>
        <p:txBody>
          <a:bodyPr wrap="square" rtlCol="0"/>
          <a:lstStyle>
            <a:lvl1pPr algn="l" indent="0" marL="0">
              <a:lnSpc>
                <a:spcPct val="93000"/>
              </a:lnSpc>
              <a:buNone/>
              <a:defRPr lang="en-US" sz="3400" b="1" dirty="0">
                <a:solidFill>
                  <a:schemeClr val="tx1"/>
                </a:solidFill>
              </a:defRPr>
            </a:lvl1pPr>
          </a:lstStyle>
          <a:p>
            <a:pPr algn="l" indent="0" marL="0">
              <a:lnSpc>
                <a:spcPct val="93000"/>
              </a:lnSpc>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0B0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804672"/>
            <a:ext cx="10820095" cy="1280160"/>
          </a:xfrm>
          <a:prstGeom prst="rect">
            <a:avLst/>
          </a:prstGeom>
          <a:noFill/>
          <a:ln/>
        </p:spPr>
        <p:txBody>
          <a:bodyPr wrap="square" rtlCol="0"/>
          <a:lstStyle>
            <a:lvl1pPr algn="l" indent="0" marL="0">
              <a:lnSpc>
                <a:spcPct val="93000"/>
              </a:lnSpc>
              <a:buNone/>
              <a:defRPr lang="en-US" sz="3400" b="1" dirty="0">
                <a:solidFill>
                  <a:schemeClr val="bg1"/>
                </a:solidFill>
              </a:defRPr>
            </a:lvl1pPr>
          </a:lstStyle>
          <a:p>
            <a:pPr algn="l" indent="0" marL="0">
              <a:lnSpc>
                <a:spcPct val="93000"/>
              </a:lnSpc>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FF_BLANK">
    <p:bg>
      <p:bgPr>
        <a:solidFill>
          <a:srgbClr val="F5F5F7"/>
        </a:solidFill>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ARK_BLANK">
    <p:bg>
      <p:bgPr>
        <a:solidFill>
          <a:srgbClr val="0B0B0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6.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slideLayout" Target="../slideLayouts/slideLayout6.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slideLayout" Target="../slideLayouts/slideLayout6.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jpeg"/><Relationship Id="rId2" Type="http://schemas.openxmlformats.org/officeDocument/2006/relationships/slideLayout" Target="../slideLayouts/slideLayout6.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jpeg"/><Relationship Id="rId2" Type="http://schemas.openxmlformats.org/officeDocument/2006/relationships/slideLayout" Target="../slideLayouts/slideLayout6.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jpeg"/><Relationship Id="rId2" Type="http://schemas.openxmlformats.org/officeDocument/2006/relationships/slideLayout" Target="../slideLayouts/slideLayout6.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jpeg"/><Relationship Id="rId2" Type="http://schemas.openxmlformats.org/officeDocument/2006/relationships/slideLayout" Target="../slideLayouts/slideLayout6.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jpeg"/><Relationship Id="rId2" Type="http://schemas.openxmlformats.org/officeDocument/2006/relationships/slideLayout" Target="../slideLayouts/slideLayout6.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jpeg"/><Relationship Id="rId2" Type="http://schemas.openxmlformats.org/officeDocument/2006/relationships/slideLayout" Target="../slideLayouts/slideLayout6.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jpeg"/><Relationship Id="rId2" Type="http://schemas.openxmlformats.org/officeDocument/2006/relationships/slideLayout" Target="../slideLayouts/slideLayout6.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jpeg"/><Relationship Id="rId2" Type="http://schemas.openxmlformats.org/officeDocument/2006/relationships/slideLayout" Target="../slideLayouts/slideLayout6.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UCL VEJLE  ·  HANDELSØKONOM</a:t>
            </a:r>
            <a:endParaRPr lang="en-US" sz="1200" dirty="0"/>
          </a:p>
        </p:txBody>
      </p:sp>
      <p:sp>
        <p:nvSpPr>
          <p:cNvPr id="3" name="Text 1"/>
          <p:cNvSpPr txBox="1"/>
          <p:nvPr/>
        </p:nvSpPr>
        <p:spPr>
          <a:xfrm>
            <a:off x="685800" y="1463040"/>
            <a:ext cx="10058400" cy="3108960"/>
          </a:xfrm>
          <a:prstGeom prst="rect">
            <a:avLst/>
          </a:prstGeom>
          <a:noFill/>
          <a:ln/>
        </p:spPr>
        <p:txBody>
          <a:bodyPr wrap="square" lIns="0" tIns="0" rIns="0" bIns="0" rtlCol="0" anchor="b"/>
          <a:lstStyle/>
          <a:p>
            <a:pPr indent="0" marL="0">
              <a:lnSpc>
                <a:spcPct val="88000"/>
              </a:lnSpc>
              <a:buNone/>
            </a:pPr>
            <a:r>
              <a:rPr lang="en-US" sz="11000" b="1" dirty="0">
                <a:solidFill>
                  <a:schemeClr val="bg1"/>
                </a:solidFill>
              </a:rPr>
              <a:t>Tænk selv.</a:t>
            </a:r>
            <a:endParaRPr lang="en-US" sz="11000" dirty="0"/>
          </a:p>
          <a:p>
            <a:pPr indent="0" marL="0">
              <a:lnSpc>
                <a:spcPct val="88000"/>
              </a:lnSpc>
              <a:buNone/>
            </a:pPr>
            <a:r>
              <a:rPr lang="en-US" sz="11000" b="1" dirty="0">
                <a:solidFill>
                  <a:schemeClr val="accent1"/>
                </a:solidFill>
              </a:rPr>
              <a:t>Brug AI.</a:t>
            </a:r>
            <a:endParaRPr lang="en-US" sz="11000" dirty="0"/>
          </a:p>
        </p:txBody>
      </p:sp>
      <p:sp>
        <p:nvSpPr>
          <p:cNvPr id="4" name="Text 2"/>
          <p:cNvSpPr txBox="1"/>
          <p:nvPr/>
        </p:nvSpPr>
        <p:spPr>
          <a:xfrm>
            <a:off x="685800" y="4846320"/>
            <a:ext cx="9144000" cy="457200"/>
          </a:xfrm>
          <a:prstGeom prst="rect">
            <a:avLst/>
          </a:prstGeom>
          <a:noFill/>
          <a:ln/>
        </p:spPr>
        <p:txBody>
          <a:bodyPr wrap="square" lIns="0" tIns="0" rIns="0" bIns="0" rtlCol="0" anchor="t"/>
          <a:lstStyle/>
          <a:p>
            <a:pPr indent="0" marL="0">
              <a:buNone/>
            </a:pPr>
            <a:r>
              <a:rPr lang="en-US" sz="2400" dirty="0">
                <a:solidFill>
                  <a:schemeClr val="accent3"/>
                </a:solidFill>
              </a:rPr>
              <a:t>AI i studiet og i jobbet som handelsøkonom</a:t>
            </a:r>
            <a:endParaRPr lang="en-US" sz="2400" dirty="0"/>
          </a:p>
        </p:txBody>
      </p:sp>
      <p:sp>
        <p:nvSpPr>
          <p:cNvPr id="5" name="Text 3"/>
          <p:cNvSpPr txBox="1"/>
          <p:nvPr/>
        </p:nvSpPr>
        <p:spPr>
          <a:xfrm>
            <a:off x="685800" y="5989320"/>
            <a:ext cx="5486400" cy="320040"/>
          </a:xfrm>
          <a:prstGeom prst="rect">
            <a:avLst/>
          </a:prstGeom>
          <a:noFill/>
          <a:ln/>
        </p:spPr>
        <p:txBody>
          <a:bodyPr wrap="square" lIns="0" tIns="0" rIns="0" bIns="0" rtlCol="0" anchor="t"/>
          <a:lstStyle/>
          <a:p>
            <a:pPr indent="0" marL="0">
              <a:buNone/>
            </a:pPr>
            <a:r>
              <a:rPr lang="en-US" sz="1400" dirty="0">
                <a:solidFill>
                  <a:schemeClr val="accent3"/>
                </a:solidFill>
              </a:rPr>
              <a:t>Andreas Riis Nielsen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HÅNDSOPRÆKNING</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6000" b="1" dirty="0">
                <a:solidFill>
                  <a:schemeClr val="tx1"/>
                </a:solidFill>
              </a:rPr>
              <a:t>Hvem har brugt AI i </a:t>
            </a:r>
            <a:pPr indent="0" marL="0">
              <a:lnSpc>
                <a:spcPct val="95000"/>
              </a:lnSpc>
              <a:buNone/>
            </a:pPr>
            <a:r>
              <a:rPr lang="en-US" sz="6000" b="1" dirty="0">
                <a:solidFill>
                  <a:schemeClr val="accent1"/>
                </a:solidFill>
              </a:rPr>
              <a:t>denne uge</a:t>
            </a:r>
            <a:pPr indent="0" marL="0">
              <a:lnSpc>
                <a:spcPct val="95000"/>
              </a:lnSpc>
              <a:buNone/>
            </a:pPr>
            <a:r>
              <a:rPr lang="en-US" sz="6000" b="1" dirty="0">
                <a:solidFill>
                  <a:schemeClr val="tx1"/>
                </a:solidFill>
              </a:rPr>
              <a:t>?</a:t>
            </a:r>
            <a:endParaRPr lang="en-US" sz="6000" dirty="0"/>
          </a:p>
        </p:txBody>
      </p:sp>
      <p:sp>
        <p:nvSpPr>
          <p:cNvPr id="4" name="Text 2"/>
          <p:cNvSpPr txBox="1"/>
          <p:nvPr/>
        </p:nvSpPr>
        <p:spPr>
          <a:xfrm>
            <a:off x="685800" y="4983480"/>
            <a:ext cx="9601200" cy="822960"/>
          </a:xfrm>
          <a:prstGeom prst="rect">
            <a:avLst/>
          </a:prstGeom>
          <a:noFill/>
          <a:ln/>
        </p:spPr>
        <p:txBody>
          <a:bodyPr wrap="square" lIns="0" tIns="0" rIns="0" bIns="0" rtlCol="0" anchor="t"/>
          <a:lstStyle/>
          <a:p>
            <a:pPr indent="0" marL="0">
              <a:buNone/>
            </a:pPr>
            <a:r>
              <a:rPr lang="en-US" sz="2200" dirty="0">
                <a:solidFill>
                  <a:schemeClr val="accent2"/>
                </a:solidFill>
              </a:rPr>
              <a:t>Til hvad? Og hvem bruger det allerede i et studiejob?</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LIVE DEMO</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6000" b="1" dirty="0">
                <a:solidFill>
                  <a:schemeClr val="tx1"/>
                </a:solidFill>
              </a:rPr>
              <a:t>AI kan skrive hele din opgave, mens du ser på.</a:t>
            </a:r>
            <a:endParaRPr lang="en-US" sz="6000" dirty="0"/>
          </a:p>
        </p:txBody>
      </p:sp>
      <p:sp>
        <p:nvSpPr>
          <p:cNvPr id="4" name="Text 2"/>
          <p:cNvSpPr txBox="1"/>
          <p:nvPr/>
        </p:nvSpPr>
        <p:spPr>
          <a:xfrm>
            <a:off x="685800" y="4983480"/>
            <a:ext cx="9601200" cy="822960"/>
          </a:xfrm>
          <a:prstGeom prst="rect">
            <a:avLst/>
          </a:prstGeom>
          <a:noFill/>
          <a:ln/>
        </p:spPr>
        <p:txBody>
          <a:bodyPr wrap="square" lIns="0" tIns="0" rIns="0" bIns="0" rtlCol="0" anchor="t"/>
          <a:lstStyle/>
          <a:p>
            <a:pPr indent="0" marL="0">
              <a:buNone/>
            </a:pPr>
            <a:r>
              <a:rPr lang="en-US" sz="2200" dirty="0">
                <a:solidFill>
                  <a:schemeClr val="accent2"/>
                </a:solidFill>
              </a:rPr>
              <a:t>Er det snyd eller effektivitet?</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095848" y="0"/>
            <a:ext cx="6095848" cy="6858000"/>
          </a:xfrm>
          <a:prstGeom prst="rect">
            <a:avLst/>
          </a:prstGeom>
          <a:solidFill>
            <a:srgbClr val="0B0B0C"/>
          </a:solidFill>
          <a:ln w="12700">
            <a:solidFill>
              <a:srgbClr val="0B0B0C"/>
            </a:solidFill>
            <a:prstDash val="solid"/>
          </a:ln>
        </p:spPr>
      </p:sp>
      <p:sp>
        <p:nvSpPr>
          <p:cNvPr id="3" name="Text 1"/>
          <p:cNvSpPr txBox="1"/>
          <p:nvPr/>
        </p:nvSpPr>
        <p:spPr>
          <a:xfrm>
            <a:off x="685800" y="804672"/>
            <a:ext cx="5044288" cy="640080"/>
          </a:xfrm>
          <a:prstGeom prst="rect">
            <a:avLst/>
          </a:prstGeom>
          <a:noFill/>
          <a:ln/>
        </p:spPr>
        <p:txBody>
          <a:bodyPr wrap="square" lIns="0" tIns="0" rIns="0" bIns="0" rtlCol="0" anchor="t"/>
          <a:lstStyle/>
          <a:p>
            <a:pPr indent="0" marL="0">
              <a:buNone/>
            </a:pPr>
            <a:r>
              <a:rPr lang="en-US" sz="3400" b="1" dirty="0">
                <a:solidFill>
                  <a:schemeClr val="tx1"/>
                </a:solidFill>
              </a:rPr>
              <a:t>Samme svar.</a:t>
            </a:r>
            <a:endParaRPr lang="en-US" sz="3400" dirty="0"/>
          </a:p>
        </p:txBody>
      </p:sp>
      <p:sp>
        <p:nvSpPr>
          <p:cNvPr id="4" name="Text 2"/>
          <p:cNvSpPr txBox="1"/>
          <p:nvPr/>
        </p:nvSpPr>
        <p:spPr>
          <a:xfrm>
            <a:off x="6644488" y="804672"/>
            <a:ext cx="4861408" cy="640080"/>
          </a:xfrm>
          <a:prstGeom prst="rect">
            <a:avLst/>
          </a:prstGeom>
          <a:noFill/>
          <a:ln/>
        </p:spPr>
        <p:txBody>
          <a:bodyPr wrap="square" lIns="0" tIns="0" rIns="0" bIns="0" rtlCol="0" anchor="t"/>
          <a:lstStyle/>
          <a:p>
            <a:pPr indent="0" marL="0">
              <a:buNone/>
            </a:pPr>
            <a:r>
              <a:rPr lang="en-US" sz="3400" b="1" dirty="0">
                <a:solidFill>
                  <a:schemeClr val="bg1"/>
                </a:solidFill>
              </a:rPr>
              <a:t>To verdener.</a:t>
            </a:r>
            <a:endParaRPr lang="en-US" sz="3400" dirty="0"/>
          </a:p>
        </p:txBody>
      </p:sp>
      <p:sp>
        <p:nvSpPr>
          <p:cNvPr id="5" name="Text 3"/>
          <p:cNvSpPr txBox="1"/>
          <p:nvPr/>
        </p:nvSpPr>
        <p:spPr>
          <a:xfrm>
            <a:off x="685800" y="2240280"/>
            <a:ext cx="45720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PÅ STUDIET</a:t>
            </a:r>
            <a:endParaRPr lang="en-US" sz="1200" dirty="0"/>
          </a:p>
        </p:txBody>
      </p:sp>
      <p:sp>
        <p:nvSpPr>
          <p:cNvPr id="6" name="Text 4"/>
          <p:cNvSpPr txBox="1"/>
          <p:nvPr/>
        </p:nvSpPr>
        <p:spPr>
          <a:xfrm>
            <a:off x="685800" y="2606040"/>
            <a:ext cx="4952848" cy="2011680"/>
          </a:xfrm>
          <a:prstGeom prst="rect">
            <a:avLst/>
          </a:prstGeom>
          <a:noFill/>
          <a:ln/>
        </p:spPr>
        <p:txBody>
          <a:bodyPr wrap="square" lIns="0" tIns="0" rIns="0" bIns="0" rtlCol="0" anchor="t"/>
          <a:lstStyle/>
          <a:p>
            <a:pPr indent="0" marL="0">
              <a:lnSpc>
                <a:spcPct val="95000"/>
              </a:lnSpc>
              <a:buNone/>
            </a:pPr>
            <a:r>
              <a:rPr lang="en-US" sz="4000" b="1" dirty="0">
                <a:solidFill>
                  <a:schemeClr val="tx1"/>
                </a:solidFill>
              </a:rPr>
              <a:t>Snyd mod</a:t>
            </a:r>
            <a:endParaRPr lang="en-US" sz="4000" dirty="0"/>
          </a:p>
          <a:p>
            <a:pPr indent="0" marL="0">
              <a:lnSpc>
                <a:spcPct val="95000"/>
              </a:lnSpc>
              <a:buNone/>
            </a:pPr>
            <a:r>
              <a:rPr lang="en-US" sz="4000" b="1" dirty="0">
                <a:solidFill>
                  <a:schemeClr val="tx1"/>
                </a:solidFill>
              </a:rPr>
              <a:t>dig selv.</a:t>
            </a:r>
            <a:endParaRPr lang="en-US" sz="4000" dirty="0"/>
          </a:p>
        </p:txBody>
      </p:sp>
      <p:sp>
        <p:nvSpPr>
          <p:cNvPr id="7" name="Text 5"/>
          <p:cNvSpPr txBox="1"/>
          <p:nvPr/>
        </p:nvSpPr>
        <p:spPr>
          <a:xfrm>
            <a:off x="685800" y="4754880"/>
            <a:ext cx="4769968" cy="914400"/>
          </a:xfrm>
          <a:prstGeom prst="rect">
            <a:avLst/>
          </a:prstGeom>
          <a:noFill/>
          <a:ln/>
        </p:spPr>
        <p:txBody>
          <a:bodyPr wrap="square" lIns="0" tIns="0" rIns="0" bIns="0" rtlCol="0" anchor="t"/>
          <a:lstStyle/>
          <a:p>
            <a:pPr indent="0" marL="0">
              <a:buNone/>
            </a:pPr>
            <a:r>
              <a:rPr lang="en-US" sz="1800" dirty="0">
                <a:solidFill>
                  <a:schemeClr val="accent2"/>
                </a:solidFill>
              </a:rPr>
              <a:t>Du sprang læringen over og kan ikke forsvare svaret til eksamen.</a:t>
            </a:r>
            <a:endParaRPr lang="en-US" sz="1800" dirty="0"/>
          </a:p>
        </p:txBody>
      </p:sp>
      <p:sp>
        <p:nvSpPr>
          <p:cNvPr id="8" name="Text 6"/>
          <p:cNvSpPr txBox="1"/>
          <p:nvPr/>
        </p:nvSpPr>
        <p:spPr>
          <a:xfrm>
            <a:off x="6644488" y="2240280"/>
            <a:ext cx="4572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I JOBBET</a:t>
            </a:r>
            <a:endParaRPr lang="en-US" sz="1200" dirty="0"/>
          </a:p>
        </p:txBody>
      </p:sp>
      <p:sp>
        <p:nvSpPr>
          <p:cNvPr id="9" name="Text 7"/>
          <p:cNvSpPr txBox="1"/>
          <p:nvPr/>
        </p:nvSpPr>
        <p:spPr>
          <a:xfrm>
            <a:off x="6644488" y="2606040"/>
            <a:ext cx="4861408" cy="2011680"/>
          </a:xfrm>
          <a:prstGeom prst="rect">
            <a:avLst/>
          </a:prstGeom>
          <a:noFill/>
          <a:ln/>
        </p:spPr>
        <p:txBody>
          <a:bodyPr wrap="square" lIns="0" tIns="0" rIns="0" bIns="0" rtlCol="0" anchor="t"/>
          <a:lstStyle/>
          <a:p>
            <a:pPr indent="0" marL="0">
              <a:lnSpc>
                <a:spcPct val="95000"/>
              </a:lnSpc>
              <a:buNone/>
            </a:pPr>
            <a:r>
              <a:rPr lang="en-US" sz="4000" b="1" dirty="0">
                <a:solidFill>
                  <a:schemeClr val="bg1"/>
                </a:solidFill>
              </a:rPr>
              <a:t>Præcis det, chefen</a:t>
            </a:r>
            <a:endParaRPr lang="en-US" sz="4000" dirty="0"/>
          </a:p>
          <a:p>
            <a:pPr indent="0" marL="0">
              <a:lnSpc>
                <a:spcPct val="95000"/>
              </a:lnSpc>
              <a:buNone/>
            </a:pPr>
            <a:r>
              <a:rPr lang="en-US" sz="4000" b="1" dirty="0">
                <a:solidFill>
                  <a:schemeClr val="accent1"/>
                </a:solidFill>
              </a:rPr>
              <a:t>betaler for.</a:t>
            </a:r>
            <a:endParaRPr lang="en-US" sz="4000" dirty="0"/>
          </a:p>
        </p:txBody>
      </p:sp>
      <p:sp>
        <p:nvSpPr>
          <p:cNvPr id="10" name="Text 8"/>
          <p:cNvSpPr txBox="1"/>
          <p:nvPr/>
        </p:nvSpPr>
        <p:spPr>
          <a:xfrm>
            <a:off x="6644488" y="4754880"/>
            <a:ext cx="4724248" cy="914400"/>
          </a:xfrm>
          <a:prstGeom prst="rect">
            <a:avLst/>
          </a:prstGeom>
          <a:noFill/>
          <a:ln/>
        </p:spPr>
        <p:txBody>
          <a:bodyPr wrap="square" lIns="0" tIns="0" rIns="0" bIns="0" rtlCol="0" anchor="t"/>
          <a:lstStyle/>
          <a:p>
            <a:pPr indent="0" marL="0">
              <a:buNone/>
            </a:pPr>
            <a:r>
              <a:rPr lang="en-US" sz="1800" dirty="0">
                <a:solidFill>
                  <a:schemeClr val="accent3"/>
                </a:solidFill>
              </a:rPr>
              <a:t>Arbejdet er gjort, og du kan bruge tiden på det næste.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MIN AI-HVERDAG</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Det her bruger jeg hver uge. I ser det meste </a:t>
            </a:r>
            <a:pPr algn="l" indent="0" marL="0">
              <a:lnSpc>
                <a:spcPct val="93000"/>
              </a:lnSpc>
              <a:buNone/>
            </a:pPr>
            <a:r>
              <a:rPr lang="en-US" sz="3400" b="1" dirty="0">
                <a:solidFill>
                  <a:schemeClr val="accent1"/>
                </a:solidFill>
              </a:rPr>
              <a:t>live i dag</a:t>
            </a:r>
            <a:endParaRPr lang="en-US" sz="3400" dirty="0"/>
          </a:p>
        </p:txBody>
      </p:sp>
      <p:sp>
        <p:nvSpPr>
          <p:cNvPr id="4" name="Shape 2"/>
          <p:cNvSpPr/>
          <p:nvPr/>
        </p:nvSpPr>
        <p:spPr>
          <a:xfrm>
            <a:off x="685800" y="2514600"/>
            <a:ext cx="1362848" cy="0"/>
          </a:xfrm>
          <a:prstGeom prst="line">
            <a:avLst/>
          </a:prstGeom>
          <a:noFill/>
          <a:ln w="12700">
            <a:solidFill>
              <a:schemeClr val="accent4"/>
            </a:solidFill>
            <a:prstDash val="solid"/>
          </a:ln>
        </p:spPr>
      </p:sp>
      <p:sp>
        <p:nvSpPr>
          <p:cNvPr id="5" name="Text 3"/>
          <p:cNvSpPr txBox="1"/>
          <p:nvPr/>
        </p:nvSpPr>
        <p:spPr>
          <a:xfrm>
            <a:off x="685800"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TÆNKE</a:t>
            </a:r>
            <a:endParaRPr lang="en-US" sz="1200" dirty="0"/>
          </a:p>
        </p:txBody>
      </p:sp>
      <p:sp>
        <p:nvSpPr>
          <p:cNvPr id="6" name="Text 4"/>
          <p:cNvSpPr txBox="1"/>
          <p:nvPr/>
        </p:nvSpPr>
        <p:spPr>
          <a:xfrm>
            <a:off x="685800"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Claude</a:t>
            </a:r>
            <a:endParaRPr lang="en-US" sz="1700" dirty="0"/>
          </a:p>
          <a:p>
            <a:pPr indent="0" marL="0">
              <a:spcAft>
                <a:spcPts val="800"/>
              </a:spcAft>
              <a:buNone/>
            </a:pPr>
            <a:r>
              <a:rPr lang="en-US" sz="1700" dirty="0">
                <a:solidFill>
                  <a:schemeClr val="tx1"/>
                </a:solidFill>
              </a:rPr>
              <a:t>ChatGPT</a:t>
            </a:r>
            <a:endParaRPr lang="en-US" sz="1700" dirty="0"/>
          </a:p>
        </p:txBody>
      </p:sp>
      <p:sp>
        <p:nvSpPr>
          <p:cNvPr id="7" name="Shape 5"/>
          <p:cNvSpPr/>
          <p:nvPr/>
        </p:nvSpPr>
        <p:spPr>
          <a:xfrm>
            <a:off x="2231528" y="2514600"/>
            <a:ext cx="1362848" cy="0"/>
          </a:xfrm>
          <a:prstGeom prst="line">
            <a:avLst/>
          </a:prstGeom>
          <a:noFill/>
          <a:ln w="12700">
            <a:solidFill>
              <a:schemeClr val="accent4"/>
            </a:solidFill>
            <a:prstDash val="solid"/>
          </a:ln>
        </p:spPr>
      </p:sp>
      <p:sp>
        <p:nvSpPr>
          <p:cNvPr id="8" name="Text 6"/>
          <p:cNvSpPr txBox="1"/>
          <p:nvPr/>
        </p:nvSpPr>
        <p:spPr>
          <a:xfrm>
            <a:off x="2231528"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FINDE</a:t>
            </a:r>
            <a:endParaRPr lang="en-US" sz="1200" dirty="0"/>
          </a:p>
        </p:txBody>
      </p:sp>
      <p:sp>
        <p:nvSpPr>
          <p:cNvPr id="9" name="Text 7"/>
          <p:cNvSpPr txBox="1"/>
          <p:nvPr/>
        </p:nvSpPr>
        <p:spPr>
          <a:xfrm>
            <a:off x="2231528"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Grok</a:t>
            </a:r>
            <a:endParaRPr lang="en-US" sz="1700" dirty="0"/>
          </a:p>
        </p:txBody>
      </p:sp>
      <p:sp>
        <p:nvSpPr>
          <p:cNvPr id="10" name="Shape 8"/>
          <p:cNvSpPr/>
          <p:nvPr/>
        </p:nvSpPr>
        <p:spPr>
          <a:xfrm>
            <a:off x="3777256" y="2514600"/>
            <a:ext cx="1362848" cy="0"/>
          </a:xfrm>
          <a:prstGeom prst="line">
            <a:avLst/>
          </a:prstGeom>
          <a:noFill/>
          <a:ln w="12700">
            <a:solidFill>
              <a:schemeClr val="accent4"/>
            </a:solidFill>
            <a:prstDash val="solid"/>
          </a:ln>
        </p:spPr>
      </p:sp>
      <p:sp>
        <p:nvSpPr>
          <p:cNvPr id="11" name="Text 9"/>
          <p:cNvSpPr txBox="1"/>
          <p:nvPr/>
        </p:nvSpPr>
        <p:spPr>
          <a:xfrm>
            <a:off x="3777256"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BYGGE</a:t>
            </a:r>
            <a:endParaRPr lang="en-US" sz="1200" dirty="0"/>
          </a:p>
        </p:txBody>
      </p:sp>
      <p:sp>
        <p:nvSpPr>
          <p:cNvPr id="12" name="Text 10"/>
          <p:cNvSpPr txBox="1"/>
          <p:nvPr/>
        </p:nvSpPr>
        <p:spPr>
          <a:xfrm>
            <a:off x="3777256"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Claude Code</a:t>
            </a:r>
            <a:endParaRPr lang="en-US" sz="1700" dirty="0"/>
          </a:p>
          <a:p>
            <a:pPr indent="0" marL="0">
              <a:spcAft>
                <a:spcPts val="800"/>
              </a:spcAft>
              <a:buNone/>
            </a:pPr>
            <a:r>
              <a:rPr lang="en-US" sz="1700" dirty="0">
                <a:solidFill>
                  <a:schemeClr val="tx1"/>
                </a:solidFill>
              </a:rPr>
              <a:t>Cursor</a:t>
            </a:r>
            <a:endParaRPr lang="en-US" sz="1700" dirty="0"/>
          </a:p>
          <a:p>
            <a:pPr indent="0" marL="0">
              <a:spcAft>
                <a:spcPts val="800"/>
              </a:spcAft>
              <a:buNone/>
            </a:pPr>
            <a:r>
              <a:rPr lang="en-US" sz="1700" dirty="0">
                <a:solidFill>
                  <a:schemeClr val="tx1"/>
                </a:solidFill>
              </a:rPr>
              <a:t>GitHub</a:t>
            </a:r>
            <a:endParaRPr lang="en-US" sz="1700" dirty="0"/>
          </a:p>
          <a:p>
            <a:pPr indent="0" marL="0">
              <a:spcAft>
                <a:spcPts val="800"/>
              </a:spcAft>
              <a:buNone/>
            </a:pPr>
            <a:r>
              <a:rPr lang="en-US" sz="1700" dirty="0">
                <a:solidFill>
                  <a:schemeClr val="tx1"/>
                </a:solidFill>
              </a:rPr>
              <a:t>Vercel</a:t>
            </a:r>
            <a:endParaRPr lang="en-US" sz="1700" dirty="0"/>
          </a:p>
        </p:txBody>
      </p:sp>
      <p:sp>
        <p:nvSpPr>
          <p:cNvPr id="13" name="Shape 11"/>
          <p:cNvSpPr/>
          <p:nvPr/>
        </p:nvSpPr>
        <p:spPr>
          <a:xfrm>
            <a:off x="5322984" y="2514600"/>
            <a:ext cx="1362848" cy="0"/>
          </a:xfrm>
          <a:prstGeom prst="line">
            <a:avLst/>
          </a:prstGeom>
          <a:noFill/>
          <a:ln w="12700">
            <a:solidFill>
              <a:schemeClr val="accent4"/>
            </a:solidFill>
            <a:prstDash val="solid"/>
          </a:ln>
        </p:spPr>
      </p:sp>
      <p:sp>
        <p:nvSpPr>
          <p:cNvPr id="14" name="Text 12"/>
          <p:cNvSpPr txBox="1"/>
          <p:nvPr/>
        </p:nvSpPr>
        <p:spPr>
          <a:xfrm>
            <a:off x="5322984"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DESIGNE</a:t>
            </a:r>
            <a:endParaRPr lang="en-US" sz="1200" dirty="0"/>
          </a:p>
        </p:txBody>
      </p:sp>
      <p:sp>
        <p:nvSpPr>
          <p:cNvPr id="15" name="Text 13"/>
          <p:cNvSpPr txBox="1"/>
          <p:nvPr/>
        </p:nvSpPr>
        <p:spPr>
          <a:xfrm>
            <a:off x="5322984"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Claude Design</a:t>
            </a:r>
            <a:endParaRPr lang="en-US" sz="1700" dirty="0"/>
          </a:p>
        </p:txBody>
      </p:sp>
      <p:sp>
        <p:nvSpPr>
          <p:cNvPr id="16" name="Shape 14"/>
          <p:cNvSpPr/>
          <p:nvPr/>
        </p:nvSpPr>
        <p:spPr>
          <a:xfrm>
            <a:off x="6868712" y="2514600"/>
            <a:ext cx="1362848" cy="0"/>
          </a:xfrm>
          <a:prstGeom prst="line">
            <a:avLst/>
          </a:prstGeom>
          <a:noFill/>
          <a:ln w="12700">
            <a:solidFill>
              <a:schemeClr val="accent4"/>
            </a:solidFill>
            <a:prstDash val="solid"/>
          </a:ln>
        </p:spPr>
      </p:sp>
      <p:sp>
        <p:nvSpPr>
          <p:cNvPr id="17" name="Text 15"/>
          <p:cNvSpPr txBox="1"/>
          <p:nvPr/>
        </p:nvSpPr>
        <p:spPr>
          <a:xfrm>
            <a:off x="6868712"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SÆLGE</a:t>
            </a:r>
            <a:endParaRPr lang="en-US" sz="1200" dirty="0"/>
          </a:p>
        </p:txBody>
      </p:sp>
      <p:sp>
        <p:nvSpPr>
          <p:cNvPr id="18" name="Text 16"/>
          <p:cNvSpPr txBox="1"/>
          <p:nvPr/>
        </p:nvSpPr>
        <p:spPr>
          <a:xfrm>
            <a:off x="6868712"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HubSpot</a:t>
            </a:r>
            <a:endParaRPr lang="en-US" sz="1700" dirty="0"/>
          </a:p>
          <a:p>
            <a:pPr indent="0" marL="0">
              <a:spcAft>
                <a:spcPts val="800"/>
              </a:spcAft>
              <a:buNone/>
            </a:pPr>
            <a:r>
              <a:rPr lang="en-US" sz="1700" dirty="0">
                <a:solidFill>
                  <a:schemeClr val="tx1"/>
                </a:solidFill>
              </a:rPr>
              <a:t>Excel</a:t>
            </a:r>
            <a:endParaRPr lang="en-US" sz="1700" dirty="0"/>
          </a:p>
          <a:p>
            <a:pPr indent="0" marL="0">
              <a:spcAft>
                <a:spcPts val="800"/>
              </a:spcAft>
              <a:buNone/>
            </a:pPr>
            <a:r>
              <a:rPr lang="en-US" sz="1700" dirty="0">
                <a:solidFill>
                  <a:schemeClr val="tx1"/>
                </a:solidFill>
              </a:rPr>
              <a:t>Sheets</a:t>
            </a:r>
            <a:endParaRPr lang="en-US" sz="1700" dirty="0"/>
          </a:p>
          <a:p>
            <a:pPr indent="0" marL="0">
              <a:spcAft>
                <a:spcPts val="800"/>
              </a:spcAft>
              <a:buNone/>
            </a:pPr>
            <a:r>
              <a:rPr lang="en-US" sz="1700" dirty="0">
                <a:solidFill>
                  <a:schemeClr val="tx1"/>
                </a:solidFill>
              </a:rPr>
              <a:t>Slack</a:t>
            </a:r>
            <a:endParaRPr lang="en-US" sz="1700" dirty="0"/>
          </a:p>
        </p:txBody>
      </p:sp>
      <p:sp>
        <p:nvSpPr>
          <p:cNvPr id="19" name="Shape 17"/>
          <p:cNvSpPr/>
          <p:nvPr/>
        </p:nvSpPr>
        <p:spPr>
          <a:xfrm>
            <a:off x="8414439" y="2514600"/>
            <a:ext cx="1362848" cy="0"/>
          </a:xfrm>
          <a:prstGeom prst="line">
            <a:avLst/>
          </a:prstGeom>
          <a:noFill/>
          <a:ln w="12700">
            <a:solidFill>
              <a:schemeClr val="accent4"/>
            </a:solidFill>
            <a:prstDash val="solid"/>
          </a:ln>
        </p:spPr>
      </p:sp>
      <p:sp>
        <p:nvSpPr>
          <p:cNvPr id="20" name="Text 18"/>
          <p:cNvSpPr txBox="1"/>
          <p:nvPr/>
        </p:nvSpPr>
        <p:spPr>
          <a:xfrm>
            <a:off x="8414439"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LYTTE</a:t>
            </a:r>
            <a:endParaRPr lang="en-US" sz="1200" dirty="0"/>
          </a:p>
        </p:txBody>
      </p:sp>
      <p:sp>
        <p:nvSpPr>
          <p:cNvPr id="21" name="Text 19"/>
          <p:cNvSpPr txBox="1"/>
          <p:nvPr/>
        </p:nvSpPr>
        <p:spPr>
          <a:xfrm>
            <a:off x="8414439"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Pocket</a:t>
            </a:r>
            <a:endParaRPr lang="en-US" sz="1700" dirty="0"/>
          </a:p>
          <a:p>
            <a:pPr indent="0" marL="0">
              <a:spcAft>
                <a:spcPts val="800"/>
              </a:spcAft>
              <a:buNone/>
            </a:pPr>
            <a:r>
              <a:rPr lang="en-US" sz="1700" dirty="0">
                <a:solidFill>
                  <a:schemeClr val="tx1"/>
                </a:solidFill>
              </a:rPr>
              <a:t>Read.ai</a:t>
            </a:r>
            <a:endParaRPr lang="en-US" sz="1700" dirty="0"/>
          </a:p>
        </p:txBody>
      </p:sp>
      <p:sp>
        <p:nvSpPr>
          <p:cNvPr id="22" name="Shape 20"/>
          <p:cNvSpPr/>
          <p:nvPr/>
        </p:nvSpPr>
        <p:spPr>
          <a:xfrm>
            <a:off x="9960167" y="2514600"/>
            <a:ext cx="1362848" cy="0"/>
          </a:xfrm>
          <a:prstGeom prst="line">
            <a:avLst/>
          </a:prstGeom>
          <a:noFill/>
          <a:ln w="12700">
            <a:solidFill>
              <a:schemeClr val="accent4"/>
            </a:solidFill>
            <a:prstDash val="solid"/>
          </a:ln>
        </p:spPr>
      </p:sp>
      <p:sp>
        <p:nvSpPr>
          <p:cNvPr id="23" name="Text 21"/>
          <p:cNvSpPr txBox="1"/>
          <p:nvPr/>
        </p:nvSpPr>
        <p:spPr>
          <a:xfrm>
            <a:off x="9960167"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BÆRE</a:t>
            </a:r>
            <a:endParaRPr lang="en-US" sz="1200" dirty="0"/>
          </a:p>
        </p:txBody>
      </p:sp>
      <p:sp>
        <p:nvSpPr>
          <p:cNvPr id="24" name="Text 22"/>
          <p:cNvSpPr txBox="1"/>
          <p:nvPr/>
        </p:nvSpPr>
        <p:spPr>
          <a:xfrm>
            <a:off x="9960167"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Ultrahuman</a:t>
            </a:r>
            <a:endParaRPr lang="en-US" sz="1700" dirty="0"/>
          </a:p>
          <a:p>
            <a:pPr indent="0" marL="0">
              <a:spcAft>
                <a:spcPts val="800"/>
              </a:spcAft>
              <a:buNone/>
            </a:pPr>
            <a:r>
              <a:rPr lang="en-US" sz="1700" dirty="0">
                <a:solidFill>
                  <a:schemeClr val="tx1"/>
                </a:solidFill>
              </a:rPr>
              <a:t>Even Realities</a:t>
            </a:r>
            <a:endParaRPr lang="en-US" sz="1700" dirty="0"/>
          </a:p>
          <a:p>
            <a:pPr indent="0" marL="0">
              <a:spcAft>
                <a:spcPts val="800"/>
              </a:spcAft>
              <a:buNone/>
            </a:pPr>
            <a:r>
              <a:rPr lang="en-US" sz="1700" dirty="0">
                <a:solidFill>
                  <a:schemeClr val="tx1"/>
                </a:solidFill>
              </a:rPr>
              <a:t>Lava Music</a:t>
            </a:r>
            <a:endParaRPr lang="en-US" sz="1700" dirty="0"/>
          </a:p>
        </p:txBody>
      </p:sp>
      <p:sp>
        <p:nvSpPr>
          <p:cNvPr id="25" name="Text 23"/>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2"/>
                </a:solidFill>
              </a:rPr>
              <a:t>Grupperet efter, hvad værktøjet gør for mig. Ikke efter, hvem der har lavet det.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DAGENS TO REGLER</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5400" b="1" dirty="0">
                <a:solidFill>
                  <a:schemeClr val="tx1"/>
                </a:solidFill>
              </a:rPr>
              <a:t>Som studerende tænker AI </a:t>
            </a:r>
            <a:pPr indent="0" marL="0">
              <a:lnSpc>
                <a:spcPct val="95000"/>
              </a:lnSpc>
              <a:buNone/>
            </a:pPr>
            <a:r>
              <a:rPr lang="en-US" sz="5400" b="1" dirty="0">
                <a:solidFill>
                  <a:schemeClr val="accent1"/>
                </a:solidFill>
              </a:rPr>
              <a:t>med</a:t>
            </a:r>
            <a:pPr indent="0" marL="0">
              <a:lnSpc>
                <a:spcPct val="95000"/>
              </a:lnSpc>
              <a:buNone/>
            </a:pPr>
            <a:r>
              <a:rPr lang="en-US" sz="5400" b="1" dirty="0">
                <a:solidFill>
                  <a:schemeClr val="tx1"/>
                </a:solidFill>
              </a:rPr>
              <a:t> dig. I jobbet arbejder AI </a:t>
            </a:r>
            <a:pPr indent="0" marL="0">
              <a:lnSpc>
                <a:spcPct val="95000"/>
              </a:lnSpc>
              <a:buNone/>
            </a:pPr>
            <a:r>
              <a:rPr lang="en-US" sz="5400" b="1" dirty="0">
                <a:solidFill>
                  <a:schemeClr val="accent1"/>
                </a:solidFill>
              </a:rPr>
              <a:t>for</a:t>
            </a:r>
            <a:pPr indent="0" marL="0">
              <a:lnSpc>
                <a:spcPct val="95000"/>
              </a:lnSpc>
              <a:buNone/>
            </a:pPr>
            <a:r>
              <a:rPr lang="en-US" sz="5400" b="1" dirty="0">
                <a:solidFill>
                  <a:schemeClr val="tx1"/>
                </a:solidFill>
              </a:rPr>
              <a:t> dig.</a:t>
            </a:r>
            <a:endParaRPr lang="en-US" sz="5400" dirty="0"/>
          </a:p>
        </p:txBody>
      </p:sp>
      <p:sp>
        <p:nvSpPr>
          <p:cNvPr id="4" name="Text 2"/>
          <p:cNvSpPr txBox="1"/>
          <p:nvPr/>
        </p:nvSpPr>
        <p:spPr>
          <a:xfrm>
            <a:off x="685800" y="4983480"/>
            <a:ext cx="9601200" cy="822960"/>
          </a:xfrm>
          <a:prstGeom prst="rect">
            <a:avLst/>
          </a:prstGeom>
          <a:noFill/>
          <a:ln/>
        </p:spPr>
        <p:txBody>
          <a:bodyPr wrap="square" lIns="0" tIns="0" rIns="0" bIns="0" rtlCol="0" anchor="t"/>
          <a:lstStyle/>
          <a:p>
            <a:pPr indent="0" marL="0">
              <a:buNone/>
            </a:pPr>
            <a:r>
              <a:rPr lang="en-US" sz="2200" dirty="0">
                <a:solidFill>
                  <a:schemeClr val="accent2"/>
                </a:solidFill>
              </a:rPr>
              <a:t>To regler. Ét værktøj.</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01  ·  SOM STUDERENDE</a:t>
            </a:r>
            <a:endParaRPr lang="en-US" sz="1200" dirty="0"/>
          </a:p>
        </p:txBody>
      </p:sp>
      <p:sp>
        <p:nvSpPr>
          <p:cNvPr id="3" name="Text 1"/>
          <p:cNvSpPr txBox="1"/>
          <p:nvPr/>
        </p:nvSpPr>
        <p:spPr>
          <a:xfrm>
            <a:off x="685800" y="1828800"/>
            <a:ext cx="10515600" cy="2194560"/>
          </a:xfrm>
          <a:prstGeom prst="rect">
            <a:avLst/>
          </a:prstGeom>
          <a:noFill/>
          <a:ln/>
        </p:spPr>
        <p:txBody>
          <a:bodyPr wrap="square" lIns="0" tIns="0" rIns="0" bIns="0" rtlCol="0" anchor="b"/>
          <a:lstStyle/>
          <a:p>
            <a:pPr indent="0" marL="0">
              <a:lnSpc>
                <a:spcPct val="90000"/>
              </a:lnSpc>
              <a:buNone/>
            </a:pPr>
            <a:r>
              <a:rPr lang="en-US" sz="9600" b="1" dirty="0">
                <a:solidFill>
                  <a:schemeClr val="tx1"/>
                </a:solidFill>
              </a:rPr>
              <a:t>Tænk selv.</a:t>
            </a:r>
            <a:endParaRPr lang="en-US" sz="9600" dirty="0"/>
          </a:p>
        </p:txBody>
      </p:sp>
      <p:sp>
        <p:nvSpPr>
          <p:cNvPr id="4" name="Text 2"/>
          <p:cNvSpPr txBox="1"/>
          <p:nvPr/>
        </p:nvSpPr>
        <p:spPr>
          <a:xfrm>
            <a:off x="685800" y="4206240"/>
            <a:ext cx="9144000" cy="548640"/>
          </a:xfrm>
          <a:prstGeom prst="rect">
            <a:avLst/>
          </a:prstGeom>
          <a:noFill/>
          <a:ln/>
        </p:spPr>
        <p:txBody>
          <a:bodyPr wrap="square" lIns="0" tIns="0" rIns="0" bIns="0" rtlCol="0" anchor="t"/>
          <a:lstStyle/>
          <a:p>
            <a:pPr indent="0" marL="0">
              <a:buNone/>
            </a:pPr>
            <a:r>
              <a:rPr lang="en-US" sz="2400" dirty="0">
                <a:solidFill>
                  <a:schemeClr val="accent2"/>
                </a:solidFill>
              </a:rPr>
              <a:t>Når målet er, at du lærer.</a:t>
            </a:r>
            <a:endParaRPr lang="en-US" sz="2400" dirty="0"/>
          </a:p>
        </p:txBody>
      </p:sp>
      <p:sp>
        <p:nvSpPr>
          <p:cNvPr id="5" name="Shape 3"/>
          <p:cNvSpPr/>
          <p:nvPr/>
        </p:nvSpPr>
        <p:spPr>
          <a:xfrm>
            <a:off x="685800" y="5943600"/>
            <a:ext cx="10820095" cy="0"/>
          </a:xfrm>
          <a:prstGeom prst="line">
            <a:avLst/>
          </a:prstGeom>
          <a:noFill/>
          <a:ln w="12700">
            <a:solidFill>
              <a:schemeClr val="accent4"/>
            </a:solidFill>
            <a:prstDash val="solid"/>
          </a:ln>
        </p:spPr>
      </p:sp>
      <p:sp>
        <p:nvSpPr>
          <p:cNvPr id="6" name="Shape 4"/>
          <p:cNvSpPr/>
          <p:nvPr/>
        </p:nvSpPr>
        <p:spPr>
          <a:xfrm>
            <a:off x="685800" y="5943600"/>
            <a:ext cx="2164019" cy="0"/>
          </a:xfrm>
          <a:prstGeom prst="line">
            <a:avLst/>
          </a:prstGeom>
          <a:noFill/>
          <a:ln w="38100">
            <a:solidFill>
              <a:schemeClr val="accent1"/>
            </a:solidFill>
            <a:prstDash val="solid"/>
          </a:ln>
        </p:spPr>
      </p:sp>
      <p:sp>
        <p:nvSpPr>
          <p:cNvPr id="7" name="Text 5"/>
          <p:cNvSpPr txBox="1"/>
          <p:nvPr/>
        </p:nvSpPr>
        <p:spPr>
          <a:xfrm>
            <a:off x="685800" y="6089904"/>
            <a:ext cx="2072579" cy="274320"/>
          </a:xfrm>
          <a:prstGeom prst="rect">
            <a:avLst/>
          </a:prstGeom>
          <a:noFill/>
          <a:ln/>
        </p:spPr>
        <p:txBody>
          <a:bodyPr wrap="square" lIns="0" tIns="0" rIns="0" bIns="0" rtlCol="0" anchor="t"/>
          <a:lstStyle/>
          <a:p>
            <a:pPr indent="0" marL="0">
              <a:buNone/>
            </a:pPr>
            <a:r>
              <a:rPr lang="en-US" sz="1200" b="1" dirty="0">
                <a:solidFill>
                  <a:schemeClr val="tx1"/>
                </a:solidFill>
              </a:rPr>
              <a:t>Som studerende</a:t>
            </a:r>
            <a:endParaRPr lang="en-US" sz="1200" dirty="0"/>
          </a:p>
        </p:txBody>
      </p:sp>
      <p:sp>
        <p:nvSpPr>
          <p:cNvPr id="8" name="Text 6"/>
          <p:cNvSpPr txBox="1"/>
          <p:nvPr/>
        </p:nvSpPr>
        <p:spPr>
          <a:xfrm>
            <a:off x="2849819"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Prompting</a:t>
            </a:r>
            <a:endParaRPr lang="en-US" sz="1200" dirty="0"/>
          </a:p>
        </p:txBody>
      </p:sp>
      <p:sp>
        <p:nvSpPr>
          <p:cNvPr id="9" name="Text 7"/>
          <p:cNvSpPr txBox="1"/>
          <p:nvPr/>
        </p:nvSpPr>
        <p:spPr>
          <a:xfrm>
            <a:off x="5013838"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Excel og data</a:t>
            </a:r>
            <a:endParaRPr lang="en-US" sz="1200" dirty="0"/>
          </a:p>
        </p:txBody>
      </p:sp>
      <p:sp>
        <p:nvSpPr>
          <p:cNvPr id="10" name="Text 8"/>
          <p:cNvSpPr txBox="1"/>
          <p:nvPr/>
        </p:nvSpPr>
        <p:spPr>
          <a:xfrm>
            <a:off x="7177857"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AI i jobbet</a:t>
            </a:r>
            <a:endParaRPr lang="en-US" sz="1200" dirty="0"/>
          </a:p>
        </p:txBody>
      </p:sp>
      <p:sp>
        <p:nvSpPr>
          <p:cNvPr id="11" name="Text 9"/>
          <p:cNvSpPr txBox="1"/>
          <p:nvPr/>
        </p:nvSpPr>
        <p:spPr>
          <a:xfrm>
            <a:off x="9341876"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Vibecoding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AI'S ROLLE I DIT STUDIE</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I studiet er AI din </a:t>
            </a:r>
            <a:pPr algn="l" indent="0" marL="0">
              <a:lnSpc>
                <a:spcPct val="93000"/>
              </a:lnSpc>
              <a:buNone/>
            </a:pPr>
            <a:r>
              <a:rPr lang="en-US" sz="3400" b="1" dirty="0">
                <a:solidFill>
                  <a:schemeClr val="accent1"/>
                </a:solidFill>
              </a:rPr>
              <a:t>sparringspartner</a:t>
            </a:r>
            <a:pPr algn="l" indent="0" marL="0">
              <a:lnSpc>
                <a:spcPct val="93000"/>
              </a:lnSpc>
              <a:buNone/>
            </a:pPr>
            <a:r>
              <a:rPr lang="en-US" sz="3400" b="1" dirty="0">
                <a:solidFill>
                  <a:schemeClr val="tx1"/>
                </a:solidFill>
              </a:rPr>
              <a:t>. Ikke din forfatter</a:t>
            </a:r>
            <a:endParaRPr lang="en-US" sz="3400" dirty="0"/>
          </a:p>
        </p:txBody>
      </p:sp>
      <p:sp>
        <p:nvSpPr>
          <p:cNvPr id="4" name="Text 2"/>
          <p:cNvSpPr txBox="1"/>
          <p:nvPr/>
        </p:nvSpPr>
        <p:spPr>
          <a:xfrm>
            <a:off x="685800" y="2377440"/>
            <a:ext cx="18288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JA</a:t>
            </a:r>
            <a:endParaRPr lang="en-US" sz="1200" dirty="0"/>
          </a:p>
        </p:txBody>
      </p:sp>
      <p:sp>
        <p:nvSpPr>
          <p:cNvPr id="5" name="Text 3"/>
          <p:cNvSpPr txBox="1"/>
          <p:nvPr/>
        </p:nvSpPr>
        <p:spPr>
          <a:xfrm>
            <a:off x="6446520" y="2377440"/>
            <a:ext cx="18288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NEJ</a:t>
            </a:r>
            <a:endParaRPr lang="en-US" sz="1200" dirty="0"/>
          </a:p>
        </p:txBody>
      </p:sp>
      <p:sp>
        <p:nvSpPr>
          <p:cNvPr id="6" name="Text 4"/>
          <p:cNvSpPr txBox="1"/>
          <p:nvPr/>
        </p:nvSpPr>
        <p:spPr>
          <a:xfrm>
            <a:off x="685800" y="2788920"/>
            <a:ext cx="4937760" cy="548640"/>
          </a:xfrm>
          <a:prstGeom prst="rect">
            <a:avLst/>
          </a:prstGeom>
          <a:noFill/>
          <a:ln/>
        </p:spPr>
        <p:txBody>
          <a:bodyPr wrap="square" lIns="0" tIns="0" rIns="0" bIns="0" rtlCol="0" anchor="t"/>
          <a:lstStyle/>
          <a:p>
            <a:pPr indent="0" marL="0">
              <a:buNone/>
            </a:pPr>
            <a:r>
              <a:rPr lang="en-US" sz="3000" b="1" dirty="0">
                <a:solidFill>
                  <a:schemeClr val="tx1"/>
                </a:solidFill>
              </a:rPr>
              <a:t>Sparringspartner</a:t>
            </a:r>
            <a:endParaRPr lang="en-US" sz="3000" dirty="0"/>
          </a:p>
        </p:txBody>
      </p:sp>
      <p:sp>
        <p:nvSpPr>
          <p:cNvPr id="7" name="Text 5"/>
          <p:cNvSpPr txBox="1"/>
          <p:nvPr/>
        </p:nvSpPr>
        <p:spPr>
          <a:xfrm>
            <a:off x="685800" y="3310128"/>
            <a:ext cx="4937760" cy="365760"/>
          </a:xfrm>
          <a:prstGeom prst="rect">
            <a:avLst/>
          </a:prstGeom>
          <a:noFill/>
          <a:ln/>
        </p:spPr>
        <p:txBody>
          <a:bodyPr wrap="square" lIns="0" tIns="0" rIns="0" bIns="0" rtlCol="0" anchor="t"/>
          <a:lstStyle/>
          <a:p>
            <a:pPr indent="0" marL="0">
              <a:buNone/>
            </a:pPr>
            <a:r>
              <a:rPr lang="en-US" sz="1600" dirty="0">
                <a:solidFill>
                  <a:schemeClr val="accent2"/>
                </a:solidFill>
              </a:rPr>
              <a:t>stiller spørgsmålene</a:t>
            </a:r>
            <a:endParaRPr lang="en-US" sz="1600" dirty="0"/>
          </a:p>
        </p:txBody>
      </p:sp>
      <p:sp>
        <p:nvSpPr>
          <p:cNvPr id="8" name="Text 6"/>
          <p:cNvSpPr txBox="1"/>
          <p:nvPr/>
        </p:nvSpPr>
        <p:spPr>
          <a:xfrm>
            <a:off x="685800" y="3867912"/>
            <a:ext cx="4937760" cy="548640"/>
          </a:xfrm>
          <a:prstGeom prst="rect">
            <a:avLst/>
          </a:prstGeom>
          <a:noFill/>
          <a:ln/>
        </p:spPr>
        <p:txBody>
          <a:bodyPr wrap="square" lIns="0" tIns="0" rIns="0" bIns="0" rtlCol="0" anchor="t"/>
          <a:lstStyle/>
          <a:p>
            <a:pPr indent="0" marL="0">
              <a:buNone/>
            </a:pPr>
            <a:r>
              <a:rPr lang="en-US" sz="3000" b="1" dirty="0">
                <a:solidFill>
                  <a:schemeClr val="tx1"/>
                </a:solidFill>
              </a:rPr>
              <a:t>Forklarer</a:t>
            </a:r>
            <a:endParaRPr lang="en-US" sz="3000" dirty="0"/>
          </a:p>
        </p:txBody>
      </p:sp>
      <p:sp>
        <p:nvSpPr>
          <p:cNvPr id="9" name="Text 7"/>
          <p:cNvSpPr txBox="1"/>
          <p:nvPr/>
        </p:nvSpPr>
        <p:spPr>
          <a:xfrm>
            <a:off x="685800" y="4389120"/>
            <a:ext cx="4937760" cy="365760"/>
          </a:xfrm>
          <a:prstGeom prst="rect">
            <a:avLst/>
          </a:prstGeom>
          <a:noFill/>
          <a:ln/>
        </p:spPr>
        <p:txBody>
          <a:bodyPr wrap="square" lIns="0" tIns="0" rIns="0" bIns="0" rtlCol="0" anchor="t"/>
          <a:lstStyle/>
          <a:p>
            <a:pPr indent="0" marL="0">
              <a:buNone/>
            </a:pPr>
            <a:r>
              <a:rPr lang="en-US" sz="1600" dirty="0">
                <a:solidFill>
                  <a:schemeClr val="accent2"/>
                </a:solidFill>
              </a:rPr>
              <a:t>forklarer teorien igen og igen</a:t>
            </a:r>
            <a:endParaRPr lang="en-US" sz="1600" dirty="0"/>
          </a:p>
        </p:txBody>
      </p:sp>
      <p:sp>
        <p:nvSpPr>
          <p:cNvPr id="10" name="Text 8"/>
          <p:cNvSpPr txBox="1"/>
          <p:nvPr/>
        </p:nvSpPr>
        <p:spPr>
          <a:xfrm>
            <a:off x="685800" y="4946904"/>
            <a:ext cx="4937760" cy="548640"/>
          </a:xfrm>
          <a:prstGeom prst="rect">
            <a:avLst/>
          </a:prstGeom>
          <a:noFill/>
          <a:ln/>
        </p:spPr>
        <p:txBody>
          <a:bodyPr wrap="square" lIns="0" tIns="0" rIns="0" bIns="0" rtlCol="0" anchor="t"/>
          <a:lstStyle/>
          <a:p>
            <a:pPr indent="0" marL="0">
              <a:buNone/>
            </a:pPr>
            <a:r>
              <a:rPr lang="en-US" sz="3000" b="1" dirty="0">
                <a:solidFill>
                  <a:schemeClr val="tx1"/>
                </a:solidFill>
              </a:rPr>
              <a:t>Kritiker</a:t>
            </a:r>
            <a:endParaRPr lang="en-US" sz="3000" dirty="0"/>
          </a:p>
        </p:txBody>
      </p:sp>
      <p:sp>
        <p:nvSpPr>
          <p:cNvPr id="11" name="Text 9"/>
          <p:cNvSpPr txBox="1"/>
          <p:nvPr/>
        </p:nvSpPr>
        <p:spPr>
          <a:xfrm>
            <a:off x="685800" y="5468112"/>
            <a:ext cx="4937760" cy="365760"/>
          </a:xfrm>
          <a:prstGeom prst="rect">
            <a:avLst/>
          </a:prstGeom>
          <a:noFill/>
          <a:ln/>
        </p:spPr>
        <p:txBody>
          <a:bodyPr wrap="square" lIns="0" tIns="0" rIns="0" bIns="0" rtlCol="0" anchor="t"/>
          <a:lstStyle/>
          <a:p>
            <a:pPr indent="0" marL="0">
              <a:buNone/>
            </a:pPr>
            <a:r>
              <a:rPr lang="en-US" sz="1600" dirty="0">
                <a:solidFill>
                  <a:schemeClr val="accent2"/>
                </a:solidFill>
              </a:rPr>
              <a:t>kommenterer dit eget udkast</a:t>
            </a:r>
            <a:endParaRPr lang="en-US" sz="1600" dirty="0"/>
          </a:p>
        </p:txBody>
      </p:sp>
      <p:sp>
        <p:nvSpPr>
          <p:cNvPr id="12" name="Text 10"/>
          <p:cNvSpPr txBox="1"/>
          <p:nvPr/>
        </p:nvSpPr>
        <p:spPr>
          <a:xfrm>
            <a:off x="6446520" y="2788920"/>
            <a:ext cx="4937760" cy="548640"/>
          </a:xfrm>
          <a:prstGeom prst="rect">
            <a:avLst/>
          </a:prstGeom>
          <a:noFill/>
          <a:ln/>
        </p:spPr>
        <p:txBody>
          <a:bodyPr wrap="square" lIns="0" tIns="0" rIns="0" bIns="0" rtlCol="0" anchor="t"/>
          <a:lstStyle/>
          <a:p>
            <a:pPr indent="0" marL="0">
              <a:buNone/>
            </a:pPr>
            <a:r>
              <a:rPr lang="en-US" sz="3000" b="1" strike="sngStrike" dirty="0">
                <a:solidFill>
                  <a:schemeClr val="accent2"/>
                </a:solidFill>
              </a:rPr>
              <a:t>Forfatter</a:t>
            </a:r>
            <a:endParaRPr lang="en-US" sz="3000" dirty="0"/>
          </a:p>
        </p:txBody>
      </p:sp>
      <p:sp>
        <p:nvSpPr>
          <p:cNvPr id="13" name="Text 11"/>
          <p:cNvSpPr txBox="1"/>
          <p:nvPr/>
        </p:nvSpPr>
        <p:spPr>
          <a:xfrm>
            <a:off x="6446520" y="3310128"/>
            <a:ext cx="4937760" cy="365760"/>
          </a:xfrm>
          <a:prstGeom prst="rect">
            <a:avLst/>
          </a:prstGeom>
          <a:noFill/>
          <a:ln/>
        </p:spPr>
        <p:txBody>
          <a:bodyPr wrap="square" lIns="0" tIns="0" rIns="0" bIns="0" rtlCol="0" anchor="t"/>
          <a:lstStyle/>
          <a:p>
            <a:pPr indent="0" marL="0">
              <a:buNone/>
            </a:pPr>
            <a:r>
              <a:rPr lang="en-US" sz="1600" dirty="0">
                <a:solidFill>
                  <a:schemeClr val="accent2"/>
                </a:solidFill>
              </a:rPr>
              <a:t>skriver opgaven</a:t>
            </a:r>
            <a:endParaRPr lang="en-US" sz="1600" dirty="0"/>
          </a:p>
        </p:txBody>
      </p:sp>
      <p:sp>
        <p:nvSpPr>
          <p:cNvPr id="14" name="Text 12"/>
          <p:cNvSpPr txBox="1"/>
          <p:nvPr/>
        </p:nvSpPr>
        <p:spPr>
          <a:xfrm>
            <a:off x="6446520" y="3867912"/>
            <a:ext cx="4937760" cy="548640"/>
          </a:xfrm>
          <a:prstGeom prst="rect">
            <a:avLst/>
          </a:prstGeom>
          <a:noFill/>
          <a:ln/>
        </p:spPr>
        <p:txBody>
          <a:bodyPr wrap="square" lIns="0" tIns="0" rIns="0" bIns="0" rtlCol="0" anchor="t"/>
          <a:lstStyle/>
          <a:p>
            <a:pPr indent="0" marL="0">
              <a:buNone/>
            </a:pPr>
            <a:r>
              <a:rPr lang="en-US" sz="3000" b="1" strike="sngStrike" dirty="0">
                <a:solidFill>
                  <a:schemeClr val="accent2"/>
                </a:solidFill>
              </a:rPr>
              <a:t>Kilde</a:t>
            </a:r>
            <a:endParaRPr lang="en-US" sz="3000" dirty="0"/>
          </a:p>
        </p:txBody>
      </p:sp>
      <p:sp>
        <p:nvSpPr>
          <p:cNvPr id="15" name="Text 13"/>
          <p:cNvSpPr txBox="1"/>
          <p:nvPr/>
        </p:nvSpPr>
        <p:spPr>
          <a:xfrm>
            <a:off x="6446520" y="4389120"/>
            <a:ext cx="4937760" cy="365760"/>
          </a:xfrm>
          <a:prstGeom prst="rect">
            <a:avLst/>
          </a:prstGeom>
          <a:noFill/>
          <a:ln/>
        </p:spPr>
        <p:txBody>
          <a:bodyPr wrap="square" lIns="0" tIns="0" rIns="0" bIns="0" rtlCol="0" anchor="t"/>
          <a:lstStyle/>
          <a:p>
            <a:pPr indent="0" marL="0">
              <a:buNone/>
            </a:pPr>
            <a:r>
              <a:rPr lang="en-US" sz="1600" dirty="0">
                <a:solidFill>
                  <a:schemeClr val="accent2"/>
                </a:solidFill>
              </a:rPr>
              <a:t>bliver citeret som fakta</a:t>
            </a:r>
            <a:endParaRPr lang="en-US" sz="1600" dirty="0"/>
          </a:p>
        </p:txBody>
      </p:sp>
      <p:sp>
        <p:nvSpPr>
          <p:cNvPr id="16" name="Text 14"/>
          <p:cNvSpPr txBox="1"/>
          <p:nvPr/>
        </p:nvSpPr>
        <p:spPr>
          <a:xfrm>
            <a:off x="6446520" y="4946904"/>
            <a:ext cx="4937760" cy="548640"/>
          </a:xfrm>
          <a:prstGeom prst="rect">
            <a:avLst/>
          </a:prstGeom>
          <a:noFill/>
          <a:ln/>
        </p:spPr>
        <p:txBody>
          <a:bodyPr wrap="square" lIns="0" tIns="0" rIns="0" bIns="0" rtlCol="0" anchor="t"/>
          <a:lstStyle/>
          <a:p>
            <a:pPr indent="0" marL="0">
              <a:buNone/>
            </a:pPr>
            <a:r>
              <a:rPr lang="en-US" sz="3000" b="1" strike="sngStrike" dirty="0">
                <a:solidFill>
                  <a:schemeClr val="accent2"/>
                </a:solidFill>
              </a:rPr>
              <a:t>Dommer</a:t>
            </a:r>
            <a:endParaRPr lang="en-US" sz="3000" dirty="0"/>
          </a:p>
        </p:txBody>
      </p:sp>
      <p:sp>
        <p:nvSpPr>
          <p:cNvPr id="17" name="Text 15"/>
          <p:cNvSpPr txBox="1"/>
          <p:nvPr/>
        </p:nvSpPr>
        <p:spPr>
          <a:xfrm>
            <a:off x="6446520" y="5468112"/>
            <a:ext cx="4937760" cy="365760"/>
          </a:xfrm>
          <a:prstGeom prst="rect">
            <a:avLst/>
          </a:prstGeom>
          <a:noFill/>
          <a:ln/>
        </p:spPr>
        <p:txBody>
          <a:bodyPr wrap="square" lIns="0" tIns="0" rIns="0" bIns="0" rtlCol="0" anchor="t"/>
          <a:lstStyle/>
          <a:p>
            <a:pPr indent="0" marL="0">
              <a:buNone/>
            </a:pPr>
            <a:r>
              <a:rPr lang="en-US" sz="1600" dirty="0">
                <a:solidFill>
                  <a:schemeClr val="accent2"/>
                </a:solidFill>
              </a:rPr>
              <a:t>afgør, hvad der er rigtigt</a:t>
            </a:r>
            <a:endParaRPr lang="en-US" sz="1600" dirty="0"/>
          </a:p>
        </p:txBody>
      </p:sp>
      <p:sp>
        <p:nvSpPr>
          <p:cNvPr id="18" name="Shape 16"/>
          <p:cNvSpPr/>
          <p:nvPr/>
        </p:nvSpPr>
        <p:spPr>
          <a:xfrm>
            <a:off x="6035040" y="2377440"/>
            <a:ext cx="0" cy="3520440"/>
          </a:xfrm>
          <a:prstGeom prst="line">
            <a:avLst/>
          </a:prstGeom>
          <a:noFill/>
          <a:ln w="12700">
            <a:solidFill>
              <a:schemeClr val="accent4"/>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LIVE DEMO  ·  MIN KANDIDAT</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Jeg skriver selv. </a:t>
            </a:r>
            <a:pPr algn="l" indent="0" marL="0">
              <a:lnSpc>
                <a:spcPct val="93000"/>
              </a:lnSpc>
              <a:buNone/>
            </a:pPr>
            <a:r>
              <a:rPr lang="en-US" sz="3400" b="1" dirty="0">
                <a:solidFill>
                  <a:schemeClr val="accent1"/>
                </a:solidFill>
              </a:rPr>
              <a:t>Claude stiller spørgsmålene</a:t>
            </a:r>
            <a:endParaRPr lang="en-US" sz="3400" dirty="0"/>
          </a:p>
        </p:txBody>
      </p:sp>
      <p:sp>
        <p:nvSpPr>
          <p:cNvPr id="4" name="Shape 2"/>
          <p:cNvSpPr/>
          <p:nvPr/>
        </p:nvSpPr>
        <p:spPr>
          <a:xfrm>
            <a:off x="685800" y="2514600"/>
            <a:ext cx="329184" cy="329184"/>
          </a:xfrm>
          <a:prstGeom prst="ellipse">
            <a:avLst/>
          </a:prstGeom>
          <a:solidFill>
            <a:schemeClr val="accent1"/>
          </a:solidFill>
          <a:ln w="12700">
            <a:solidFill>
              <a:schemeClr val="accent1"/>
            </a:solidFill>
            <a:prstDash val="solid"/>
          </a:ln>
        </p:spPr>
      </p:sp>
      <p:sp>
        <p:nvSpPr>
          <p:cNvPr id="5" name="Text 3"/>
          <p:cNvSpPr txBox="1"/>
          <p:nvPr/>
        </p:nvSpPr>
        <p:spPr>
          <a:xfrm>
            <a:off x="685800" y="251917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234440" y="2487168"/>
            <a:ext cx="3291840" cy="822960"/>
          </a:xfrm>
          <a:prstGeom prst="rect">
            <a:avLst/>
          </a:prstGeom>
          <a:noFill/>
          <a:ln/>
        </p:spPr>
        <p:txBody>
          <a:bodyPr wrap="square" lIns="0" tIns="0" rIns="0" bIns="0" rtlCol="0" anchor="t"/>
          <a:lstStyle/>
          <a:p>
            <a:pPr indent="0" marL="0">
              <a:buNone/>
            </a:pPr>
            <a:r>
              <a:rPr lang="en-US" sz="1700" dirty="0">
                <a:solidFill>
                  <a:schemeClr val="tx1"/>
                </a:solidFill>
              </a:rPr>
              <a:t>Pensum, noter og opgavekrav ligger i projektet som viden</a:t>
            </a:r>
            <a:endParaRPr lang="en-US" sz="1700" dirty="0"/>
          </a:p>
        </p:txBody>
      </p:sp>
      <p:sp>
        <p:nvSpPr>
          <p:cNvPr id="7" name="Shape 5"/>
          <p:cNvSpPr/>
          <p:nvPr/>
        </p:nvSpPr>
        <p:spPr>
          <a:xfrm>
            <a:off x="685800" y="3566160"/>
            <a:ext cx="329184" cy="329184"/>
          </a:xfrm>
          <a:prstGeom prst="ellipse">
            <a:avLst/>
          </a:prstGeom>
          <a:solidFill>
            <a:schemeClr val="accent1"/>
          </a:solidFill>
          <a:ln w="12700">
            <a:solidFill>
              <a:schemeClr val="accent1"/>
            </a:solidFill>
            <a:prstDash val="solid"/>
          </a:ln>
        </p:spPr>
      </p:sp>
      <p:sp>
        <p:nvSpPr>
          <p:cNvPr id="8" name="Text 6"/>
          <p:cNvSpPr txBox="1"/>
          <p:nvPr/>
        </p:nvSpPr>
        <p:spPr>
          <a:xfrm>
            <a:off x="685800" y="357073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1234440" y="3538728"/>
            <a:ext cx="3291840" cy="822960"/>
          </a:xfrm>
          <a:prstGeom prst="rect">
            <a:avLst/>
          </a:prstGeom>
          <a:noFill/>
          <a:ln/>
        </p:spPr>
        <p:txBody>
          <a:bodyPr wrap="square" lIns="0" tIns="0" rIns="0" bIns="0" rtlCol="0" anchor="t"/>
          <a:lstStyle/>
          <a:p>
            <a:pPr indent="0" marL="0">
              <a:buNone/>
            </a:pPr>
            <a:r>
              <a:rPr lang="en-US" sz="1700" dirty="0">
                <a:solidFill>
                  <a:schemeClr val="tx1"/>
                </a:solidFill>
              </a:rPr>
              <a:t>Claude stiller spørgsmålene. Jeg svarer</a:t>
            </a:r>
            <a:endParaRPr lang="en-US" sz="1700" dirty="0"/>
          </a:p>
        </p:txBody>
      </p:sp>
      <p:sp>
        <p:nvSpPr>
          <p:cNvPr id="10" name="Shape 8"/>
          <p:cNvSpPr/>
          <p:nvPr/>
        </p:nvSpPr>
        <p:spPr>
          <a:xfrm>
            <a:off x="685800" y="4617720"/>
            <a:ext cx="329184" cy="329184"/>
          </a:xfrm>
          <a:prstGeom prst="ellipse">
            <a:avLst/>
          </a:prstGeom>
          <a:solidFill>
            <a:schemeClr val="accent1"/>
          </a:solidFill>
          <a:ln w="12700">
            <a:solidFill>
              <a:schemeClr val="accent1"/>
            </a:solidFill>
            <a:prstDash val="solid"/>
          </a:ln>
        </p:spPr>
      </p:sp>
      <p:sp>
        <p:nvSpPr>
          <p:cNvPr id="11" name="Text 9"/>
          <p:cNvSpPr txBox="1"/>
          <p:nvPr/>
        </p:nvSpPr>
        <p:spPr>
          <a:xfrm>
            <a:off x="685800" y="462229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10"/>
          <p:cNvSpPr txBox="1"/>
          <p:nvPr/>
        </p:nvSpPr>
        <p:spPr>
          <a:xfrm>
            <a:off x="1234440" y="4590288"/>
            <a:ext cx="3291840" cy="822960"/>
          </a:xfrm>
          <a:prstGeom prst="rect">
            <a:avLst/>
          </a:prstGeom>
          <a:noFill/>
          <a:ln/>
        </p:spPr>
        <p:txBody>
          <a:bodyPr wrap="square" lIns="0" tIns="0" rIns="0" bIns="0" rtlCol="0" anchor="t"/>
          <a:lstStyle/>
          <a:p>
            <a:pPr indent="0" marL="0">
              <a:buNone/>
            </a:pPr>
            <a:r>
              <a:rPr lang="en-US" sz="1700" dirty="0">
                <a:solidFill>
                  <a:schemeClr val="tx1"/>
                </a:solidFill>
              </a:rPr>
              <a:t>Feedback på mit eget afsnit. Ingen omskrivning</a:t>
            </a:r>
            <a:endParaRPr lang="en-US" sz="1700" dirty="0"/>
          </a:p>
        </p:txBody>
      </p:sp>
      <p:sp>
        <p:nvSpPr>
          <p:cNvPr id="13" name="Shape 11"/>
          <p:cNvSpPr/>
          <p:nvPr/>
        </p:nvSpPr>
        <p:spPr>
          <a:xfrm>
            <a:off x="4800600" y="2240280"/>
            <a:ext cx="6702552" cy="3977640"/>
          </a:xfrm>
          <a:prstGeom prst="roundRect">
            <a:avLst>
              <a:gd name="adj" fmla="val 2299"/>
            </a:avLst>
          </a:prstGeom>
          <a:solidFill>
            <a:srgbClr val="FFFFFF"/>
          </a:solidFill>
          <a:ln w="12700">
            <a:solidFill>
              <a:srgbClr val="D2D2D7"/>
            </a:solidFill>
            <a:prstDash val="solid"/>
          </a:ln>
        </p:spPr>
      </p:sp>
      <p:sp>
        <p:nvSpPr>
          <p:cNvPr id="14" name="Shape 12"/>
          <p:cNvSpPr/>
          <p:nvPr/>
        </p:nvSpPr>
        <p:spPr>
          <a:xfrm>
            <a:off x="4818888" y="2697480"/>
            <a:ext cx="1965960" cy="3474720"/>
          </a:xfrm>
          <a:prstGeom prst="rect">
            <a:avLst/>
          </a:prstGeom>
          <a:solidFill>
            <a:srgbClr val="F5F5F7"/>
          </a:solidFill>
          <a:ln w="12700">
            <a:solidFill>
              <a:srgbClr val="F5F5F7"/>
            </a:solidFill>
            <a:prstDash val="solid"/>
          </a:ln>
        </p:spPr>
      </p:sp>
      <p:sp>
        <p:nvSpPr>
          <p:cNvPr id="15" name="Shape 13"/>
          <p:cNvSpPr/>
          <p:nvPr/>
        </p:nvSpPr>
        <p:spPr>
          <a:xfrm>
            <a:off x="4800600" y="2697480"/>
            <a:ext cx="6702552" cy="0"/>
          </a:xfrm>
          <a:prstGeom prst="line">
            <a:avLst/>
          </a:prstGeom>
          <a:noFill/>
          <a:ln w="9525">
            <a:solidFill>
              <a:schemeClr val="accent4"/>
            </a:solidFill>
            <a:prstDash val="solid"/>
          </a:ln>
        </p:spPr>
      </p:sp>
      <p:sp>
        <p:nvSpPr>
          <p:cNvPr id="16" name="Shape 14"/>
          <p:cNvSpPr/>
          <p:nvPr/>
        </p:nvSpPr>
        <p:spPr>
          <a:xfrm>
            <a:off x="4983480" y="2414016"/>
            <a:ext cx="109728" cy="109728"/>
          </a:xfrm>
          <a:prstGeom prst="ellipse">
            <a:avLst/>
          </a:prstGeom>
          <a:solidFill>
            <a:schemeClr val="accent4"/>
          </a:solidFill>
          <a:ln w="12700">
            <a:solidFill>
              <a:schemeClr val="accent4"/>
            </a:solidFill>
            <a:prstDash val="solid"/>
          </a:ln>
        </p:spPr>
      </p:sp>
      <p:sp>
        <p:nvSpPr>
          <p:cNvPr id="17" name="Shape 15"/>
          <p:cNvSpPr/>
          <p:nvPr/>
        </p:nvSpPr>
        <p:spPr>
          <a:xfrm>
            <a:off x="5166360" y="2414016"/>
            <a:ext cx="109728" cy="109728"/>
          </a:xfrm>
          <a:prstGeom prst="ellipse">
            <a:avLst/>
          </a:prstGeom>
          <a:solidFill>
            <a:schemeClr val="accent4"/>
          </a:solidFill>
          <a:ln w="12700">
            <a:solidFill>
              <a:schemeClr val="accent4"/>
            </a:solidFill>
            <a:prstDash val="solid"/>
          </a:ln>
        </p:spPr>
      </p:sp>
      <p:sp>
        <p:nvSpPr>
          <p:cNvPr id="18" name="Shape 16"/>
          <p:cNvSpPr/>
          <p:nvPr/>
        </p:nvSpPr>
        <p:spPr>
          <a:xfrm>
            <a:off x="5349240" y="2414016"/>
            <a:ext cx="109728" cy="109728"/>
          </a:xfrm>
          <a:prstGeom prst="ellipse">
            <a:avLst/>
          </a:prstGeom>
          <a:solidFill>
            <a:schemeClr val="accent4"/>
          </a:solidFill>
          <a:ln w="12700">
            <a:solidFill>
              <a:schemeClr val="accent4"/>
            </a:solidFill>
            <a:prstDash val="solid"/>
          </a:ln>
        </p:spPr>
      </p:sp>
      <p:sp>
        <p:nvSpPr>
          <p:cNvPr id="19" name="Text 17"/>
          <p:cNvSpPr txBox="1"/>
          <p:nvPr/>
        </p:nvSpPr>
        <p:spPr>
          <a:xfrm>
            <a:off x="5029200" y="2898648"/>
            <a:ext cx="1645920" cy="228600"/>
          </a:xfrm>
          <a:prstGeom prst="rect">
            <a:avLst/>
          </a:prstGeom>
          <a:noFill/>
          <a:ln/>
        </p:spPr>
        <p:txBody>
          <a:bodyPr wrap="square" lIns="0" tIns="0" rIns="0" bIns="0" rtlCol="0" anchor="t"/>
          <a:lstStyle/>
          <a:p>
            <a:pPr indent="0" marL="0">
              <a:buNone/>
            </a:pPr>
            <a:r>
              <a:rPr lang="en-US" sz="1000" b="1" spc="200" kern="0" dirty="0">
                <a:solidFill>
                  <a:schemeClr val="accent2"/>
                </a:solidFill>
              </a:rPr>
              <a:t>PROJEKT</a:t>
            </a:r>
            <a:endParaRPr lang="en-US" sz="1000" dirty="0"/>
          </a:p>
        </p:txBody>
      </p:sp>
      <p:sp>
        <p:nvSpPr>
          <p:cNvPr id="20" name="Text 18"/>
          <p:cNvSpPr txBox="1"/>
          <p:nvPr/>
        </p:nvSpPr>
        <p:spPr>
          <a:xfrm>
            <a:off x="5029200" y="3136392"/>
            <a:ext cx="1737360" cy="320040"/>
          </a:xfrm>
          <a:prstGeom prst="rect">
            <a:avLst/>
          </a:prstGeom>
          <a:noFill/>
          <a:ln/>
        </p:spPr>
        <p:txBody>
          <a:bodyPr wrap="square" lIns="0" tIns="0" rIns="0" bIns="0" rtlCol="0" anchor="t"/>
          <a:lstStyle/>
          <a:p>
            <a:pPr indent="0" marL="0">
              <a:buNone/>
            </a:pPr>
            <a:r>
              <a:rPr lang="en-US" sz="1400" b="1" dirty="0">
                <a:solidFill>
                  <a:schemeClr val="tx1"/>
                </a:solidFill>
              </a:rPr>
              <a:t>Webformidling</a:t>
            </a:r>
            <a:endParaRPr lang="en-US" sz="1400" dirty="0"/>
          </a:p>
        </p:txBody>
      </p:sp>
      <p:sp>
        <p:nvSpPr>
          <p:cNvPr id="21" name="Shape 19"/>
          <p:cNvSpPr/>
          <p:nvPr/>
        </p:nvSpPr>
        <p:spPr>
          <a:xfrm>
            <a:off x="5047488" y="3721608"/>
            <a:ext cx="164592" cy="219456"/>
          </a:xfrm>
          <a:prstGeom prst="roundRect">
            <a:avLst>
              <a:gd name="adj" fmla="val 16667"/>
            </a:avLst>
          </a:prstGeom>
          <a:solidFill>
            <a:srgbClr val="FFFFFF"/>
          </a:solidFill>
          <a:ln w="9525">
            <a:solidFill>
              <a:srgbClr val="D2D2D7"/>
            </a:solidFill>
            <a:prstDash val="solid"/>
          </a:ln>
        </p:spPr>
      </p:sp>
      <p:sp>
        <p:nvSpPr>
          <p:cNvPr id="22" name="Text 20"/>
          <p:cNvSpPr txBox="1"/>
          <p:nvPr/>
        </p:nvSpPr>
        <p:spPr>
          <a:xfrm>
            <a:off x="5330952" y="3703320"/>
            <a:ext cx="1371600" cy="274320"/>
          </a:xfrm>
          <a:prstGeom prst="rect">
            <a:avLst/>
          </a:prstGeom>
          <a:noFill/>
          <a:ln/>
        </p:spPr>
        <p:txBody>
          <a:bodyPr wrap="square" lIns="0" tIns="0" rIns="0" bIns="0" rtlCol="0" anchor="t"/>
          <a:lstStyle/>
          <a:p>
            <a:pPr indent="0" marL="0">
              <a:buNone/>
            </a:pPr>
            <a:r>
              <a:rPr lang="en-US" sz="1300" dirty="0">
                <a:solidFill>
                  <a:schemeClr val="tx1"/>
                </a:solidFill>
              </a:rPr>
              <a:t>Pensum</a:t>
            </a:r>
            <a:endParaRPr lang="en-US" sz="1300" dirty="0"/>
          </a:p>
        </p:txBody>
      </p:sp>
      <p:sp>
        <p:nvSpPr>
          <p:cNvPr id="23" name="Shape 21"/>
          <p:cNvSpPr/>
          <p:nvPr/>
        </p:nvSpPr>
        <p:spPr>
          <a:xfrm>
            <a:off x="5047488" y="4160520"/>
            <a:ext cx="164592" cy="219456"/>
          </a:xfrm>
          <a:prstGeom prst="roundRect">
            <a:avLst>
              <a:gd name="adj" fmla="val 16667"/>
            </a:avLst>
          </a:prstGeom>
          <a:solidFill>
            <a:srgbClr val="FFFFFF"/>
          </a:solidFill>
          <a:ln w="9525">
            <a:solidFill>
              <a:srgbClr val="D2D2D7"/>
            </a:solidFill>
            <a:prstDash val="solid"/>
          </a:ln>
        </p:spPr>
      </p:sp>
      <p:sp>
        <p:nvSpPr>
          <p:cNvPr id="24" name="Text 22"/>
          <p:cNvSpPr txBox="1"/>
          <p:nvPr/>
        </p:nvSpPr>
        <p:spPr>
          <a:xfrm>
            <a:off x="5330952" y="4142232"/>
            <a:ext cx="1371600" cy="274320"/>
          </a:xfrm>
          <a:prstGeom prst="rect">
            <a:avLst/>
          </a:prstGeom>
          <a:noFill/>
          <a:ln/>
        </p:spPr>
        <p:txBody>
          <a:bodyPr wrap="square" lIns="0" tIns="0" rIns="0" bIns="0" rtlCol="0" anchor="t"/>
          <a:lstStyle/>
          <a:p>
            <a:pPr indent="0" marL="0">
              <a:buNone/>
            </a:pPr>
            <a:r>
              <a:rPr lang="en-US" sz="1300" dirty="0">
                <a:solidFill>
                  <a:schemeClr val="tx1"/>
                </a:solidFill>
              </a:rPr>
              <a:t>Noter</a:t>
            </a:r>
            <a:endParaRPr lang="en-US" sz="1300" dirty="0"/>
          </a:p>
        </p:txBody>
      </p:sp>
      <p:sp>
        <p:nvSpPr>
          <p:cNvPr id="25" name="Shape 23"/>
          <p:cNvSpPr/>
          <p:nvPr/>
        </p:nvSpPr>
        <p:spPr>
          <a:xfrm>
            <a:off x="5047488" y="4599432"/>
            <a:ext cx="164592" cy="219456"/>
          </a:xfrm>
          <a:prstGeom prst="roundRect">
            <a:avLst>
              <a:gd name="adj" fmla="val 16667"/>
            </a:avLst>
          </a:prstGeom>
          <a:solidFill>
            <a:srgbClr val="FFFFFF"/>
          </a:solidFill>
          <a:ln w="9525">
            <a:solidFill>
              <a:srgbClr val="D2D2D7"/>
            </a:solidFill>
            <a:prstDash val="solid"/>
          </a:ln>
        </p:spPr>
      </p:sp>
      <p:sp>
        <p:nvSpPr>
          <p:cNvPr id="26" name="Text 24"/>
          <p:cNvSpPr txBox="1"/>
          <p:nvPr/>
        </p:nvSpPr>
        <p:spPr>
          <a:xfrm>
            <a:off x="5330952" y="4581144"/>
            <a:ext cx="1371600" cy="274320"/>
          </a:xfrm>
          <a:prstGeom prst="rect">
            <a:avLst/>
          </a:prstGeom>
          <a:noFill/>
          <a:ln/>
        </p:spPr>
        <p:txBody>
          <a:bodyPr wrap="square" lIns="0" tIns="0" rIns="0" bIns="0" rtlCol="0" anchor="t"/>
          <a:lstStyle/>
          <a:p>
            <a:pPr indent="0" marL="0">
              <a:buNone/>
            </a:pPr>
            <a:r>
              <a:rPr lang="en-US" sz="1300" dirty="0">
                <a:solidFill>
                  <a:schemeClr val="tx1"/>
                </a:solidFill>
              </a:rPr>
              <a:t>Opgavekrav</a:t>
            </a:r>
            <a:endParaRPr lang="en-US" sz="1300" dirty="0"/>
          </a:p>
        </p:txBody>
      </p:sp>
      <p:sp>
        <p:nvSpPr>
          <p:cNvPr id="27" name="Shape 25"/>
          <p:cNvSpPr/>
          <p:nvPr/>
        </p:nvSpPr>
        <p:spPr>
          <a:xfrm>
            <a:off x="6355080" y="3703320"/>
            <a:ext cx="329184" cy="329184"/>
          </a:xfrm>
          <a:prstGeom prst="ellipse">
            <a:avLst/>
          </a:prstGeom>
          <a:solidFill>
            <a:schemeClr val="accent1"/>
          </a:solidFill>
          <a:ln w="12700">
            <a:solidFill>
              <a:schemeClr val="accent1"/>
            </a:solidFill>
            <a:prstDash val="solid"/>
          </a:ln>
        </p:spPr>
      </p:sp>
      <p:sp>
        <p:nvSpPr>
          <p:cNvPr id="28" name="Text 26"/>
          <p:cNvSpPr txBox="1"/>
          <p:nvPr/>
        </p:nvSpPr>
        <p:spPr>
          <a:xfrm>
            <a:off x="6355080" y="370789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9" name="Shape 27"/>
          <p:cNvSpPr/>
          <p:nvPr/>
        </p:nvSpPr>
        <p:spPr>
          <a:xfrm>
            <a:off x="7936992" y="2971800"/>
            <a:ext cx="3291840" cy="502920"/>
          </a:xfrm>
          <a:prstGeom prst="roundRect">
            <a:avLst>
              <a:gd name="adj" fmla="val 36364"/>
            </a:avLst>
          </a:prstGeom>
          <a:solidFill>
            <a:srgbClr val="1D1D1F"/>
          </a:solidFill>
          <a:ln w="12700">
            <a:solidFill>
              <a:srgbClr val="1D1D1F"/>
            </a:solidFill>
            <a:prstDash val="solid"/>
          </a:ln>
        </p:spPr>
      </p:sp>
      <p:sp>
        <p:nvSpPr>
          <p:cNvPr id="30" name="Text 28"/>
          <p:cNvSpPr txBox="1"/>
          <p:nvPr/>
        </p:nvSpPr>
        <p:spPr>
          <a:xfrm>
            <a:off x="8074152" y="2971800"/>
            <a:ext cx="3108960" cy="502920"/>
          </a:xfrm>
          <a:prstGeom prst="rect">
            <a:avLst/>
          </a:prstGeom>
          <a:noFill/>
          <a:ln/>
        </p:spPr>
        <p:txBody>
          <a:bodyPr wrap="square" lIns="0" tIns="0" rIns="0" bIns="0" rtlCol="0" anchor="ctr"/>
          <a:lstStyle/>
          <a:p>
            <a:pPr indent="0" marL="0">
              <a:buNone/>
            </a:pPr>
            <a:r>
              <a:rPr lang="en-US" sz="1300" dirty="0">
                <a:solidFill>
                  <a:schemeClr val="bg1"/>
                </a:solidFill>
              </a:rPr>
              <a:t>Stil mig tre spørgsmål til teksten.</a:t>
            </a:r>
            <a:endParaRPr lang="en-US" sz="1300" dirty="0"/>
          </a:p>
        </p:txBody>
      </p:sp>
      <p:sp>
        <p:nvSpPr>
          <p:cNvPr id="31" name="Shape 29"/>
          <p:cNvSpPr/>
          <p:nvPr/>
        </p:nvSpPr>
        <p:spPr>
          <a:xfrm>
            <a:off x="7525512" y="3044952"/>
            <a:ext cx="329184" cy="329184"/>
          </a:xfrm>
          <a:prstGeom prst="ellipse">
            <a:avLst/>
          </a:prstGeom>
          <a:solidFill>
            <a:schemeClr val="accent1"/>
          </a:solidFill>
          <a:ln w="12700">
            <a:solidFill>
              <a:schemeClr val="accent1"/>
            </a:solidFill>
            <a:prstDash val="solid"/>
          </a:ln>
        </p:spPr>
      </p:sp>
      <p:sp>
        <p:nvSpPr>
          <p:cNvPr id="32" name="Text 30"/>
          <p:cNvSpPr txBox="1"/>
          <p:nvPr/>
        </p:nvSpPr>
        <p:spPr>
          <a:xfrm>
            <a:off x="7525512" y="304952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3" name="Text 31"/>
          <p:cNvSpPr txBox="1"/>
          <p:nvPr/>
        </p:nvSpPr>
        <p:spPr>
          <a:xfrm>
            <a:off x="7086600" y="3721608"/>
            <a:ext cx="228600" cy="274320"/>
          </a:xfrm>
          <a:prstGeom prst="rect">
            <a:avLst/>
          </a:prstGeom>
          <a:noFill/>
          <a:ln/>
        </p:spPr>
        <p:txBody>
          <a:bodyPr wrap="square" lIns="0" tIns="0" rIns="0" bIns="0" rtlCol="0" anchor="t"/>
          <a:lstStyle/>
          <a:p>
            <a:pPr indent="0" marL="0">
              <a:buNone/>
            </a:pPr>
            <a:r>
              <a:rPr lang="en-US" sz="1200" b="1" dirty="0">
                <a:solidFill>
                  <a:schemeClr val="accent2"/>
                </a:solidFill>
              </a:rPr>
              <a:t>1</a:t>
            </a:r>
            <a:endParaRPr lang="en-US" sz="1200" dirty="0"/>
          </a:p>
        </p:txBody>
      </p:sp>
      <p:sp>
        <p:nvSpPr>
          <p:cNvPr id="34" name="Shape 32"/>
          <p:cNvSpPr/>
          <p:nvPr/>
        </p:nvSpPr>
        <p:spPr>
          <a:xfrm>
            <a:off x="7360920" y="3813048"/>
            <a:ext cx="3566160" cy="100584"/>
          </a:xfrm>
          <a:prstGeom prst="roundRect">
            <a:avLst>
              <a:gd name="adj" fmla="val 45455"/>
            </a:avLst>
          </a:prstGeom>
          <a:solidFill>
            <a:srgbClr val="E8E8ED"/>
          </a:solidFill>
          <a:ln w="12700">
            <a:solidFill>
              <a:srgbClr val="E8E8ED"/>
            </a:solidFill>
            <a:prstDash val="solid"/>
          </a:ln>
        </p:spPr>
      </p:sp>
      <p:sp>
        <p:nvSpPr>
          <p:cNvPr id="35" name="Text 33"/>
          <p:cNvSpPr txBox="1"/>
          <p:nvPr/>
        </p:nvSpPr>
        <p:spPr>
          <a:xfrm>
            <a:off x="7086600" y="4105656"/>
            <a:ext cx="228600" cy="274320"/>
          </a:xfrm>
          <a:prstGeom prst="rect">
            <a:avLst/>
          </a:prstGeom>
          <a:noFill/>
          <a:ln/>
        </p:spPr>
        <p:txBody>
          <a:bodyPr wrap="square" lIns="0" tIns="0" rIns="0" bIns="0" rtlCol="0" anchor="t"/>
          <a:lstStyle/>
          <a:p>
            <a:pPr indent="0" marL="0">
              <a:buNone/>
            </a:pPr>
            <a:r>
              <a:rPr lang="en-US" sz="1200" b="1" dirty="0">
                <a:solidFill>
                  <a:schemeClr val="accent2"/>
                </a:solidFill>
              </a:rPr>
              <a:t>2</a:t>
            </a:r>
            <a:endParaRPr lang="en-US" sz="1200" dirty="0"/>
          </a:p>
        </p:txBody>
      </p:sp>
      <p:sp>
        <p:nvSpPr>
          <p:cNvPr id="36" name="Shape 34"/>
          <p:cNvSpPr/>
          <p:nvPr/>
        </p:nvSpPr>
        <p:spPr>
          <a:xfrm>
            <a:off x="7360920" y="4197096"/>
            <a:ext cx="3017520" cy="100584"/>
          </a:xfrm>
          <a:prstGeom prst="roundRect">
            <a:avLst>
              <a:gd name="adj" fmla="val 45455"/>
            </a:avLst>
          </a:prstGeom>
          <a:solidFill>
            <a:srgbClr val="E8E8ED"/>
          </a:solidFill>
          <a:ln w="12700">
            <a:solidFill>
              <a:srgbClr val="E8E8ED"/>
            </a:solidFill>
            <a:prstDash val="solid"/>
          </a:ln>
        </p:spPr>
      </p:sp>
      <p:sp>
        <p:nvSpPr>
          <p:cNvPr id="37" name="Text 35"/>
          <p:cNvSpPr txBox="1"/>
          <p:nvPr/>
        </p:nvSpPr>
        <p:spPr>
          <a:xfrm>
            <a:off x="7086600" y="4489704"/>
            <a:ext cx="228600" cy="274320"/>
          </a:xfrm>
          <a:prstGeom prst="rect">
            <a:avLst/>
          </a:prstGeom>
          <a:noFill/>
          <a:ln/>
        </p:spPr>
        <p:txBody>
          <a:bodyPr wrap="square" lIns="0" tIns="0" rIns="0" bIns="0" rtlCol="0" anchor="t"/>
          <a:lstStyle/>
          <a:p>
            <a:pPr indent="0" marL="0">
              <a:buNone/>
            </a:pPr>
            <a:r>
              <a:rPr lang="en-US" sz="1200" b="1" dirty="0">
                <a:solidFill>
                  <a:schemeClr val="accent2"/>
                </a:solidFill>
              </a:rPr>
              <a:t>3</a:t>
            </a:r>
            <a:endParaRPr lang="en-US" sz="1200" dirty="0"/>
          </a:p>
        </p:txBody>
      </p:sp>
      <p:sp>
        <p:nvSpPr>
          <p:cNvPr id="38" name="Shape 36"/>
          <p:cNvSpPr/>
          <p:nvPr/>
        </p:nvSpPr>
        <p:spPr>
          <a:xfrm>
            <a:off x="7360920" y="4581144"/>
            <a:ext cx="3383280" cy="100584"/>
          </a:xfrm>
          <a:prstGeom prst="roundRect">
            <a:avLst>
              <a:gd name="adj" fmla="val 45455"/>
            </a:avLst>
          </a:prstGeom>
          <a:solidFill>
            <a:srgbClr val="E8E8ED"/>
          </a:solidFill>
          <a:ln w="12700">
            <a:solidFill>
              <a:srgbClr val="E8E8ED"/>
            </a:solidFill>
            <a:prstDash val="solid"/>
          </a:ln>
        </p:spPr>
      </p:sp>
      <p:sp>
        <p:nvSpPr>
          <p:cNvPr id="39" name="Shape 37"/>
          <p:cNvSpPr/>
          <p:nvPr/>
        </p:nvSpPr>
        <p:spPr>
          <a:xfrm>
            <a:off x="7662672" y="5029200"/>
            <a:ext cx="3566160" cy="502920"/>
          </a:xfrm>
          <a:prstGeom prst="roundRect">
            <a:avLst>
              <a:gd name="adj" fmla="val 36364"/>
            </a:avLst>
          </a:prstGeom>
          <a:solidFill>
            <a:srgbClr val="1D1D1F"/>
          </a:solidFill>
          <a:ln w="12700">
            <a:solidFill>
              <a:srgbClr val="1D1D1F"/>
            </a:solidFill>
            <a:prstDash val="solid"/>
          </a:ln>
        </p:spPr>
      </p:sp>
      <p:sp>
        <p:nvSpPr>
          <p:cNvPr id="40" name="Text 38"/>
          <p:cNvSpPr txBox="1"/>
          <p:nvPr/>
        </p:nvSpPr>
        <p:spPr>
          <a:xfrm>
            <a:off x="7799832" y="5029200"/>
            <a:ext cx="3383280" cy="502920"/>
          </a:xfrm>
          <a:prstGeom prst="rect">
            <a:avLst/>
          </a:prstGeom>
          <a:noFill/>
          <a:ln/>
        </p:spPr>
        <p:txBody>
          <a:bodyPr wrap="square" lIns="0" tIns="0" rIns="0" bIns="0" rtlCol="0" anchor="ctr"/>
          <a:lstStyle/>
          <a:p>
            <a:pPr indent="0" marL="0">
              <a:buNone/>
            </a:pPr>
            <a:r>
              <a:rPr lang="en-US" sz="1300" dirty="0">
                <a:solidFill>
                  <a:schemeClr val="bg1"/>
                </a:solidFill>
              </a:rPr>
              <a:t>Giv feedback på mit afsnit. Omskriv det ikke.</a:t>
            </a:r>
            <a:endParaRPr lang="en-US" sz="1300" dirty="0"/>
          </a:p>
        </p:txBody>
      </p:sp>
      <p:sp>
        <p:nvSpPr>
          <p:cNvPr id="41" name="Shape 39"/>
          <p:cNvSpPr/>
          <p:nvPr/>
        </p:nvSpPr>
        <p:spPr>
          <a:xfrm>
            <a:off x="7251192" y="5102352"/>
            <a:ext cx="329184" cy="329184"/>
          </a:xfrm>
          <a:prstGeom prst="ellipse">
            <a:avLst/>
          </a:prstGeom>
          <a:solidFill>
            <a:schemeClr val="accent1"/>
          </a:solidFill>
          <a:ln w="12700">
            <a:solidFill>
              <a:schemeClr val="accent1"/>
            </a:solidFill>
            <a:prstDash val="solid"/>
          </a:ln>
        </p:spPr>
      </p:sp>
      <p:sp>
        <p:nvSpPr>
          <p:cNvPr id="42" name="Text 40"/>
          <p:cNvSpPr txBox="1"/>
          <p:nvPr/>
        </p:nvSpPr>
        <p:spPr>
          <a:xfrm>
            <a:off x="7251192" y="510692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43" name="Shape 41"/>
          <p:cNvSpPr/>
          <p:nvPr/>
        </p:nvSpPr>
        <p:spPr>
          <a:xfrm>
            <a:off x="7086600" y="5733288"/>
            <a:ext cx="2743200" cy="100584"/>
          </a:xfrm>
          <a:prstGeom prst="roundRect">
            <a:avLst>
              <a:gd name="adj" fmla="val 45455"/>
            </a:avLst>
          </a:prstGeom>
          <a:solidFill>
            <a:srgbClr val="E8E8ED"/>
          </a:solidFill>
          <a:ln w="12700">
            <a:solidFill>
              <a:srgbClr val="E8E8ED"/>
            </a:solidFill>
            <a:prstDash val="solid"/>
          </a:ln>
        </p:spPr>
      </p:sp>
      <p:sp>
        <p:nvSpPr>
          <p:cNvPr id="44" name="Shape 42"/>
          <p:cNvSpPr/>
          <p:nvPr/>
        </p:nvSpPr>
        <p:spPr>
          <a:xfrm>
            <a:off x="7086600" y="5961888"/>
            <a:ext cx="2011680" cy="100584"/>
          </a:xfrm>
          <a:prstGeom prst="roundRect">
            <a:avLst>
              <a:gd name="adj" fmla="val 45455"/>
            </a:avLst>
          </a:prstGeom>
          <a:solidFill>
            <a:srgbClr val="E8E8ED"/>
          </a:solidFill>
          <a:ln w="12700">
            <a:solidFill>
              <a:srgbClr val="E8E8ED"/>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LIVE DEMO  ·  TO PROMPTS</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Samme emne. Kun den ene </a:t>
            </a:r>
            <a:pPr algn="l" indent="0" marL="0">
              <a:lnSpc>
                <a:spcPct val="93000"/>
              </a:lnSpc>
              <a:buNone/>
            </a:pPr>
            <a:r>
              <a:rPr lang="en-US" sz="3400" b="1" dirty="0">
                <a:solidFill>
                  <a:schemeClr val="accent1"/>
                </a:solidFill>
              </a:rPr>
              <a:t>gør dig klogere</a:t>
            </a:r>
            <a:endParaRPr lang="en-US" sz="3400" dirty="0"/>
          </a:p>
        </p:txBody>
      </p:sp>
      <p:sp>
        <p:nvSpPr>
          <p:cNvPr id="4" name="Shape 2"/>
          <p:cNvSpPr/>
          <p:nvPr/>
        </p:nvSpPr>
        <p:spPr>
          <a:xfrm>
            <a:off x="685800" y="2377440"/>
            <a:ext cx="4846320" cy="3383280"/>
          </a:xfrm>
          <a:prstGeom prst="roundRect">
            <a:avLst>
              <a:gd name="adj" fmla="val 3784"/>
            </a:avLst>
          </a:prstGeom>
          <a:solidFill>
            <a:srgbClr val="F5F5F7"/>
          </a:solidFill>
          <a:ln w="12700">
            <a:solidFill>
              <a:srgbClr val="F5F5F7"/>
            </a:solidFill>
            <a:prstDash val="solid"/>
          </a:ln>
        </p:spPr>
      </p:sp>
      <p:sp>
        <p:nvSpPr>
          <p:cNvPr id="5" name="Text 3"/>
          <p:cNvSpPr txBox="1"/>
          <p:nvPr/>
        </p:nvSpPr>
        <p:spPr>
          <a:xfrm>
            <a:off x="1097280" y="2788920"/>
            <a:ext cx="40233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SPØGELSESSKRIVEREN</a:t>
            </a:r>
            <a:endParaRPr lang="en-US" sz="1200" dirty="0"/>
          </a:p>
        </p:txBody>
      </p:sp>
      <p:sp>
        <p:nvSpPr>
          <p:cNvPr id="6" name="Text 4"/>
          <p:cNvSpPr txBox="1"/>
          <p:nvPr/>
        </p:nvSpPr>
        <p:spPr>
          <a:xfrm>
            <a:off x="1097280" y="3246120"/>
            <a:ext cx="4023360" cy="2103120"/>
          </a:xfrm>
          <a:prstGeom prst="rect">
            <a:avLst/>
          </a:prstGeom>
          <a:noFill/>
          <a:ln/>
        </p:spPr>
        <p:txBody>
          <a:bodyPr wrap="square" lIns="0" tIns="0" rIns="0" bIns="0" rtlCol="0" anchor="t"/>
          <a:lstStyle/>
          <a:p>
            <a:pPr indent="0" marL="0">
              <a:buNone/>
            </a:pPr>
            <a:r>
              <a:rPr lang="en-US" sz="2400" dirty="0">
                <a:solidFill>
                  <a:schemeClr val="accent2"/>
                </a:solidFill>
              </a:rPr>
              <a:t>“Skriv en opgave om kundeloyalitet i en dansk detailkæde på fem sider.”</a:t>
            </a:r>
            <a:endParaRPr lang="en-US" sz="2400" dirty="0"/>
          </a:p>
        </p:txBody>
      </p:sp>
      <p:sp>
        <p:nvSpPr>
          <p:cNvPr id="7" name="Shape 5"/>
          <p:cNvSpPr/>
          <p:nvPr/>
        </p:nvSpPr>
        <p:spPr>
          <a:xfrm>
            <a:off x="5943600" y="2377440"/>
            <a:ext cx="5562295" cy="3383280"/>
          </a:xfrm>
          <a:prstGeom prst="roundRect">
            <a:avLst>
              <a:gd name="adj" fmla="val 3784"/>
            </a:avLst>
          </a:prstGeom>
          <a:solidFill>
            <a:srgbClr val="1D1D1F"/>
          </a:solidFill>
          <a:ln w="12700">
            <a:solidFill>
              <a:srgbClr val="1D1D1F"/>
            </a:solidFill>
            <a:prstDash val="solid"/>
          </a:ln>
        </p:spPr>
      </p:sp>
      <p:sp>
        <p:nvSpPr>
          <p:cNvPr id="8" name="Text 6"/>
          <p:cNvSpPr txBox="1"/>
          <p:nvPr/>
        </p:nvSpPr>
        <p:spPr>
          <a:xfrm>
            <a:off x="6355080" y="2788920"/>
            <a:ext cx="4739335"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SPARRINGSPARTNEREN</a:t>
            </a:r>
            <a:endParaRPr lang="en-US" sz="1200" dirty="0"/>
          </a:p>
        </p:txBody>
      </p:sp>
      <p:sp>
        <p:nvSpPr>
          <p:cNvPr id="9" name="Text 7"/>
          <p:cNvSpPr txBox="1"/>
          <p:nvPr/>
        </p:nvSpPr>
        <p:spPr>
          <a:xfrm>
            <a:off x="6355080" y="3246120"/>
            <a:ext cx="4739335" cy="2286000"/>
          </a:xfrm>
          <a:prstGeom prst="rect">
            <a:avLst/>
          </a:prstGeom>
          <a:noFill/>
          <a:ln/>
        </p:spPr>
        <p:txBody>
          <a:bodyPr wrap="square" lIns="0" tIns="0" rIns="0" bIns="0" rtlCol="0" anchor="t"/>
          <a:lstStyle/>
          <a:p>
            <a:pPr indent="0" marL="0">
              <a:buNone/>
            </a:pPr>
            <a:r>
              <a:rPr lang="en-US" sz="2400" dirty="0">
                <a:solidFill>
                  <a:schemeClr val="bg1"/>
                </a:solidFill>
              </a:rPr>
              <a:t>“Du er min vejleder. </a:t>
            </a:r>
            <a:pPr indent="0" marL="0">
              <a:buNone/>
            </a:pPr>
            <a:r>
              <a:rPr lang="en-US" sz="2400" dirty="0">
                <a:solidFill>
                  <a:schemeClr val="accent1"/>
                </a:solidFill>
              </a:rPr>
              <a:t>Skriv intet til opgaven.</a:t>
            </a:r>
            <a:pPr indent="0" marL="0">
              <a:buNone/>
            </a:pPr>
            <a:r>
              <a:rPr lang="en-US" sz="2400" dirty="0">
                <a:solidFill>
                  <a:schemeClr val="bg1"/>
                </a:solidFill>
              </a:rPr>
              <a:t> Stil mig ét spørgsmål ad gangen om kundeloyalitet i en dansk detailkæde, indtil min problemformulering holder.”</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KILDEKRITIK</a:t>
            </a:r>
            <a:endParaRPr lang="en-US" sz="1200" dirty="0"/>
          </a:p>
        </p:txBody>
      </p:sp>
      <p:sp>
        <p:nvSpPr>
          <p:cNvPr id="3" name="Text 1"/>
          <p:cNvSpPr txBox="1"/>
          <p:nvPr/>
        </p:nvSpPr>
        <p:spPr>
          <a:xfrm>
            <a:off x="685800" y="1188720"/>
            <a:ext cx="10332720" cy="2377440"/>
          </a:xfrm>
          <a:prstGeom prst="rect">
            <a:avLst/>
          </a:prstGeom>
          <a:noFill/>
          <a:ln/>
        </p:spPr>
        <p:txBody>
          <a:bodyPr wrap="square" lIns="0" tIns="0" rIns="0" bIns="0" rtlCol="0" anchor="b"/>
          <a:lstStyle/>
          <a:p>
            <a:pPr indent="0" marL="0">
              <a:lnSpc>
                <a:spcPct val="95000"/>
              </a:lnSpc>
              <a:buNone/>
            </a:pPr>
            <a:r>
              <a:rPr lang="en-US" sz="5600" b="1" dirty="0">
                <a:solidFill>
                  <a:schemeClr val="tx1"/>
                </a:solidFill>
              </a:rPr>
              <a:t>AI lyder sikker. Det betyder ikke, at den </a:t>
            </a:r>
            <a:pPr indent="0" marL="0">
              <a:lnSpc>
                <a:spcPct val="95000"/>
              </a:lnSpc>
              <a:buNone/>
            </a:pPr>
            <a:r>
              <a:rPr lang="en-US" sz="5600" b="1" dirty="0">
                <a:solidFill>
                  <a:schemeClr val="accent1"/>
                </a:solidFill>
              </a:rPr>
              <a:t>har ret</a:t>
            </a:r>
            <a:pPr indent="0" marL="0">
              <a:lnSpc>
                <a:spcPct val="95000"/>
              </a:lnSpc>
              <a:buNone/>
            </a:pPr>
            <a:r>
              <a:rPr lang="en-US" sz="5600" b="1" dirty="0">
                <a:solidFill>
                  <a:schemeClr val="tx1"/>
                </a:solidFill>
              </a:rPr>
              <a:t>.</a:t>
            </a:r>
            <a:endParaRPr lang="en-US" sz="5600" dirty="0"/>
          </a:p>
        </p:txBody>
      </p:sp>
      <p:sp>
        <p:nvSpPr>
          <p:cNvPr id="4" name="Text 2"/>
          <p:cNvSpPr txBox="1"/>
          <p:nvPr/>
        </p:nvSpPr>
        <p:spPr>
          <a:xfrm>
            <a:off x="685800" y="4069080"/>
            <a:ext cx="54864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HER GEMMER FEJLENE SIG</a:t>
            </a:r>
            <a:endParaRPr lang="en-US" sz="1200" dirty="0"/>
          </a:p>
        </p:txBody>
      </p:sp>
      <p:sp>
        <p:nvSpPr>
          <p:cNvPr id="5" name="Text 3"/>
          <p:cNvSpPr txBox="1"/>
          <p:nvPr/>
        </p:nvSpPr>
        <p:spPr>
          <a:xfrm>
            <a:off x="685800" y="4434840"/>
            <a:ext cx="10820095" cy="548640"/>
          </a:xfrm>
          <a:prstGeom prst="rect">
            <a:avLst/>
          </a:prstGeom>
          <a:noFill/>
          <a:ln/>
        </p:spPr>
        <p:txBody>
          <a:bodyPr wrap="square" lIns="0" tIns="0" rIns="0" bIns="0" rtlCol="0" anchor="t"/>
          <a:lstStyle/>
          <a:p>
            <a:pPr indent="0" marL="0">
              <a:buNone/>
            </a:pPr>
            <a:r>
              <a:rPr lang="en-US" sz="2800" dirty="0">
                <a:solidFill>
                  <a:schemeClr val="tx1"/>
                </a:solidFill>
              </a:rPr>
              <a:t>Tal     </a:t>
            </a:r>
            <a:pPr indent="0" marL="0">
              <a:buNone/>
            </a:pPr>
            <a:r>
              <a:rPr lang="en-US" sz="2800" dirty="0">
                <a:solidFill>
                  <a:schemeClr val="tx1"/>
                </a:solidFill>
              </a:rPr>
              <a:t>Citater     </a:t>
            </a:r>
            <a:pPr indent="0" marL="0">
              <a:buNone/>
            </a:pPr>
            <a:r>
              <a:rPr lang="en-US" sz="2800" dirty="0">
                <a:solidFill>
                  <a:schemeClr val="tx1"/>
                </a:solidFill>
              </a:rPr>
              <a:t>Sidetal     </a:t>
            </a:r>
            <a:pPr indent="0" marL="0">
              <a:buNone/>
            </a:pPr>
            <a:r>
              <a:rPr lang="en-US" sz="2800" dirty="0">
                <a:solidFill>
                  <a:schemeClr val="tx1"/>
                </a:solidFill>
              </a:rPr>
              <a:t>Årstal     </a:t>
            </a:r>
            <a:pPr indent="0" marL="0">
              <a:buNone/>
            </a:pPr>
            <a:r>
              <a:rPr lang="en-US" sz="2800" dirty="0">
                <a:solidFill>
                  <a:schemeClr val="tx1"/>
                </a:solidFill>
              </a:rPr>
              <a:t>Forfattere     </a:t>
            </a:r>
            <a:pPr indent="0" marL="0">
              <a:buNone/>
            </a:pPr>
            <a:r>
              <a:rPr lang="en-US" sz="2800" dirty="0">
                <a:solidFill>
                  <a:schemeClr val="tx1"/>
                </a:solidFill>
              </a:rPr>
              <a:t>Lovgivning</a:t>
            </a:r>
            <a:endParaRPr lang="en-US" sz="2800" dirty="0"/>
          </a:p>
        </p:txBody>
      </p:sp>
      <p:sp>
        <p:nvSpPr>
          <p:cNvPr id="6" name="Text 4"/>
          <p:cNvSpPr txBox="1"/>
          <p:nvPr/>
        </p:nvSpPr>
        <p:spPr>
          <a:xfrm>
            <a:off x="685800" y="5349240"/>
            <a:ext cx="9144000" cy="457200"/>
          </a:xfrm>
          <a:prstGeom prst="rect">
            <a:avLst/>
          </a:prstGeom>
          <a:noFill/>
          <a:ln/>
        </p:spPr>
        <p:txBody>
          <a:bodyPr wrap="square" lIns="0" tIns="0" rIns="0" bIns="0" rtlCol="0" anchor="t"/>
          <a:lstStyle/>
          <a:p>
            <a:pPr indent="0" marL="0">
              <a:buNone/>
            </a:pPr>
            <a:r>
              <a:rPr lang="en-US" sz="2000" dirty="0">
                <a:solidFill>
                  <a:schemeClr val="accent2"/>
                </a:solidFill>
              </a:rPr>
              <a:t>Find originalkilden, og henvis til den. Ikke til AI'en.</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ØVELSE  ·  PARVIS</a:t>
            </a:r>
            <a:endParaRPr lang="en-US" sz="1200" dirty="0"/>
          </a:p>
        </p:txBody>
      </p:sp>
      <p:sp>
        <p:nvSpPr>
          <p:cNvPr id="3" name="Text 1"/>
          <p:cNvSpPr txBox="1"/>
          <p:nvPr/>
        </p:nvSpPr>
        <p:spPr>
          <a:xfrm>
            <a:off x="548640" y="914400"/>
            <a:ext cx="3840480" cy="4754880"/>
          </a:xfrm>
          <a:prstGeom prst="rect">
            <a:avLst/>
          </a:prstGeom>
          <a:noFill/>
          <a:ln/>
        </p:spPr>
        <p:txBody>
          <a:bodyPr wrap="square" lIns="0" tIns="0" rIns="0" bIns="0" rtlCol="0" anchor="ctr"/>
          <a:lstStyle/>
          <a:p>
            <a:pPr indent="0" marL="0">
              <a:buNone/>
            </a:pPr>
            <a:r>
              <a:rPr lang="en-US" sz="32000" b="1" dirty="0">
                <a:solidFill>
                  <a:schemeClr val="accent1"/>
                </a:solidFill>
              </a:rPr>
              <a:t>3</a:t>
            </a:r>
            <a:endParaRPr lang="en-US" sz="32000" dirty="0"/>
          </a:p>
        </p:txBody>
      </p:sp>
      <p:sp>
        <p:nvSpPr>
          <p:cNvPr id="4" name="Text 2"/>
          <p:cNvSpPr txBox="1"/>
          <p:nvPr/>
        </p:nvSpPr>
        <p:spPr>
          <a:xfrm>
            <a:off x="4754880" y="1463040"/>
            <a:ext cx="6675120" cy="2560320"/>
          </a:xfrm>
          <a:prstGeom prst="rect">
            <a:avLst/>
          </a:prstGeom>
          <a:noFill/>
          <a:ln/>
        </p:spPr>
        <p:txBody>
          <a:bodyPr wrap="square" lIns="0" tIns="0" rIns="0" bIns="0" rtlCol="0" anchor="b"/>
          <a:lstStyle/>
          <a:p>
            <a:pPr indent="0" marL="0">
              <a:lnSpc>
                <a:spcPct val="95000"/>
              </a:lnSpc>
              <a:buNone/>
            </a:pPr>
            <a:r>
              <a:rPr lang="en-US" sz="3800" b="1" dirty="0">
                <a:solidFill>
                  <a:schemeClr val="tx1"/>
                </a:solidFill>
              </a:rPr>
              <a:t>Tre fejl gemmer sig i teksten om </a:t>
            </a:r>
            <a:pPr indent="0" marL="0">
              <a:lnSpc>
                <a:spcPct val="95000"/>
              </a:lnSpc>
              <a:buNone/>
            </a:pPr>
            <a:r>
              <a:rPr lang="en-US" sz="3800" b="1" dirty="0">
                <a:solidFill>
                  <a:schemeClr val="accent1"/>
                </a:solidFill>
              </a:rPr>
              <a:t>kundeloyalitet</a:t>
            </a:r>
            <a:pPr indent="0" marL="0">
              <a:lnSpc>
                <a:spcPct val="95000"/>
              </a:lnSpc>
              <a:buNone/>
            </a:pPr>
            <a:r>
              <a:rPr lang="en-US" sz="3800" b="1" dirty="0">
                <a:solidFill>
                  <a:schemeClr val="tx1"/>
                </a:solidFill>
              </a:rPr>
              <a:t>. Find dem</a:t>
            </a:r>
            <a:endParaRPr lang="en-US" sz="3800" dirty="0"/>
          </a:p>
        </p:txBody>
      </p:sp>
      <p:sp>
        <p:nvSpPr>
          <p:cNvPr id="5" name="Text 3"/>
          <p:cNvSpPr txBox="1"/>
          <p:nvPr/>
        </p:nvSpPr>
        <p:spPr>
          <a:xfrm>
            <a:off x="4754880" y="4251960"/>
            <a:ext cx="6035040" cy="914400"/>
          </a:xfrm>
          <a:prstGeom prst="rect">
            <a:avLst/>
          </a:prstGeom>
          <a:noFill/>
          <a:ln/>
        </p:spPr>
        <p:txBody>
          <a:bodyPr wrap="square" lIns="0" tIns="0" rIns="0" bIns="0" rtlCol="0" anchor="t"/>
          <a:lstStyle/>
          <a:p>
            <a:pPr indent="0" marL="0">
              <a:buNone/>
            </a:pPr>
            <a:r>
              <a:rPr lang="en-US" sz="2000" dirty="0">
                <a:solidFill>
                  <a:schemeClr val="accent2"/>
                </a:solidFill>
              </a:rPr>
              <a:t>Sig bagefter, hvordan I tjekkede. Teksten ligner et helt almindeligt AI-svar.</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EKSAMEN</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Kend reglerne, </a:t>
            </a:r>
            <a:pPr algn="l" indent="0" marL="0">
              <a:lnSpc>
                <a:spcPct val="93000"/>
              </a:lnSpc>
              <a:buNone/>
            </a:pPr>
            <a:r>
              <a:rPr lang="en-US" sz="3400" b="1" dirty="0">
                <a:solidFill>
                  <a:schemeClr val="accent1"/>
                </a:solidFill>
              </a:rPr>
              <a:t>før</a:t>
            </a:r>
            <a:pPr algn="l" indent="0" marL="0">
              <a:lnSpc>
                <a:spcPct val="93000"/>
              </a:lnSpc>
              <a:buNone/>
            </a:pPr>
            <a:r>
              <a:rPr lang="en-US" sz="3400" b="1" dirty="0">
                <a:solidFill>
                  <a:schemeClr val="tx1"/>
                </a:solidFill>
              </a:rPr>
              <a:t> du bruger AI til eksamen</a:t>
            </a:r>
            <a:endParaRPr lang="en-US" sz="3400" dirty="0"/>
          </a:p>
        </p:txBody>
      </p:sp>
      <p:sp>
        <p:nvSpPr>
          <p:cNvPr id="4" name="Text 2"/>
          <p:cNvSpPr txBox="1"/>
          <p:nvPr/>
        </p:nvSpPr>
        <p:spPr>
          <a:xfrm>
            <a:off x="685800" y="2514600"/>
            <a:ext cx="914400" cy="548640"/>
          </a:xfrm>
          <a:prstGeom prst="rect">
            <a:avLst/>
          </a:prstGeom>
          <a:noFill/>
          <a:ln/>
        </p:spPr>
        <p:txBody>
          <a:bodyPr wrap="square" lIns="0" tIns="0" rIns="0" bIns="0" rtlCol="0" anchor="t"/>
          <a:lstStyle/>
          <a:p>
            <a:pPr indent="0" marL="0">
              <a:buNone/>
            </a:pPr>
            <a:r>
              <a:rPr lang="en-US" sz="2800" b="1" dirty="0">
                <a:solidFill>
                  <a:schemeClr val="accent1"/>
                </a:solidFill>
              </a:rPr>
              <a:t>01</a:t>
            </a:r>
            <a:endParaRPr lang="en-US" sz="2800" dirty="0"/>
          </a:p>
        </p:txBody>
      </p:sp>
      <p:sp>
        <p:nvSpPr>
          <p:cNvPr id="5" name="Text 3"/>
          <p:cNvSpPr txBox="1"/>
          <p:nvPr/>
        </p:nvSpPr>
        <p:spPr>
          <a:xfrm>
            <a:off x="1783080" y="2560320"/>
            <a:ext cx="9144000" cy="640080"/>
          </a:xfrm>
          <a:prstGeom prst="rect">
            <a:avLst/>
          </a:prstGeom>
          <a:noFill/>
          <a:ln/>
        </p:spPr>
        <p:txBody>
          <a:bodyPr wrap="square" lIns="0" tIns="0" rIns="0" bIns="0" rtlCol="0" anchor="t"/>
          <a:lstStyle/>
          <a:p>
            <a:pPr indent="0" marL="0">
              <a:buNone/>
            </a:pPr>
            <a:r>
              <a:rPr lang="en-US" sz="2400" dirty="0">
                <a:solidFill>
                  <a:schemeClr val="tx1"/>
                </a:solidFill>
              </a:rPr>
              <a:t>Reglerne står i studieordningen og i prøvebeskrivelsen for faget.</a:t>
            </a:r>
            <a:endParaRPr lang="en-US" sz="2400" dirty="0"/>
          </a:p>
        </p:txBody>
      </p:sp>
      <p:sp>
        <p:nvSpPr>
          <p:cNvPr id="6" name="Text 4"/>
          <p:cNvSpPr txBox="1"/>
          <p:nvPr/>
        </p:nvSpPr>
        <p:spPr>
          <a:xfrm>
            <a:off x="685800" y="3611880"/>
            <a:ext cx="914400" cy="548640"/>
          </a:xfrm>
          <a:prstGeom prst="rect">
            <a:avLst/>
          </a:prstGeom>
          <a:noFill/>
          <a:ln/>
        </p:spPr>
        <p:txBody>
          <a:bodyPr wrap="square" lIns="0" tIns="0" rIns="0" bIns="0" rtlCol="0" anchor="t"/>
          <a:lstStyle/>
          <a:p>
            <a:pPr indent="0" marL="0">
              <a:buNone/>
            </a:pPr>
            <a:r>
              <a:rPr lang="en-US" sz="2800" b="1" dirty="0">
                <a:solidFill>
                  <a:schemeClr val="accent1"/>
                </a:solidFill>
              </a:rPr>
              <a:t>02</a:t>
            </a:r>
            <a:endParaRPr lang="en-US" sz="2800" dirty="0"/>
          </a:p>
        </p:txBody>
      </p:sp>
      <p:sp>
        <p:nvSpPr>
          <p:cNvPr id="7" name="Text 5"/>
          <p:cNvSpPr txBox="1"/>
          <p:nvPr/>
        </p:nvSpPr>
        <p:spPr>
          <a:xfrm>
            <a:off x="1783080" y="3657600"/>
            <a:ext cx="9144000" cy="640080"/>
          </a:xfrm>
          <a:prstGeom prst="rect">
            <a:avLst/>
          </a:prstGeom>
          <a:noFill/>
          <a:ln/>
        </p:spPr>
        <p:txBody>
          <a:bodyPr wrap="square" lIns="0" tIns="0" rIns="0" bIns="0" rtlCol="0" anchor="t"/>
          <a:lstStyle/>
          <a:p>
            <a:pPr indent="0" marL="0">
              <a:buNone/>
            </a:pPr>
            <a:r>
              <a:rPr lang="en-US" sz="2400" dirty="0">
                <a:solidFill>
                  <a:schemeClr val="tx1"/>
                </a:solidFill>
              </a:rPr>
              <a:t>Er du i tvivl, så spørg før. Ikke efter.</a:t>
            </a:r>
            <a:endParaRPr lang="en-US" sz="2400" dirty="0"/>
          </a:p>
        </p:txBody>
      </p:sp>
      <p:sp>
        <p:nvSpPr>
          <p:cNvPr id="8" name="Text 6"/>
          <p:cNvSpPr txBox="1"/>
          <p:nvPr/>
        </p:nvSpPr>
        <p:spPr>
          <a:xfrm>
            <a:off x="685800" y="4709160"/>
            <a:ext cx="914400" cy="548640"/>
          </a:xfrm>
          <a:prstGeom prst="rect">
            <a:avLst/>
          </a:prstGeom>
          <a:noFill/>
          <a:ln/>
        </p:spPr>
        <p:txBody>
          <a:bodyPr wrap="square" lIns="0" tIns="0" rIns="0" bIns="0" rtlCol="0" anchor="t"/>
          <a:lstStyle/>
          <a:p>
            <a:pPr indent="0" marL="0">
              <a:buNone/>
            </a:pPr>
            <a:r>
              <a:rPr lang="en-US" sz="2800" b="1" dirty="0">
                <a:solidFill>
                  <a:schemeClr val="accent1"/>
                </a:solidFill>
              </a:rPr>
              <a:t>03</a:t>
            </a:r>
            <a:endParaRPr lang="en-US" sz="2800" dirty="0"/>
          </a:p>
        </p:txBody>
      </p:sp>
      <p:sp>
        <p:nvSpPr>
          <p:cNvPr id="9" name="Text 7"/>
          <p:cNvSpPr txBox="1"/>
          <p:nvPr/>
        </p:nvSpPr>
        <p:spPr>
          <a:xfrm>
            <a:off x="1783080" y="4754880"/>
            <a:ext cx="9144000" cy="640080"/>
          </a:xfrm>
          <a:prstGeom prst="rect">
            <a:avLst/>
          </a:prstGeom>
          <a:noFill/>
          <a:ln/>
        </p:spPr>
        <p:txBody>
          <a:bodyPr wrap="square" lIns="0" tIns="0" rIns="0" bIns="0" rtlCol="0" anchor="t"/>
          <a:lstStyle/>
          <a:p>
            <a:pPr indent="0" marL="0">
              <a:buNone/>
            </a:pPr>
            <a:r>
              <a:rPr lang="en-US" sz="2400" dirty="0">
                <a:solidFill>
                  <a:schemeClr val="tx1"/>
                </a:solidFill>
              </a:rPr>
              <a:t>Gem dine chats, så du kan vise din proces.</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POINTE</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5600" b="1" dirty="0">
                <a:solidFill>
                  <a:schemeClr val="tx1"/>
                </a:solidFill>
              </a:rPr>
              <a:t>Du kan kun fange AI's fejl i noget, du </a:t>
            </a:r>
            <a:pPr indent="0" marL="0">
              <a:lnSpc>
                <a:spcPct val="95000"/>
              </a:lnSpc>
              <a:buNone/>
            </a:pPr>
            <a:r>
              <a:rPr lang="en-US" sz="5600" b="1" dirty="0">
                <a:solidFill>
                  <a:schemeClr val="accent1"/>
                </a:solidFill>
              </a:rPr>
              <a:t>selv forstår</a:t>
            </a:r>
            <a:pPr indent="0" marL="0">
              <a:lnSpc>
                <a:spcPct val="95000"/>
              </a:lnSpc>
              <a:buNone/>
            </a:pPr>
            <a:r>
              <a:rPr lang="en-US" sz="5600" b="1" dirty="0">
                <a:solidFill>
                  <a:schemeClr val="tx1"/>
                </a:solidFill>
              </a:rPr>
              <a:t>.</a:t>
            </a:r>
            <a:endParaRPr lang="en-US" sz="5600" dirty="0"/>
          </a:p>
        </p:txBody>
      </p:sp>
      <p:sp>
        <p:nvSpPr>
          <p:cNvPr id="4" name="Text 2"/>
          <p:cNvSpPr txBox="1"/>
          <p:nvPr/>
        </p:nvSpPr>
        <p:spPr>
          <a:xfrm>
            <a:off x="685800" y="4983480"/>
            <a:ext cx="9601200" cy="822960"/>
          </a:xfrm>
          <a:prstGeom prst="rect">
            <a:avLst/>
          </a:prstGeom>
          <a:noFill/>
          <a:ln/>
        </p:spPr>
        <p:txBody>
          <a:bodyPr wrap="square" lIns="0" tIns="0" rIns="0" bIns="0" rtlCol="0" anchor="t"/>
          <a:lstStyle/>
          <a:p>
            <a:pPr indent="0" marL="0">
              <a:buNone/>
            </a:pPr>
            <a:r>
              <a:rPr lang="en-US" sz="2200" dirty="0">
                <a:solidFill>
                  <a:schemeClr val="accent2"/>
                </a:solidFill>
              </a:rPr>
              <a:t>Derfor skal du lære det først.</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  ·  PROMPTING</a:t>
            </a:r>
            <a:endParaRPr lang="en-US" sz="1200" dirty="0"/>
          </a:p>
        </p:txBody>
      </p:sp>
      <p:sp>
        <p:nvSpPr>
          <p:cNvPr id="3" name="Text 1"/>
          <p:cNvSpPr txBox="1"/>
          <p:nvPr/>
        </p:nvSpPr>
        <p:spPr>
          <a:xfrm>
            <a:off x="685800" y="1828800"/>
            <a:ext cx="10515600" cy="2194560"/>
          </a:xfrm>
          <a:prstGeom prst="rect">
            <a:avLst/>
          </a:prstGeom>
          <a:noFill/>
          <a:ln/>
        </p:spPr>
        <p:txBody>
          <a:bodyPr wrap="square" lIns="0" tIns="0" rIns="0" bIns="0" rtlCol="0" anchor="b"/>
          <a:lstStyle/>
          <a:p>
            <a:pPr indent="0" marL="0">
              <a:lnSpc>
                <a:spcPct val="90000"/>
              </a:lnSpc>
              <a:buNone/>
            </a:pPr>
            <a:r>
              <a:rPr lang="en-US" sz="9600" b="1" dirty="0">
                <a:solidFill>
                  <a:schemeClr val="tx1"/>
                </a:solidFill>
              </a:rPr>
              <a:t>KRAFT.</a:t>
            </a:r>
            <a:endParaRPr lang="en-US" sz="9600" dirty="0"/>
          </a:p>
        </p:txBody>
      </p:sp>
      <p:sp>
        <p:nvSpPr>
          <p:cNvPr id="4" name="Text 2"/>
          <p:cNvSpPr txBox="1"/>
          <p:nvPr/>
        </p:nvSpPr>
        <p:spPr>
          <a:xfrm>
            <a:off x="685800" y="4206240"/>
            <a:ext cx="9144000" cy="548640"/>
          </a:xfrm>
          <a:prstGeom prst="rect">
            <a:avLst/>
          </a:prstGeom>
          <a:noFill/>
          <a:ln/>
        </p:spPr>
        <p:txBody>
          <a:bodyPr wrap="square" lIns="0" tIns="0" rIns="0" bIns="0" rtlCol="0" anchor="t"/>
          <a:lstStyle/>
          <a:p>
            <a:pPr indent="0" marL="0">
              <a:buNone/>
            </a:pPr>
            <a:r>
              <a:rPr lang="en-US" sz="2400" dirty="0">
                <a:solidFill>
                  <a:schemeClr val="accent2"/>
                </a:solidFill>
              </a:rPr>
              <a:t>Jo mere du giver, jo mere får du.</a:t>
            </a:r>
            <a:endParaRPr lang="en-US" sz="2400" dirty="0"/>
          </a:p>
        </p:txBody>
      </p:sp>
      <p:sp>
        <p:nvSpPr>
          <p:cNvPr id="5" name="Shape 3"/>
          <p:cNvSpPr/>
          <p:nvPr/>
        </p:nvSpPr>
        <p:spPr>
          <a:xfrm>
            <a:off x="685800" y="5943600"/>
            <a:ext cx="10820095" cy="0"/>
          </a:xfrm>
          <a:prstGeom prst="line">
            <a:avLst/>
          </a:prstGeom>
          <a:noFill/>
          <a:ln w="12700">
            <a:solidFill>
              <a:schemeClr val="accent4"/>
            </a:solidFill>
            <a:prstDash val="solid"/>
          </a:ln>
        </p:spPr>
      </p:sp>
      <p:sp>
        <p:nvSpPr>
          <p:cNvPr id="6" name="Shape 4"/>
          <p:cNvSpPr/>
          <p:nvPr/>
        </p:nvSpPr>
        <p:spPr>
          <a:xfrm>
            <a:off x="2849819" y="5943600"/>
            <a:ext cx="2164019" cy="0"/>
          </a:xfrm>
          <a:prstGeom prst="line">
            <a:avLst/>
          </a:prstGeom>
          <a:noFill/>
          <a:ln w="38100">
            <a:solidFill>
              <a:schemeClr val="accent1"/>
            </a:solidFill>
            <a:prstDash val="solid"/>
          </a:ln>
        </p:spPr>
      </p:sp>
      <p:sp>
        <p:nvSpPr>
          <p:cNvPr id="7" name="Text 5"/>
          <p:cNvSpPr txBox="1"/>
          <p:nvPr/>
        </p:nvSpPr>
        <p:spPr>
          <a:xfrm>
            <a:off x="685800"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Som studerende</a:t>
            </a:r>
            <a:endParaRPr lang="en-US" sz="1200" dirty="0"/>
          </a:p>
        </p:txBody>
      </p:sp>
      <p:sp>
        <p:nvSpPr>
          <p:cNvPr id="8" name="Text 6"/>
          <p:cNvSpPr txBox="1"/>
          <p:nvPr/>
        </p:nvSpPr>
        <p:spPr>
          <a:xfrm>
            <a:off x="2849819" y="6089904"/>
            <a:ext cx="2072579" cy="274320"/>
          </a:xfrm>
          <a:prstGeom prst="rect">
            <a:avLst/>
          </a:prstGeom>
          <a:noFill/>
          <a:ln/>
        </p:spPr>
        <p:txBody>
          <a:bodyPr wrap="square" lIns="0" tIns="0" rIns="0" bIns="0" rtlCol="0" anchor="t"/>
          <a:lstStyle/>
          <a:p>
            <a:pPr indent="0" marL="0">
              <a:buNone/>
            </a:pPr>
            <a:r>
              <a:rPr lang="en-US" sz="1200" b="1" dirty="0">
                <a:solidFill>
                  <a:schemeClr val="tx1"/>
                </a:solidFill>
              </a:rPr>
              <a:t>Prompting</a:t>
            </a:r>
            <a:endParaRPr lang="en-US" sz="1200" dirty="0"/>
          </a:p>
        </p:txBody>
      </p:sp>
      <p:sp>
        <p:nvSpPr>
          <p:cNvPr id="9" name="Text 7"/>
          <p:cNvSpPr txBox="1"/>
          <p:nvPr/>
        </p:nvSpPr>
        <p:spPr>
          <a:xfrm>
            <a:off x="5013838"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Excel og data</a:t>
            </a:r>
            <a:endParaRPr lang="en-US" sz="1200" dirty="0"/>
          </a:p>
        </p:txBody>
      </p:sp>
      <p:sp>
        <p:nvSpPr>
          <p:cNvPr id="10" name="Text 8"/>
          <p:cNvSpPr txBox="1"/>
          <p:nvPr/>
        </p:nvSpPr>
        <p:spPr>
          <a:xfrm>
            <a:off x="7177857"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AI i jobbet</a:t>
            </a:r>
            <a:endParaRPr lang="en-US" sz="1200" dirty="0"/>
          </a:p>
        </p:txBody>
      </p:sp>
      <p:sp>
        <p:nvSpPr>
          <p:cNvPr id="11" name="Text 9"/>
          <p:cNvSpPr txBox="1"/>
          <p:nvPr/>
        </p:nvSpPr>
        <p:spPr>
          <a:xfrm>
            <a:off x="9341876"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Vibecoding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SÅDAN SKRIVER JEG EN PROMPT</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Fem ting gør en prompt brugbar </a:t>
            </a:r>
            <a:pPr algn="l" indent="0" marL="0">
              <a:lnSpc>
                <a:spcPct val="93000"/>
              </a:lnSpc>
              <a:buNone/>
            </a:pPr>
            <a:r>
              <a:rPr lang="en-US" sz="3400" b="1" dirty="0">
                <a:solidFill>
                  <a:schemeClr val="accent1"/>
                </a:solidFill>
              </a:rPr>
              <a:t>første gang</a:t>
            </a:r>
            <a:endParaRPr lang="en-US" sz="3400" dirty="0"/>
          </a:p>
        </p:txBody>
      </p:sp>
      <p:sp>
        <p:nvSpPr>
          <p:cNvPr id="4" name="Text 2"/>
          <p:cNvSpPr txBox="1"/>
          <p:nvPr/>
        </p:nvSpPr>
        <p:spPr>
          <a:xfrm>
            <a:off x="685800" y="2331720"/>
            <a:ext cx="2164019" cy="1463040"/>
          </a:xfrm>
          <a:prstGeom prst="rect">
            <a:avLst/>
          </a:prstGeom>
          <a:noFill/>
          <a:ln/>
        </p:spPr>
        <p:txBody>
          <a:bodyPr wrap="square" lIns="0" tIns="0" rIns="0" bIns="0" rtlCol="0" anchor="b"/>
          <a:lstStyle/>
          <a:p>
            <a:pPr indent="0" marL="0">
              <a:buNone/>
            </a:pPr>
            <a:r>
              <a:rPr lang="en-US" sz="11000" b="1" dirty="0">
                <a:solidFill>
                  <a:schemeClr val="accent1"/>
                </a:solidFill>
              </a:rPr>
              <a:t>K</a:t>
            </a:r>
            <a:endParaRPr lang="en-US" sz="11000" dirty="0"/>
          </a:p>
        </p:txBody>
      </p:sp>
      <p:sp>
        <p:nvSpPr>
          <p:cNvPr id="5" name="Text 3"/>
          <p:cNvSpPr txBox="1"/>
          <p:nvPr/>
        </p:nvSpPr>
        <p:spPr>
          <a:xfrm>
            <a:off x="685800" y="3977640"/>
            <a:ext cx="2072579" cy="411480"/>
          </a:xfrm>
          <a:prstGeom prst="rect">
            <a:avLst/>
          </a:prstGeom>
          <a:noFill/>
          <a:ln/>
        </p:spPr>
        <p:txBody>
          <a:bodyPr wrap="square" lIns="0" tIns="0" rIns="0" bIns="0" rtlCol="0" anchor="t"/>
          <a:lstStyle/>
          <a:p>
            <a:pPr indent="0" marL="0">
              <a:buNone/>
            </a:pPr>
            <a:r>
              <a:rPr lang="en-US" sz="2000" b="1" dirty="0">
                <a:solidFill>
                  <a:schemeClr val="tx1"/>
                </a:solidFill>
              </a:rPr>
              <a:t>Kontekst</a:t>
            </a:r>
            <a:endParaRPr lang="en-US" sz="2000" dirty="0"/>
          </a:p>
        </p:txBody>
      </p:sp>
      <p:sp>
        <p:nvSpPr>
          <p:cNvPr id="6" name="Text 4"/>
          <p:cNvSpPr txBox="1"/>
          <p:nvPr/>
        </p:nvSpPr>
        <p:spPr>
          <a:xfrm>
            <a:off x="685800" y="4434840"/>
            <a:ext cx="1843979" cy="914400"/>
          </a:xfrm>
          <a:prstGeom prst="rect">
            <a:avLst/>
          </a:prstGeom>
          <a:noFill/>
          <a:ln/>
        </p:spPr>
        <p:txBody>
          <a:bodyPr wrap="square" lIns="0" tIns="0" rIns="0" bIns="0" rtlCol="0" anchor="t"/>
          <a:lstStyle/>
          <a:p>
            <a:pPr indent="0" marL="0">
              <a:buNone/>
            </a:pPr>
            <a:r>
              <a:rPr lang="en-US" sz="1700" dirty="0">
                <a:solidFill>
                  <a:schemeClr val="accent2"/>
                </a:solidFill>
              </a:rPr>
              <a:t>Hvem er du, og hvad har du?</a:t>
            </a:r>
            <a:endParaRPr lang="en-US" sz="1700" dirty="0"/>
          </a:p>
        </p:txBody>
      </p:sp>
      <p:sp>
        <p:nvSpPr>
          <p:cNvPr id="7" name="Text 5"/>
          <p:cNvSpPr txBox="1"/>
          <p:nvPr/>
        </p:nvSpPr>
        <p:spPr>
          <a:xfrm>
            <a:off x="2849819" y="2331720"/>
            <a:ext cx="2164019" cy="1463040"/>
          </a:xfrm>
          <a:prstGeom prst="rect">
            <a:avLst/>
          </a:prstGeom>
          <a:noFill/>
          <a:ln/>
        </p:spPr>
        <p:txBody>
          <a:bodyPr wrap="square" lIns="0" tIns="0" rIns="0" bIns="0" rtlCol="0" anchor="b"/>
          <a:lstStyle/>
          <a:p>
            <a:pPr indent="0" marL="0">
              <a:buNone/>
            </a:pPr>
            <a:r>
              <a:rPr lang="en-US" sz="11000" b="1" dirty="0">
                <a:solidFill>
                  <a:schemeClr val="accent1"/>
                </a:solidFill>
              </a:rPr>
              <a:t>R</a:t>
            </a:r>
            <a:endParaRPr lang="en-US" sz="11000" dirty="0"/>
          </a:p>
        </p:txBody>
      </p:sp>
      <p:sp>
        <p:nvSpPr>
          <p:cNvPr id="8" name="Text 6"/>
          <p:cNvSpPr txBox="1"/>
          <p:nvPr/>
        </p:nvSpPr>
        <p:spPr>
          <a:xfrm>
            <a:off x="2849819" y="3977640"/>
            <a:ext cx="2072579" cy="411480"/>
          </a:xfrm>
          <a:prstGeom prst="rect">
            <a:avLst/>
          </a:prstGeom>
          <a:noFill/>
          <a:ln/>
        </p:spPr>
        <p:txBody>
          <a:bodyPr wrap="square" lIns="0" tIns="0" rIns="0" bIns="0" rtlCol="0" anchor="t"/>
          <a:lstStyle/>
          <a:p>
            <a:pPr indent="0" marL="0">
              <a:buNone/>
            </a:pPr>
            <a:r>
              <a:rPr lang="en-US" sz="2000" b="1" dirty="0">
                <a:solidFill>
                  <a:schemeClr val="tx1"/>
                </a:solidFill>
              </a:rPr>
              <a:t>Rolle</a:t>
            </a:r>
            <a:endParaRPr lang="en-US" sz="2000" dirty="0"/>
          </a:p>
        </p:txBody>
      </p:sp>
      <p:sp>
        <p:nvSpPr>
          <p:cNvPr id="9" name="Text 7"/>
          <p:cNvSpPr txBox="1"/>
          <p:nvPr/>
        </p:nvSpPr>
        <p:spPr>
          <a:xfrm>
            <a:off x="2849819" y="4434840"/>
            <a:ext cx="1843979" cy="914400"/>
          </a:xfrm>
          <a:prstGeom prst="rect">
            <a:avLst/>
          </a:prstGeom>
          <a:noFill/>
          <a:ln/>
        </p:spPr>
        <p:txBody>
          <a:bodyPr wrap="square" lIns="0" tIns="0" rIns="0" bIns="0" rtlCol="0" anchor="t"/>
          <a:lstStyle/>
          <a:p>
            <a:pPr indent="0" marL="0">
              <a:buNone/>
            </a:pPr>
            <a:r>
              <a:rPr lang="en-US" sz="1700" dirty="0">
                <a:solidFill>
                  <a:schemeClr val="accent2"/>
                </a:solidFill>
              </a:rPr>
              <a:t>Hvem skal AI være?</a:t>
            </a:r>
            <a:endParaRPr lang="en-US" sz="1700" dirty="0"/>
          </a:p>
        </p:txBody>
      </p:sp>
      <p:sp>
        <p:nvSpPr>
          <p:cNvPr id="10" name="Text 8"/>
          <p:cNvSpPr txBox="1"/>
          <p:nvPr/>
        </p:nvSpPr>
        <p:spPr>
          <a:xfrm>
            <a:off x="5013838" y="2331720"/>
            <a:ext cx="2164019" cy="1463040"/>
          </a:xfrm>
          <a:prstGeom prst="rect">
            <a:avLst/>
          </a:prstGeom>
          <a:noFill/>
          <a:ln/>
        </p:spPr>
        <p:txBody>
          <a:bodyPr wrap="square" lIns="0" tIns="0" rIns="0" bIns="0" rtlCol="0" anchor="b"/>
          <a:lstStyle/>
          <a:p>
            <a:pPr indent="0" marL="0">
              <a:buNone/>
            </a:pPr>
            <a:r>
              <a:rPr lang="en-US" sz="11000" b="1" dirty="0">
                <a:solidFill>
                  <a:schemeClr val="accent1"/>
                </a:solidFill>
              </a:rPr>
              <a:t>A</a:t>
            </a:r>
            <a:endParaRPr lang="en-US" sz="11000" dirty="0"/>
          </a:p>
        </p:txBody>
      </p:sp>
      <p:sp>
        <p:nvSpPr>
          <p:cNvPr id="11" name="Text 9"/>
          <p:cNvSpPr txBox="1"/>
          <p:nvPr/>
        </p:nvSpPr>
        <p:spPr>
          <a:xfrm>
            <a:off x="5013838" y="3977640"/>
            <a:ext cx="2072579" cy="411480"/>
          </a:xfrm>
          <a:prstGeom prst="rect">
            <a:avLst/>
          </a:prstGeom>
          <a:noFill/>
          <a:ln/>
        </p:spPr>
        <p:txBody>
          <a:bodyPr wrap="square" lIns="0" tIns="0" rIns="0" bIns="0" rtlCol="0" anchor="t"/>
          <a:lstStyle/>
          <a:p>
            <a:pPr indent="0" marL="0">
              <a:buNone/>
            </a:pPr>
            <a:r>
              <a:rPr lang="en-US" sz="2000" b="1" dirty="0">
                <a:solidFill>
                  <a:schemeClr val="tx1"/>
                </a:solidFill>
              </a:rPr>
              <a:t>Arbejdsopgave</a:t>
            </a:r>
            <a:endParaRPr lang="en-US" sz="2000" dirty="0"/>
          </a:p>
        </p:txBody>
      </p:sp>
      <p:sp>
        <p:nvSpPr>
          <p:cNvPr id="12" name="Text 10"/>
          <p:cNvSpPr txBox="1"/>
          <p:nvPr/>
        </p:nvSpPr>
        <p:spPr>
          <a:xfrm>
            <a:off x="5013838" y="4434840"/>
            <a:ext cx="1843979" cy="914400"/>
          </a:xfrm>
          <a:prstGeom prst="rect">
            <a:avLst/>
          </a:prstGeom>
          <a:noFill/>
          <a:ln/>
        </p:spPr>
        <p:txBody>
          <a:bodyPr wrap="square" lIns="0" tIns="0" rIns="0" bIns="0" rtlCol="0" anchor="t"/>
          <a:lstStyle/>
          <a:p>
            <a:pPr indent="0" marL="0">
              <a:buNone/>
            </a:pPr>
            <a:r>
              <a:rPr lang="en-US" sz="1700" dirty="0">
                <a:solidFill>
                  <a:schemeClr val="accent2"/>
                </a:solidFill>
              </a:rPr>
              <a:t>Præcis hvad den skal levere</a:t>
            </a:r>
            <a:endParaRPr lang="en-US" sz="1700" dirty="0"/>
          </a:p>
        </p:txBody>
      </p:sp>
      <p:sp>
        <p:nvSpPr>
          <p:cNvPr id="13" name="Text 11"/>
          <p:cNvSpPr txBox="1"/>
          <p:nvPr/>
        </p:nvSpPr>
        <p:spPr>
          <a:xfrm>
            <a:off x="7177857" y="2331720"/>
            <a:ext cx="2164019" cy="1463040"/>
          </a:xfrm>
          <a:prstGeom prst="rect">
            <a:avLst/>
          </a:prstGeom>
          <a:noFill/>
          <a:ln/>
        </p:spPr>
        <p:txBody>
          <a:bodyPr wrap="square" lIns="0" tIns="0" rIns="0" bIns="0" rtlCol="0" anchor="b"/>
          <a:lstStyle/>
          <a:p>
            <a:pPr indent="0" marL="0">
              <a:buNone/>
            </a:pPr>
            <a:r>
              <a:rPr lang="en-US" sz="11000" b="1" dirty="0">
                <a:solidFill>
                  <a:schemeClr val="accent1"/>
                </a:solidFill>
              </a:rPr>
              <a:t>F</a:t>
            </a:r>
            <a:endParaRPr lang="en-US" sz="11000" dirty="0"/>
          </a:p>
        </p:txBody>
      </p:sp>
      <p:sp>
        <p:nvSpPr>
          <p:cNvPr id="14" name="Text 12"/>
          <p:cNvSpPr txBox="1"/>
          <p:nvPr/>
        </p:nvSpPr>
        <p:spPr>
          <a:xfrm>
            <a:off x="7177857" y="3977640"/>
            <a:ext cx="2072579" cy="411480"/>
          </a:xfrm>
          <a:prstGeom prst="rect">
            <a:avLst/>
          </a:prstGeom>
          <a:noFill/>
          <a:ln/>
        </p:spPr>
        <p:txBody>
          <a:bodyPr wrap="square" lIns="0" tIns="0" rIns="0" bIns="0" rtlCol="0" anchor="t"/>
          <a:lstStyle/>
          <a:p>
            <a:pPr indent="0" marL="0">
              <a:buNone/>
            </a:pPr>
            <a:r>
              <a:rPr lang="en-US" sz="2000" b="1" dirty="0">
                <a:solidFill>
                  <a:schemeClr val="tx1"/>
                </a:solidFill>
              </a:rPr>
              <a:t>Format</a:t>
            </a:r>
            <a:endParaRPr lang="en-US" sz="2000" dirty="0"/>
          </a:p>
        </p:txBody>
      </p:sp>
      <p:sp>
        <p:nvSpPr>
          <p:cNvPr id="15" name="Text 13"/>
          <p:cNvSpPr txBox="1"/>
          <p:nvPr/>
        </p:nvSpPr>
        <p:spPr>
          <a:xfrm>
            <a:off x="7177857" y="4434840"/>
            <a:ext cx="1843979" cy="914400"/>
          </a:xfrm>
          <a:prstGeom prst="rect">
            <a:avLst/>
          </a:prstGeom>
          <a:noFill/>
          <a:ln/>
        </p:spPr>
        <p:txBody>
          <a:bodyPr wrap="square" lIns="0" tIns="0" rIns="0" bIns="0" rtlCol="0" anchor="t"/>
          <a:lstStyle/>
          <a:p>
            <a:pPr indent="0" marL="0">
              <a:buNone/>
            </a:pPr>
            <a:r>
              <a:rPr lang="en-US" sz="1700" dirty="0">
                <a:solidFill>
                  <a:schemeClr val="accent2"/>
                </a:solidFill>
              </a:rPr>
              <a:t>Fil, mail, tabel, længde og tone</a:t>
            </a:r>
            <a:endParaRPr lang="en-US" sz="1700" dirty="0"/>
          </a:p>
        </p:txBody>
      </p:sp>
      <p:sp>
        <p:nvSpPr>
          <p:cNvPr id="16" name="Text 14"/>
          <p:cNvSpPr txBox="1"/>
          <p:nvPr/>
        </p:nvSpPr>
        <p:spPr>
          <a:xfrm>
            <a:off x="9341876" y="2331720"/>
            <a:ext cx="2164019" cy="1463040"/>
          </a:xfrm>
          <a:prstGeom prst="rect">
            <a:avLst/>
          </a:prstGeom>
          <a:noFill/>
          <a:ln/>
        </p:spPr>
        <p:txBody>
          <a:bodyPr wrap="square" lIns="0" tIns="0" rIns="0" bIns="0" rtlCol="0" anchor="b"/>
          <a:lstStyle/>
          <a:p>
            <a:pPr indent="0" marL="0">
              <a:buNone/>
            </a:pPr>
            <a:r>
              <a:rPr lang="en-US" sz="11000" b="1" dirty="0">
                <a:solidFill>
                  <a:schemeClr val="accent1"/>
                </a:solidFill>
              </a:rPr>
              <a:t>T</a:t>
            </a:r>
            <a:endParaRPr lang="en-US" sz="11000" dirty="0"/>
          </a:p>
        </p:txBody>
      </p:sp>
      <p:sp>
        <p:nvSpPr>
          <p:cNvPr id="17" name="Text 15"/>
          <p:cNvSpPr txBox="1"/>
          <p:nvPr/>
        </p:nvSpPr>
        <p:spPr>
          <a:xfrm>
            <a:off x="9341876" y="3977640"/>
            <a:ext cx="2072579" cy="411480"/>
          </a:xfrm>
          <a:prstGeom prst="rect">
            <a:avLst/>
          </a:prstGeom>
          <a:noFill/>
          <a:ln/>
        </p:spPr>
        <p:txBody>
          <a:bodyPr wrap="square" lIns="0" tIns="0" rIns="0" bIns="0" rtlCol="0" anchor="t"/>
          <a:lstStyle/>
          <a:p>
            <a:pPr indent="0" marL="0">
              <a:buNone/>
            </a:pPr>
            <a:r>
              <a:rPr lang="en-US" sz="2000" b="1" dirty="0">
                <a:solidFill>
                  <a:schemeClr val="tx1"/>
                </a:solidFill>
              </a:rPr>
              <a:t>Tjek</a:t>
            </a:r>
            <a:endParaRPr lang="en-US" sz="2000" dirty="0"/>
          </a:p>
        </p:txBody>
      </p:sp>
      <p:sp>
        <p:nvSpPr>
          <p:cNvPr id="18" name="Text 16"/>
          <p:cNvSpPr txBox="1"/>
          <p:nvPr/>
        </p:nvSpPr>
        <p:spPr>
          <a:xfrm>
            <a:off x="9341876" y="4434840"/>
            <a:ext cx="1843979" cy="914400"/>
          </a:xfrm>
          <a:prstGeom prst="rect">
            <a:avLst/>
          </a:prstGeom>
          <a:noFill/>
          <a:ln/>
        </p:spPr>
        <p:txBody>
          <a:bodyPr wrap="square" lIns="0" tIns="0" rIns="0" bIns="0" rtlCol="0" anchor="t"/>
          <a:lstStyle/>
          <a:p>
            <a:pPr indent="0" marL="0">
              <a:buNone/>
            </a:pPr>
            <a:r>
              <a:rPr lang="en-US" sz="1700" dirty="0">
                <a:solidFill>
                  <a:schemeClr val="accent2"/>
                </a:solidFill>
              </a:rPr>
              <a:t>Spørgsmål først, antagelser til sidst</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LIVE DEMO  ·  PROMPTS DER SKRIVER PROMPTS</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ChatGPT skriver prompten. </a:t>
            </a:r>
            <a:pPr algn="l" indent="0" marL="0">
              <a:lnSpc>
                <a:spcPct val="93000"/>
              </a:lnSpc>
              <a:buNone/>
            </a:pPr>
            <a:r>
              <a:rPr lang="en-US" sz="3400" b="1" dirty="0">
                <a:solidFill>
                  <a:schemeClr val="accent1"/>
                </a:solidFill>
              </a:rPr>
              <a:t>De andre værktøjer</a:t>
            </a:r>
            <a:pPr algn="l" indent="0" marL="0">
              <a:lnSpc>
                <a:spcPct val="93000"/>
              </a:lnSpc>
              <a:buNone/>
            </a:pPr>
            <a:r>
              <a:rPr lang="en-US" sz="3400" b="1" dirty="0">
                <a:solidFill>
                  <a:schemeClr val="tx1"/>
                </a:solidFill>
              </a:rPr>
              <a:t> udfører den</a:t>
            </a:r>
            <a:endParaRPr lang="en-US" sz="3400" dirty="0"/>
          </a:p>
        </p:txBody>
      </p:sp>
      <p:sp>
        <p:nvSpPr>
          <p:cNvPr id="4" name="Shape 2"/>
          <p:cNvSpPr/>
          <p:nvPr/>
        </p:nvSpPr>
        <p:spPr>
          <a:xfrm>
            <a:off x="685800" y="3200400"/>
            <a:ext cx="2651760" cy="1005840"/>
          </a:xfrm>
          <a:prstGeom prst="roundRect">
            <a:avLst>
              <a:gd name="adj" fmla="val 50000"/>
            </a:avLst>
          </a:prstGeom>
          <a:solidFill>
            <a:srgbClr val="1D1D1F"/>
          </a:solidFill>
          <a:ln w="12700">
            <a:solidFill>
              <a:srgbClr val="1D1D1F"/>
            </a:solidFill>
            <a:prstDash val="solid"/>
          </a:ln>
        </p:spPr>
      </p:sp>
      <p:sp>
        <p:nvSpPr>
          <p:cNvPr id="5" name="Text 3"/>
          <p:cNvSpPr txBox="1"/>
          <p:nvPr/>
        </p:nvSpPr>
        <p:spPr>
          <a:xfrm>
            <a:off x="685800" y="3200400"/>
            <a:ext cx="2651760" cy="1005840"/>
          </a:xfrm>
          <a:prstGeom prst="rect">
            <a:avLst/>
          </a:prstGeom>
          <a:noFill/>
          <a:ln/>
        </p:spPr>
        <p:txBody>
          <a:bodyPr wrap="square" lIns="0" tIns="0" rIns="0" bIns="0" rtlCol="0" anchor="ctr"/>
          <a:lstStyle/>
          <a:p>
            <a:pPr algn="ctr" indent="0" marL="0">
              <a:buNone/>
            </a:pPr>
            <a:r>
              <a:rPr lang="en-US" sz="2400" b="1" dirty="0">
                <a:solidFill>
                  <a:schemeClr val="bg1"/>
                </a:solidFill>
              </a:rPr>
              <a:t>ChatGPT</a:t>
            </a:r>
            <a:endParaRPr lang="en-US" sz="2400" dirty="0"/>
          </a:p>
        </p:txBody>
      </p:sp>
      <p:sp>
        <p:nvSpPr>
          <p:cNvPr id="6" name="Text 4"/>
          <p:cNvSpPr txBox="1"/>
          <p:nvPr/>
        </p:nvSpPr>
        <p:spPr>
          <a:xfrm>
            <a:off x="685800" y="4343400"/>
            <a:ext cx="2651760" cy="365760"/>
          </a:xfrm>
          <a:prstGeom prst="rect">
            <a:avLst/>
          </a:prstGeom>
          <a:noFill/>
          <a:ln/>
        </p:spPr>
        <p:txBody>
          <a:bodyPr wrap="square" lIns="0" tIns="0" rIns="0" bIns="0" rtlCol="0" anchor="t"/>
          <a:lstStyle/>
          <a:p>
            <a:pPr algn="ctr" indent="0" marL="0">
              <a:buNone/>
            </a:pPr>
            <a:r>
              <a:rPr lang="en-US" sz="1500" dirty="0">
                <a:solidFill>
                  <a:schemeClr val="accent2"/>
                </a:solidFill>
              </a:rPr>
              <a:t>skriver prompten</a:t>
            </a:r>
            <a:endParaRPr lang="en-US" sz="1500" dirty="0"/>
          </a:p>
        </p:txBody>
      </p:sp>
      <p:sp>
        <p:nvSpPr>
          <p:cNvPr id="7" name="Shape 5"/>
          <p:cNvSpPr/>
          <p:nvPr/>
        </p:nvSpPr>
        <p:spPr>
          <a:xfrm flipV="1">
            <a:off x="3337560" y="2788920"/>
            <a:ext cx="3429000" cy="914400"/>
          </a:xfrm>
          <a:prstGeom prst="line">
            <a:avLst/>
          </a:prstGeom>
          <a:noFill/>
          <a:ln w="15875">
            <a:solidFill>
              <a:srgbClr val="D2D2D7"/>
            </a:solidFill>
            <a:prstDash val="solid"/>
            <a:tailEnd type="triangle"/>
          </a:ln>
        </p:spPr>
      </p:sp>
      <p:sp>
        <p:nvSpPr>
          <p:cNvPr id="8" name="Shape 6"/>
          <p:cNvSpPr/>
          <p:nvPr/>
        </p:nvSpPr>
        <p:spPr>
          <a:xfrm>
            <a:off x="6903720" y="2679192"/>
            <a:ext cx="219456" cy="219456"/>
          </a:xfrm>
          <a:prstGeom prst="ellipse">
            <a:avLst/>
          </a:prstGeom>
          <a:solidFill>
            <a:schemeClr val="accent1"/>
          </a:solidFill>
          <a:ln w="12700">
            <a:solidFill>
              <a:schemeClr val="accent1"/>
            </a:solidFill>
            <a:prstDash val="solid"/>
          </a:ln>
        </p:spPr>
      </p:sp>
      <p:sp>
        <p:nvSpPr>
          <p:cNvPr id="9" name="Text 7"/>
          <p:cNvSpPr txBox="1"/>
          <p:nvPr/>
        </p:nvSpPr>
        <p:spPr>
          <a:xfrm>
            <a:off x="7315200" y="2514600"/>
            <a:ext cx="4114800" cy="411480"/>
          </a:xfrm>
          <a:prstGeom prst="rect">
            <a:avLst/>
          </a:prstGeom>
          <a:noFill/>
          <a:ln/>
        </p:spPr>
        <p:txBody>
          <a:bodyPr wrap="square" lIns="0" tIns="0" rIns="0" bIns="0" rtlCol="0" anchor="t"/>
          <a:lstStyle/>
          <a:p>
            <a:pPr indent="0" marL="0">
              <a:buNone/>
            </a:pPr>
            <a:r>
              <a:rPr lang="en-US" sz="2400" b="1" dirty="0">
                <a:solidFill>
                  <a:schemeClr val="tx1"/>
                </a:solidFill>
              </a:rPr>
              <a:t>Grok</a:t>
            </a:r>
            <a:endParaRPr lang="en-US" sz="2400" dirty="0"/>
          </a:p>
        </p:txBody>
      </p:sp>
      <p:sp>
        <p:nvSpPr>
          <p:cNvPr id="10" name="Text 8"/>
          <p:cNvSpPr txBox="1"/>
          <p:nvPr/>
        </p:nvSpPr>
        <p:spPr>
          <a:xfrm>
            <a:off x="7315200" y="2944368"/>
            <a:ext cx="4114800" cy="365760"/>
          </a:xfrm>
          <a:prstGeom prst="rect">
            <a:avLst/>
          </a:prstGeom>
          <a:noFill/>
          <a:ln/>
        </p:spPr>
        <p:txBody>
          <a:bodyPr wrap="square" lIns="0" tIns="0" rIns="0" bIns="0" rtlCol="0" anchor="t"/>
          <a:lstStyle/>
          <a:p>
            <a:pPr indent="0" marL="0">
              <a:buNone/>
            </a:pPr>
            <a:r>
              <a:rPr lang="en-US" sz="1600" dirty="0">
                <a:solidFill>
                  <a:schemeClr val="accent2"/>
                </a:solidFill>
              </a:rPr>
              <a:t>finder leads til Thirdbase</a:t>
            </a:r>
            <a:endParaRPr lang="en-US" sz="1600" dirty="0"/>
          </a:p>
        </p:txBody>
      </p:sp>
      <p:sp>
        <p:nvSpPr>
          <p:cNvPr id="11" name="Shape 9"/>
          <p:cNvSpPr/>
          <p:nvPr/>
        </p:nvSpPr>
        <p:spPr>
          <a:xfrm>
            <a:off x="3337560" y="3703320"/>
            <a:ext cx="3429000" cy="274320"/>
          </a:xfrm>
          <a:prstGeom prst="line">
            <a:avLst/>
          </a:prstGeom>
          <a:noFill/>
          <a:ln w="15875">
            <a:solidFill>
              <a:srgbClr val="D2D2D7"/>
            </a:solidFill>
            <a:prstDash val="solid"/>
            <a:tailEnd type="triangle"/>
          </a:ln>
        </p:spPr>
      </p:sp>
      <p:sp>
        <p:nvSpPr>
          <p:cNvPr id="12" name="Shape 10"/>
          <p:cNvSpPr/>
          <p:nvPr/>
        </p:nvSpPr>
        <p:spPr>
          <a:xfrm>
            <a:off x="6903720" y="3867912"/>
            <a:ext cx="219456" cy="219456"/>
          </a:xfrm>
          <a:prstGeom prst="ellipse">
            <a:avLst/>
          </a:prstGeom>
          <a:solidFill>
            <a:schemeClr val="accent1"/>
          </a:solidFill>
          <a:ln w="12700">
            <a:solidFill>
              <a:schemeClr val="accent1"/>
            </a:solidFill>
            <a:prstDash val="solid"/>
          </a:ln>
        </p:spPr>
      </p:sp>
      <p:sp>
        <p:nvSpPr>
          <p:cNvPr id="13" name="Text 11"/>
          <p:cNvSpPr txBox="1"/>
          <p:nvPr/>
        </p:nvSpPr>
        <p:spPr>
          <a:xfrm>
            <a:off x="7315200" y="3703320"/>
            <a:ext cx="4114800" cy="411480"/>
          </a:xfrm>
          <a:prstGeom prst="rect">
            <a:avLst/>
          </a:prstGeom>
          <a:noFill/>
          <a:ln/>
        </p:spPr>
        <p:txBody>
          <a:bodyPr wrap="square" lIns="0" tIns="0" rIns="0" bIns="0" rtlCol="0" anchor="t"/>
          <a:lstStyle/>
          <a:p>
            <a:pPr indent="0" marL="0">
              <a:buNone/>
            </a:pPr>
            <a:r>
              <a:rPr lang="en-US" sz="2400" b="1" dirty="0">
                <a:solidFill>
                  <a:schemeClr val="tx1"/>
                </a:solidFill>
              </a:rPr>
              <a:t>Claude Code</a:t>
            </a:r>
            <a:endParaRPr lang="en-US" sz="2400" dirty="0"/>
          </a:p>
        </p:txBody>
      </p:sp>
      <p:sp>
        <p:nvSpPr>
          <p:cNvPr id="14" name="Text 12"/>
          <p:cNvSpPr txBox="1"/>
          <p:nvPr/>
        </p:nvSpPr>
        <p:spPr>
          <a:xfrm>
            <a:off x="7315200" y="4133088"/>
            <a:ext cx="4114800" cy="365760"/>
          </a:xfrm>
          <a:prstGeom prst="rect">
            <a:avLst/>
          </a:prstGeom>
          <a:noFill/>
          <a:ln/>
        </p:spPr>
        <p:txBody>
          <a:bodyPr wrap="square" lIns="0" tIns="0" rIns="0" bIns="0" rtlCol="0" anchor="t"/>
          <a:lstStyle/>
          <a:p>
            <a:pPr indent="0" marL="0">
              <a:buNone/>
            </a:pPr>
            <a:r>
              <a:rPr lang="en-US" sz="1600" dirty="0">
                <a:solidFill>
                  <a:schemeClr val="accent2"/>
                </a:solidFill>
              </a:rPr>
              <a:t>bygger appen</a:t>
            </a:r>
            <a:endParaRPr lang="en-US" sz="1600" dirty="0"/>
          </a:p>
        </p:txBody>
      </p:sp>
      <p:sp>
        <p:nvSpPr>
          <p:cNvPr id="15" name="Shape 13"/>
          <p:cNvSpPr/>
          <p:nvPr/>
        </p:nvSpPr>
        <p:spPr>
          <a:xfrm>
            <a:off x="3337560" y="3703320"/>
            <a:ext cx="3429000" cy="1463040"/>
          </a:xfrm>
          <a:prstGeom prst="line">
            <a:avLst/>
          </a:prstGeom>
          <a:noFill/>
          <a:ln w="15875">
            <a:solidFill>
              <a:srgbClr val="D2D2D7"/>
            </a:solidFill>
            <a:prstDash val="solid"/>
            <a:tailEnd type="triangle"/>
          </a:ln>
        </p:spPr>
      </p:sp>
      <p:sp>
        <p:nvSpPr>
          <p:cNvPr id="16" name="Shape 14"/>
          <p:cNvSpPr/>
          <p:nvPr/>
        </p:nvSpPr>
        <p:spPr>
          <a:xfrm>
            <a:off x="6903720" y="5056632"/>
            <a:ext cx="219456" cy="219456"/>
          </a:xfrm>
          <a:prstGeom prst="ellipse">
            <a:avLst/>
          </a:prstGeom>
          <a:solidFill>
            <a:schemeClr val="accent1"/>
          </a:solidFill>
          <a:ln w="12700">
            <a:solidFill>
              <a:schemeClr val="accent1"/>
            </a:solidFill>
            <a:prstDash val="solid"/>
          </a:ln>
        </p:spPr>
      </p:sp>
      <p:sp>
        <p:nvSpPr>
          <p:cNvPr id="17" name="Text 15"/>
          <p:cNvSpPr txBox="1"/>
          <p:nvPr/>
        </p:nvSpPr>
        <p:spPr>
          <a:xfrm>
            <a:off x="7315200" y="4892040"/>
            <a:ext cx="4114800" cy="411480"/>
          </a:xfrm>
          <a:prstGeom prst="rect">
            <a:avLst/>
          </a:prstGeom>
          <a:noFill/>
          <a:ln/>
        </p:spPr>
        <p:txBody>
          <a:bodyPr wrap="square" lIns="0" tIns="0" rIns="0" bIns="0" rtlCol="0" anchor="t"/>
          <a:lstStyle/>
          <a:p>
            <a:pPr indent="0" marL="0">
              <a:buNone/>
            </a:pPr>
            <a:r>
              <a:rPr lang="en-US" sz="2400" b="1" dirty="0">
                <a:solidFill>
                  <a:schemeClr val="tx1"/>
                </a:solidFill>
              </a:rPr>
              <a:t>Claude Design</a:t>
            </a:r>
            <a:endParaRPr lang="en-US" sz="2400" dirty="0"/>
          </a:p>
        </p:txBody>
      </p:sp>
      <p:sp>
        <p:nvSpPr>
          <p:cNvPr id="18" name="Text 16"/>
          <p:cNvSpPr txBox="1"/>
          <p:nvPr/>
        </p:nvSpPr>
        <p:spPr>
          <a:xfrm>
            <a:off x="7315200" y="5321808"/>
            <a:ext cx="4114800" cy="365760"/>
          </a:xfrm>
          <a:prstGeom prst="rect">
            <a:avLst/>
          </a:prstGeom>
          <a:noFill/>
          <a:ln/>
        </p:spPr>
        <p:txBody>
          <a:bodyPr wrap="square" lIns="0" tIns="0" rIns="0" bIns="0" rtlCol="0" anchor="t"/>
          <a:lstStyle/>
          <a:p>
            <a:pPr indent="0" marL="0">
              <a:buNone/>
            </a:pPr>
            <a:r>
              <a:rPr lang="en-US" sz="1600" dirty="0">
                <a:solidFill>
                  <a:schemeClr val="accent2"/>
                </a:solidFill>
              </a:rPr>
              <a:t>laver designet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KOPIÉR DEN HER</a:t>
            </a:r>
            <a:endParaRPr lang="en-US" sz="1200" dirty="0"/>
          </a:p>
        </p:txBody>
      </p:sp>
      <p:sp>
        <p:nvSpPr>
          <p:cNvPr id="3" name="Text 1"/>
          <p:cNvSpPr txBox="1"/>
          <p:nvPr/>
        </p:nvSpPr>
        <p:spPr>
          <a:xfrm>
            <a:off x="685800" y="1280160"/>
            <a:ext cx="10241280" cy="3566160"/>
          </a:xfrm>
          <a:prstGeom prst="rect">
            <a:avLst/>
          </a:prstGeom>
          <a:noFill/>
          <a:ln/>
        </p:spPr>
        <p:txBody>
          <a:bodyPr wrap="square" lIns="0" tIns="0" rIns="0" bIns="0" rtlCol="0" anchor="ctr"/>
          <a:lstStyle/>
          <a:p>
            <a:pPr indent="0" marL="0">
              <a:lnSpc>
                <a:spcPct val="100000"/>
              </a:lnSpc>
              <a:buNone/>
            </a:pPr>
            <a:r>
              <a:rPr lang="en-US" sz="4000" b="1" dirty="0">
                <a:solidFill>
                  <a:schemeClr val="tx1"/>
                </a:solidFill>
              </a:rPr>
              <a:t>“Du er ekspert i prompts. Jeg vil have </a:t>
            </a:r>
            <a:pPr indent="0" marL="0">
              <a:lnSpc>
                <a:spcPct val="100000"/>
              </a:lnSpc>
              <a:buNone/>
            </a:pPr>
            <a:r>
              <a:rPr lang="en-US" sz="4000" b="1" dirty="0">
                <a:solidFill>
                  <a:schemeClr val="accent1"/>
                </a:solidFill>
              </a:rPr>
              <a:t>[værktøj]</a:t>
            </a:r>
            <a:pPr indent="0" marL="0">
              <a:lnSpc>
                <a:spcPct val="100000"/>
              </a:lnSpc>
              <a:buNone/>
            </a:pPr>
            <a:r>
              <a:rPr lang="en-US" sz="4000" b="1" dirty="0">
                <a:solidFill>
                  <a:schemeClr val="tx1"/>
                </a:solidFill>
              </a:rPr>
              <a:t> til at </a:t>
            </a:r>
            <a:pPr indent="0" marL="0">
              <a:lnSpc>
                <a:spcPct val="100000"/>
              </a:lnSpc>
              <a:buNone/>
            </a:pPr>
            <a:r>
              <a:rPr lang="en-US" sz="4000" b="1" dirty="0">
                <a:solidFill>
                  <a:schemeClr val="accent1"/>
                </a:solidFill>
              </a:rPr>
              <a:t>[mål]</a:t>
            </a:r>
            <a:pPr indent="0" marL="0">
              <a:lnSpc>
                <a:spcPct val="100000"/>
              </a:lnSpc>
              <a:buNone/>
            </a:pPr>
            <a:r>
              <a:rPr lang="en-US" sz="4000" b="1" dirty="0">
                <a:solidFill>
                  <a:schemeClr val="tx1"/>
                </a:solidFill>
              </a:rPr>
              <a:t>. Stil mig spørgsmål ét ad gangen. Skriv derefter den færdige prompt.”</a:t>
            </a:r>
            <a:endParaRPr lang="en-US" sz="4000" dirty="0"/>
          </a:p>
        </p:txBody>
      </p:sp>
      <p:sp>
        <p:nvSpPr>
          <p:cNvPr id="4" name="Text 2"/>
          <p:cNvSpPr txBox="1"/>
          <p:nvPr/>
        </p:nvSpPr>
        <p:spPr>
          <a:xfrm>
            <a:off x="685800" y="5257800"/>
            <a:ext cx="7315200" cy="365760"/>
          </a:xfrm>
          <a:prstGeom prst="rect">
            <a:avLst/>
          </a:prstGeom>
          <a:noFill/>
          <a:ln/>
        </p:spPr>
        <p:txBody>
          <a:bodyPr wrap="square" lIns="0" tIns="0" rIns="0" bIns="0" rtlCol="0" anchor="t"/>
          <a:lstStyle/>
          <a:p>
            <a:pPr indent="0" marL="0">
              <a:buNone/>
            </a:pPr>
            <a:r>
              <a:rPr lang="en-US" sz="1800" dirty="0">
                <a:solidFill>
                  <a:schemeClr val="accent2"/>
                </a:solidFill>
              </a:rPr>
              <a:t>Prompten, der skriver dine prompts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DIN TUR  ·  PARVIS</a:t>
            </a:r>
            <a:endParaRPr lang="en-US" sz="1200" dirty="0"/>
          </a:p>
        </p:txBody>
      </p:sp>
      <p:sp>
        <p:nvSpPr>
          <p:cNvPr id="3" name="Text 1"/>
          <p:cNvSpPr txBox="1"/>
          <p:nvPr/>
        </p:nvSpPr>
        <p:spPr>
          <a:xfrm>
            <a:off x="685800" y="1234440"/>
            <a:ext cx="10058400" cy="1828800"/>
          </a:xfrm>
          <a:prstGeom prst="rect">
            <a:avLst/>
          </a:prstGeom>
          <a:noFill/>
          <a:ln/>
        </p:spPr>
        <p:txBody>
          <a:bodyPr wrap="square" lIns="0" tIns="0" rIns="0" bIns="0" rtlCol="0" anchor="b"/>
          <a:lstStyle/>
          <a:p>
            <a:pPr indent="0" marL="0">
              <a:buNone/>
            </a:pPr>
            <a:r>
              <a:rPr lang="en-US" sz="5400" b="1" strike="sngStrike" dirty="0">
                <a:solidFill>
                  <a:schemeClr val="accent3"/>
                </a:solidFill>
              </a:rPr>
              <a:t>“Lav en salgsmail til en kunde.”</a:t>
            </a:r>
            <a:endParaRPr lang="en-US" sz="5400" dirty="0"/>
          </a:p>
        </p:txBody>
      </p:sp>
      <p:sp>
        <p:nvSpPr>
          <p:cNvPr id="4" name="Text 2"/>
          <p:cNvSpPr txBox="1"/>
          <p:nvPr/>
        </p:nvSpPr>
        <p:spPr>
          <a:xfrm>
            <a:off x="685800" y="3429000"/>
            <a:ext cx="10058400" cy="731520"/>
          </a:xfrm>
          <a:prstGeom prst="rect">
            <a:avLst/>
          </a:prstGeom>
          <a:noFill/>
          <a:ln/>
        </p:spPr>
        <p:txBody>
          <a:bodyPr wrap="square" lIns="0" tIns="0" rIns="0" bIns="0" rtlCol="0" anchor="t"/>
          <a:lstStyle/>
          <a:p>
            <a:pPr indent="0" marL="0">
              <a:buNone/>
            </a:pPr>
            <a:r>
              <a:rPr lang="en-US" sz="3600" b="1" dirty="0">
                <a:solidFill>
                  <a:schemeClr val="tx1"/>
                </a:solidFill>
              </a:rPr>
              <a:t>Gør den dovne prompt færdig med </a:t>
            </a:r>
            <a:pPr indent="0" marL="0">
              <a:buNone/>
            </a:pPr>
            <a:r>
              <a:rPr lang="en-US" sz="3600" b="1" dirty="0">
                <a:solidFill>
                  <a:schemeClr val="accent1"/>
                </a:solidFill>
              </a:rPr>
              <a:t>KRAFT</a:t>
            </a:r>
            <a:endParaRPr lang="en-US" sz="3600" dirty="0"/>
          </a:p>
        </p:txBody>
      </p:sp>
      <p:sp>
        <p:nvSpPr>
          <p:cNvPr id="5" name="Text 3"/>
          <p:cNvSpPr txBox="1"/>
          <p:nvPr/>
        </p:nvSpPr>
        <p:spPr>
          <a:xfrm>
            <a:off x="685800" y="4343400"/>
            <a:ext cx="9144000" cy="822960"/>
          </a:xfrm>
          <a:prstGeom prst="rect">
            <a:avLst/>
          </a:prstGeom>
          <a:noFill/>
          <a:ln/>
        </p:spPr>
        <p:txBody>
          <a:bodyPr wrap="square" lIns="0" tIns="0" rIns="0" bIns="0" rtlCol="0" anchor="t"/>
          <a:lstStyle/>
          <a:p>
            <a:pPr indent="0" marL="0">
              <a:buNone/>
            </a:pPr>
            <a:r>
              <a:rPr lang="en-US" sz="2200" dirty="0">
                <a:solidFill>
                  <a:schemeClr val="accent2"/>
                </a:solidFill>
              </a:rPr>
              <a:t>Kør begge versioner. Det er en jobopgave, så lad AI levere det færdige produkt.</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ITERATION</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Første svar er et udkast. </a:t>
            </a:r>
            <a:pPr algn="l" indent="0" marL="0">
              <a:lnSpc>
                <a:spcPct val="93000"/>
              </a:lnSpc>
              <a:buNone/>
            </a:pPr>
            <a:r>
              <a:rPr lang="en-US" sz="3400" b="1" dirty="0">
                <a:solidFill>
                  <a:schemeClr val="accent1"/>
                </a:solidFill>
              </a:rPr>
              <a:t>Spørg igen</a:t>
            </a:r>
            <a:endParaRPr lang="en-US" sz="3400" dirty="0"/>
          </a:p>
        </p:txBody>
      </p:sp>
      <p:sp>
        <p:nvSpPr>
          <p:cNvPr id="4" name="Text 2"/>
          <p:cNvSpPr txBox="1"/>
          <p:nvPr/>
        </p:nvSpPr>
        <p:spPr>
          <a:xfrm>
            <a:off x="685800" y="2377440"/>
            <a:ext cx="914400" cy="457200"/>
          </a:xfrm>
          <a:prstGeom prst="rect">
            <a:avLst/>
          </a:prstGeom>
          <a:noFill/>
          <a:ln/>
        </p:spPr>
        <p:txBody>
          <a:bodyPr wrap="square" lIns="0" tIns="0" rIns="0" bIns="0" rtlCol="0" anchor="t"/>
          <a:lstStyle/>
          <a:p>
            <a:pPr indent="0" marL="0">
              <a:buNone/>
            </a:pPr>
            <a:r>
              <a:rPr lang="en-US" sz="1600" b="1" dirty="0">
                <a:solidFill>
                  <a:schemeClr val="accent1"/>
                </a:solidFill>
              </a:rPr>
              <a:t>01</a:t>
            </a:r>
            <a:endParaRPr lang="en-US" sz="1600" dirty="0"/>
          </a:p>
        </p:txBody>
      </p:sp>
      <p:sp>
        <p:nvSpPr>
          <p:cNvPr id="5" name="Text 3"/>
          <p:cNvSpPr txBox="1"/>
          <p:nvPr/>
        </p:nvSpPr>
        <p:spPr>
          <a:xfrm>
            <a:off x="685800" y="2788920"/>
            <a:ext cx="5120640" cy="1097280"/>
          </a:xfrm>
          <a:prstGeom prst="rect">
            <a:avLst/>
          </a:prstGeom>
          <a:noFill/>
          <a:ln/>
        </p:spPr>
        <p:txBody>
          <a:bodyPr wrap="square" lIns="0" tIns="0" rIns="0" bIns="0" rtlCol="0" anchor="t"/>
          <a:lstStyle/>
          <a:p>
            <a:pPr indent="0" marL="0">
              <a:buNone/>
            </a:pPr>
            <a:r>
              <a:rPr lang="en-US" sz="2600" b="1" dirty="0">
                <a:solidFill>
                  <a:schemeClr val="tx1"/>
                </a:solidFill>
              </a:rPr>
              <a:t>Hvilke antagelser har du gjort?</a:t>
            </a:r>
            <a:endParaRPr lang="en-US" sz="2600" dirty="0"/>
          </a:p>
        </p:txBody>
      </p:sp>
      <p:sp>
        <p:nvSpPr>
          <p:cNvPr id="6" name="Text 4"/>
          <p:cNvSpPr txBox="1"/>
          <p:nvPr/>
        </p:nvSpPr>
        <p:spPr>
          <a:xfrm>
            <a:off x="6263640" y="2377440"/>
            <a:ext cx="914400" cy="457200"/>
          </a:xfrm>
          <a:prstGeom prst="rect">
            <a:avLst/>
          </a:prstGeom>
          <a:noFill/>
          <a:ln/>
        </p:spPr>
        <p:txBody>
          <a:bodyPr wrap="square" lIns="0" tIns="0" rIns="0" bIns="0" rtlCol="0" anchor="t"/>
          <a:lstStyle/>
          <a:p>
            <a:pPr indent="0" marL="0">
              <a:buNone/>
            </a:pPr>
            <a:r>
              <a:rPr lang="en-US" sz="1600" b="1" dirty="0">
                <a:solidFill>
                  <a:schemeClr val="accent1"/>
                </a:solidFill>
              </a:rPr>
              <a:t>02</a:t>
            </a:r>
            <a:endParaRPr lang="en-US" sz="1600" dirty="0"/>
          </a:p>
        </p:txBody>
      </p:sp>
      <p:sp>
        <p:nvSpPr>
          <p:cNvPr id="7" name="Text 5"/>
          <p:cNvSpPr txBox="1"/>
          <p:nvPr/>
        </p:nvSpPr>
        <p:spPr>
          <a:xfrm>
            <a:off x="6263640" y="2788920"/>
            <a:ext cx="5120640" cy="1097280"/>
          </a:xfrm>
          <a:prstGeom prst="rect">
            <a:avLst/>
          </a:prstGeom>
          <a:noFill/>
          <a:ln/>
        </p:spPr>
        <p:txBody>
          <a:bodyPr wrap="square" lIns="0" tIns="0" rIns="0" bIns="0" rtlCol="0" anchor="t"/>
          <a:lstStyle/>
          <a:p>
            <a:pPr indent="0" marL="0">
              <a:buNone/>
            </a:pPr>
            <a:r>
              <a:rPr lang="en-US" sz="2600" b="1" dirty="0">
                <a:solidFill>
                  <a:schemeClr val="tx1"/>
                </a:solidFill>
              </a:rPr>
              <a:t>Hvad mangler, før det er færdigt?</a:t>
            </a:r>
            <a:endParaRPr lang="en-US" sz="2600" dirty="0"/>
          </a:p>
        </p:txBody>
      </p:sp>
      <p:sp>
        <p:nvSpPr>
          <p:cNvPr id="8" name="Text 6"/>
          <p:cNvSpPr txBox="1"/>
          <p:nvPr/>
        </p:nvSpPr>
        <p:spPr>
          <a:xfrm>
            <a:off x="685800" y="4206240"/>
            <a:ext cx="914400" cy="457200"/>
          </a:xfrm>
          <a:prstGeom prst="rect">
            <a:avLst/>
          </a:prstGeom>
          <a:noFill/>
          <a:ln/>
        </p:spPr>
        <p:txBody>
          <a:bodyPr wrap="square" lIns="0" tIns="0" rIns="0" bIns="0" rtlCol="0" anchor="t"/>
          <a:lstStyle/>
          <a:p>
            <a:pPr indent="0" marL="0">
              <a:buNone/>
            </a:pPr>
            <a:r>
              <a:rPr lang="en-US" sz="1600" b="1" dirty="0">
                <a:solidFill>
                  <a:schemeClr val="accent1"/>
                </a:solidFill>
              </a:rPr>
              <a:t>03</a:t>
            </a:r>
            <a:endParaRPr lang="en-US" sz="1600" dirty="0"/>
          </a:p>
        </p:txBody>
      </p:sp>
      <p:sp>
        <p:nvSpPr>
          <p:cNvPr id="9" name="Text 7"/>
          <p:cNvSpPr txBox="1"/>
          <p:nvPr/>
        </p:nvSpPr>
        <p:spPr>
          <a:xfrm>
            <a:off x="685800" y="4617720"/>
            <a:ext cx="5120640" cy="1097280"/>
          </a:xfrm>
          <a:prstGeom prst="rect">
            <a:avLst/>
          </a:prstGeom>
          <a:noFill/>
          <a:ln/>
        </p:spPr>
        <p:txBody>
          <a:bodyPr wrap="square" lIns="0" tIns="0" rIns="0" bIns="0" rtlCol="0" anchor="t"/>
          <a:lstStyle/>
          <a:p>
            <a:pPr indent="0" marL="0">
              <a:buNone/>
            </a:pPr>
            <a:r>
              <a:rPr lang="en-US" sz="2600" b="1" dirty="0">
                <a:solidFill>
                  <a:schemeClr val="tx1"/>
                </a:solidFill>
              </a:rPr>
              <a:t>Lav tre versioner, og anbefal én.</a:t>
            </a:r>
            <a:endParaRPr lang="en-US" sz="2600" dirty="0"/>
          </a:p>
        </p:txBody>
      </p:sp>
      <p:sp>
        <p:nvSpPr>
          <p:cNvPr id="10" name="Text 8"/>
          <p:cNvSpPr txBox="1"/>
          <p:nvPr/>
        </p:nvSpPr>
        <p:spPr>
          <a:xfrm>
            <a:off x="6263640" y="4206240"/>
            <a:ext cx="914400" cy="457200"/>
          </a:xfrm>
          <a:prstGeom prst="rect">
            <a:avLst/>
          </a:prstGeom>
          <a:noFill/>
          <a:ln/>
        </p:spPr>
        <p:txBody>
          <a:bodyPr wrap="square" lIns="0" tIns="0" rIns="0" bIns="0" rtlCol="0" anchor="t"/>
          <a:lstStyle/>
          <a:p>
            <a:pPr indent="0" marL="0">
              <a:buNone/>
            </a:pPr>
            <a:r>
              <a:rPr lang="en-US" sz="1600" b="1" dirty="0">
                <a:solidFill>
                  <a:schemeClr val="accent1"/>
                </a:solidFill>
              </a:rPr>
              <a:t>04</a:t>
            </a:r>
            <a:endParaRPr lang="en-US" sz="1600" dirty="0"/>
          </a:p>
        </p:txBody>
      </p:sp>
      <p:sp>
        <p:nvSpPr>
          <p:cNvPr id="11" name="Text 9"/>
          <p:cNvSpPr txBox="1"/>
          <p:nvPr/>
        </p:nvSpPr>
        <p:spPr>
          <a:xfrm>
            <a:off x="6263640" y="4617720"/>
            <a:ext cx="5120640" cy="1097280"/>
          </a:xfrm>
          <a:prstGeom prst="rect">
            <a:avLst/>
          </a:prstGeom>
          <a:noFill/>
          <a:ln/>
        </p:spPr>
        <p:txBody>
          <a:bodyPr wrap="square" lIns="0" tIns="0" rIns="0" bIns="0" rtlCol="0" anchor="t"/>
          <a:lstStyle/>
          <a:p>
            <a:pPr indent="0" marL="0">
              <a:buNone/>
            </a:pPr>
            <a:r>
              <a:rPr lang="en-US" sz="2600" b="1" dirty="0">
                <a:solidFill>
                  <a:schemeClr val="tx1"/>
                </a:solidFill>
              </a:rPr>
              <a:t>Gør det klar til at sende.</a:t>
            </a:r>
            <a:endParaRPr lang="en-US" sz="2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85800" y="1463040"/>
            <a:ext cx="10058400" cy="2377440"/>
          </a:xfrm>
          <a:prstGeom prst="rect">
            <a:avLst/>
          </a:prstGeom>
          <a:noFill/>
          <a:ln/>
        </p:spPr>
        <p:txBody>
          <a:bodyPr wrap="square" lIns="0" tIns="0" rIns="0" bIns="0" rtlCol="0" anchor="b"/>
          <a:lstStyle/>
          <a:p>
            <a:pPr indent="0" marL="0">
              <a:buNone/>
            </a:pPr>
            <a:r>
              <a:rPr lang="en-US" sz="13000" b="1" dirty="0">
                <a:solidFill>
                  <a:schemeClr val="tx1"/>
                </a:solidFill>
              </a:rPr>
              <a:t>Pause.</a:t>
            </a:r>
            <a:endParaRPr lang="en-US" sz="13000" dirty="0"/>
          </a:p>
        </p:txBody>
      </p:sp>
      <p:sp>
        <p:nvSpPr>
          <p:cNvPr id="3" name="Text 1"/>
          <p:cNvSpPr txBox="1"/>
          <p:nvPr/>
        </p:nvSpPr>
        <p:spPr>
          <a:xfrm>
            <a:off x="685800" y="4206240"/>
            <a:ext cx="9875520" cy="914400"/>
          </a:xfrm>
          <a:prstGeom prst="rect">
            <a:avLst/>
          </a:prstGeom>
          <a:noFill/>
          <a:ln/>
        </p:spPr>
        <p:txBody>
          <a:bodyPr wrap="square" lIns="0" tIns="0" rIns="0" bIns="0" rtlCol="0" anchor="t"/>
          <a:lstStyle/>
          <a:p>
            <a:pPr indent="0" marL="0">
              <a:buNone/>
            </a:pPr>
            <a:r>
              <a:rPr lang="en-US" sz="2200" dirty="0">
                <a:solidFill>
                  <a:schemeClr val="accent2"/>
                </a:solidFill>
              </a:rPr>
              <a:t>Hent </a:t>
            </a:r>
            <a:pPr indent="0" marL="0">
              <a:buNone/>
            </a:pPr>
            <a:r>
              <a:rPr lang="en-US" sz="2200" dirty="0">
                <a:solidFill>
                  <a:schemeClr val="accent1"/>
                </a:solidFill>
              </a:rPr>
              <a:t>Handelsokonom_FjordOutdoor.xlsx</a:t>
            </a:r>
            <a:pPr indent="0" marL="0">
              <a:buNone/>
            </a:pPr>
            <a:r>
              <a:rPr lang="en-US" sz="2200" dirty="0">
                <a:solidFill>
                  <a:schemeClr val="accent2"/>
                </a:solidFill>
              </a:rPr>
              <a:t> fra læringsplatformen. Efter pausen arbejder I i rigtige data.</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03  ·  EXCEL OG DATA</a:t>
            </a:r>
            <a:endParaRPr lang="en-US" sz="1200" dirty="0"/>
          </a:p>
        </p:txBody>
      </p:sp>
      <p:sp>
        <p:nvSpPr>
          <p:cNvPr id="3" name="Text 1"/>
          <p:cNvSpPr txBox="1"/>
          <p:nvPr/>
        </p:nvSpPr>
        <p:spPr>
          <a:xfrm>
            <a:off x="685800" y="1828800"/>
            <a:ext cx="10515600" cy="2194560"/>
          </a:xfrm>
          <a:prstGeom prst="rect">
            <a:avLst/>
          </a:prstGeom>
          <a:noFill/>
          <a:ln/>
        </p:spPr>
        <p:txBody>
          <a:bodyPr wrap="square" lIns="0" tIns="0" rIns="0" bIns="0" rtlCol="0" anchor="b"/>
          <a:lstStyle/>
          <a:p>
            <a:pPr indent="0" marL="0">
              <a:lnSpc>
                <a:spcPct val="90000"/>
              </a:lnSpc>
              <a:buNone/>
            </a:pPr>
            <a:r>
              <a:rPr lang="en-US" sz="9600" b="1" dirty="0">
                <a:solidFill>
                  <a:schemeClr val="bg1"/>
                </a:solidFill>
              </a:rPr>
              <a:t>Brug AI </a:t>
            </a:r>
            <a:pPr indent="0" marL="0">
              <a:lnSpc>
                <a:spcPct val="90000"/>
              </a:lnSpc>
              <a:buNone/>
            </a:pPr>
            <a:r>
              <a:rPr lang="en-US" sz="9600" b="1" dirty="0">
                <a:solidFill>
                  <a:schemeClr val="accent1"/>
                </a:solidFill>
              </a:rPr>
              <a:t>fuldt ud.</a:t>
            </a:r>
            <a:endParaRPr lang="en-US" sz="9600" dirty="0"/>
          </a:p>
        </p:txBody>
      </p:sp>
      <p:sp>
        <p:nvSpPr>
          <p:cNvPr id="4" name="Text 2"/>
          <p:cNvSpPr txBox="1"/>
          <p:nvPr/>
        </p:nvSpPr>
        <p:spPr>
          <a:xfrm>
            <a:off x="685800" y="4206240"/>
            <a:ext cx="9144000" cy="548640"/>
          </a:xfrm>
          <a:prstGeom prst="rect">
            <a:avLst/>
          </a:prstGeom>
          <a:noFill/>
          <a:ln/>
        </p:spPr>
        <p:txBody>
          <a:bodyPr wrap="square" lIns="0" tIns="0" rIns="0" bIns="0" rtlCol="0" anchor="t"/>
          <a:lstStyle/>
          <a:p>
            <a:pPr indent="0" marL="0">
              <a:buNone/>
            </a:pPr>
            <a:r>
              <a:rPr lang="en-US" sz="2400" dirty="0">
                <a:solidFill>
                  <a:schemeClr val="accent3"/>
                </a:solidFill>
              </a:rPr>
              <a:t>I jobbet er målet, at arbejdet bliver gjort.</a:t>
            </a:r>
            <a:endParaRPr lang="en-US" sz="2400" dirty="0"/>
          </a:p>
        </p:txBody>
      </p:sp>
      <p:sp>
        <p:nvSpPr>
          <p:cNvPr id="5" name="Shape 3"/>
          <p:cNvSpPr/>
          <p:nvPr/>
        </p:nvSpPr>
        <p:spPr>
          <a:xfrm>
            <a:off x="685800" y="5943600"/>
            <a:ext cx="10820095" cy="0"/>
          </a:xfrm>
          <a:prstGeom prst="line">
            <a:avLst/>
          </a:prstGeom>
          <a:noFill/>
          <a:ln w="12700">
            <a:solidFill>
              <a:schemeClr val="accent5"/>
            </a:solidFill>
            <a:prstDash val="solid"/>
          </a:ln>
        </p:spPr>
      </p:sp>
      <p:sp>
        <p:nvSpPr>
          <p:cNvPr id="6" name="Shape 4"/>
          <p:cNvSpPr/>
          <p:nvPr/>
        </p:nvSpPr>
        <p:spPr>
          <a:xfrm>
            <a:off x="5013838" y="5943600"/>
            <a:ext cx="2164019" cy="0"/>
          </a:xfrm>
          <a:prstGeom prst="line">
            <a:avLst/>
          </a:prstGeom>
          <a:noFill/>
          <a:ln w="38100">
            <a:solidFill>
              <a:schemeClr val="accent1"/>
            </a:solidFill>
            <a:prstDash val="solid"/>
          </a:ln>
        </p:spPr>
      </p:sp>
      <p:sp>
        <p:nvSpPr>
          <p:cNvPr id="7" name="Text 5"/>
          <p:cNvSpPr txBox="1"/>
          <p:nvPr/>
        </p:nvSpPr>
        <p:spPr>
          <a:xfrm>
            <a:off x="685800"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Som studerende</a:t>
            </a:r>
            <a:endParaRPr lang="en-US" sz="1200" dirty="0"/>
          </a:p>
        </p:txBody>
      </p:sp>
      <p:sp>
        <p:nvSpPr>
          <p:cNvPr id="8" name="Text 6"/>
          <p:cNvSpPr txBox="1"/>
          <p:nvPr/>
        </p:nvSpPr>
        <p:spPr>
          <a:xfrm>
            <a:off x="2849819"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Prompting</a:t>
            </a:r>
            <a:endParaRPr lang="en-US" sz="1200" dirty="0"/>
          </a:p>
        </p:txBody>
      </p:sp>
      <p:sp>
        <p:nvSpPr>
          <p:cNvPr id="9" name="Text 7"/>
          <p:cNvSpPr txBox="1"/>
          <p:nvPr/>
        </p:nvSpPr>
        <p:spPr>
          <a:xfrm>
            <a:off x="5013838" y="6089904"/>
            <a:ext cx="2072579" cy="274320"/>
          </a:xfrm>
          <a:prstGeom prst="rect">
            <a:avLst/>
          </a:prstGeom>
          <a:noFill/>
          <a:ln/>
        </p:spPr>
        <p:txBody>
          <a:bodyPr wrap="square" lIns="0" tIns="0" rIns="0" bIns="0" rtlCol="0" anchor="t"/>
          <a:lstStyle/>
          <a:p>
            <a:pPr indent="0" marL="0">
              <a:buNone/>
            </a:pPr>
            <a:r>
              <a:rPr lang="en-US" sz="1200" b="1" dirty="0">
                <a:solidFill>
                  <a:schemeClr val="bg1"/>
                </a:solidFill>
              </a:rPr>
              <a:t>Excel og data</a:t>
            </a:r>
            <a:endParaRPr lang="en-US" sz="1200" dirty="0"/>
          </a:p>
        </p:txBody>
      </p:sp>
      <p:sp>
        <p:nvSpPr>
          <p:cNvPr id="10" name="Text 8"/>
          <p:cNvSpPr txBox="1"/>
          <p:nvPr/>
        </p:nvSpPr>
        <p:spPr>
          <a:xfrm>
            <a:off x="7177857"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AI i jobbet</a:t>
            </a:r>
            <a:endParaRPr lang="en-US" sz="1200" dirty="0"/>
          </a:p>
        </p:txBody>
      </p:sp>
      <p:sp>
        <p:nvSpPr>
          <p:cNvPr id="11" name="Text 9"/>
          <p:cNvSpPr txBox="1"/>
          <p:nvPr/>
        </p:nvSpPr>
        <p:spPr>
          <a:xfrm>
            <a:off x="9341876"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Vibecoding</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AI I EXCEL</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Du stiller spørgsmålet. AI </a:t>
            </a:r>
            <a:pPr algn="l" indent="0" marL="0">
              <a:lnSpc>
                <a:spcPct val="93000"/>
              </a:lnSpc>
              <a:buNone/>
            </a:pPr>
            <a:r>
              <a:rPr lang="en-US" sz="3400" b="1" dirty="0">
                <a:solidFill>
                  <a:schemeClr val="accent1"/>
                </a:solidFill>
              </a:rPr>
              <a:t>finder, bygger og leverer</a:t>
            </a:r>
            <a:endParaRPr lang="en-US" sz="3400" dirty="0"/>
          </a:p>
        </p:txBody>
      </p:sp>
      <p:sp>
        <p:nvSpPr>
          <p:cNvPr id="4" name="Text 2"/>
          <p:cNvSpPr txBox="1"/>
          <p:nvPr/>
        </p:nvSpPr>
        <p:spPr>
          <a:xfrm>
            <a:off x="685800" y="260604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01</a:t>
            </a:r>
            <a:endParaRPr lang="en-US" sz="1600" dirty="0"/>
          </a:p>
        </p:txBody>
      </p:sp>
      <p:sp>
        <p:nvSpPr>
          <p:cNvPr id="5" name="Text 3"/>
          <p:cNvSpPr txBox="1"/>
          <p:nvPr/>
        </p:nvSpPr>
        <p:spPr>
          <a:xfrm>
            <a:off x="685800" y="3017520"/>
            <a:ext cx="3332378" cy="914400"/>
          </a:xfrm>
          <a:prstGeom prst="rect">
            <a:avLst/>
          </a:prstGeom>
          <a:noFill/>
          <a:ln/>
        </p:spPr>
        <p:txBody>
          <a:bodyPr wrap="square" lIns="0" tIns="0" rIns="0" bIns="0" rtlCol="0" anchor="t"/>
          <a:lstStyle/>
          <a:p>
            <a:pPr indent="0" marL="0">
              <a:buNone/>
            </a:pPr>
            <a:r>
              <a:rPr lang="en-US" sz="5200" b="1" dirty="0">
                <a:solidFill>
                  <a:schemeClr val="bg1"/>
                </a:solidFill>
              </a:rPr>
              <a:t>Finder</a:t>
            </a:r>
            <a:endParaRPr lang="en-US" sz="5200" dirty="0"/>
          </a:p>
        </p:txBody>
      </p:sp>
      <p:sp>
        <p:nvSpPr>
          <p:cNvPr id="6" name="Text 4"/>
          <p:cNvSpPr txBox="1"/>
          <p:nvPr/>
        </p:nvSpPr>
        <p:spPr>
          <a:xfrm>
            <a:off x="685800" y="4069080"/>
            <a:ext cx="3058058" cy="914400"/>
          </a:xfrm>
          <a:prstGeom prst="rect">
            <a:avLst/>
          </a:prstGeom>
          <a:noFill/>
          <a:ln/>
        </p:spPr>
        <p:txBody>
          <a:bodyPr wrap="square" lIns="0" tIns="0" rIns="0" bIns="0" rtlCol="0" anchor="t"/>
          <a:lstStyle/>
          <a:p>
            <a:pPr indent="0" marL="0">
              <a:buNone/>
            </a:pPr>
            <a:r>
              <a:rPr lang="en-US" sz="1900" dirty="0">
                <a:solidFill>
                  <a:schemeClr val="accent3"/>
                </a:solidFill>
              </a:rPr>
              <a:t>det, du skal reagere på</a:t>
            </a:r>
            <a:endParaRPr lang="en-US" sz="1900" dirty="0"/>
          </a:p>
        </p:txBody>
      </p:sp>
      <p:sp>
        <p:nvSpPr>
          <p:cNvPr id="7" name="Text 5"/>
          <p:cNvSpPr txBox="1"/>
          <p:nvPr/>
        </p:nvSpPr>
        <p:spPr>
          <a:xfrm>
            <a:off x="4292498" y="260604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02</a:t>
            </a:r>
            <a:endParaRPr lang="en-US" sz="1600" dirty="0"/>
          </a:p>
        </p:txBody>
      </p:sp>
      <p:sp>
        <p:nvSpPr>
          <p:cNvPr id="8" name="Text 6"/>
          <p:cNvSpPr txBox="1"/>
          <p:nvPr/>
        </p:nvSpPr>
        <p:spPr>
          <a:xfrm>
            <a:off x="4292498" y="3017520"/>
            <a:ext cx="3332378" cy="914400"/>
          </a:xfrm>
          <a:prstGeom prst="rect">
            <a:avLst/>
          </a:prstGeom>
          <a:noFill/>
          <a:ln/>
        </p:spPr>
        <p:txBody>
          <a:bodyPr wrap="square" lIns="0" tIns="0" rIns="0" bIns="0" rtlCol="0" anchor="t"/>
          <a:lstStyle/>
          <a:p>
            <a:pPr indent="0" marL="0">
              <a:buNone/>
            </a:pPr>
            <a:r>
              <a:rPr lang="en-US" sz="5200" b="1" dirty="0">
                <a:solidFill>
                  <a:schemeClr val="bg1"/>
                </a:solidFill>
              </a:rPr>
              <a:t>Bygger</a:t>
            </a:r>
            <a:endParaRPr lang="en-US" sz="5200" dirty="0"/>
          </a:p>
        </p:txBody>
      </p:sp>
      <p:sp>
        <p:nvSpPr>
          <p:cNvPr id="9" name="Text 7"/>
          <p:cNvSpPr txBox="1"/>
          <p:nvPr/>
        </p:nvSpPr>
        <p:spPr>
          <a:xfrm>
            <a:off x="4292498" y="4069080"/>
            <a:ext cx="3058058" cy="914400"/>
          </a:xfrm>
          <a:prstGeom prst="rect">
            <a:avLst/>
          </a:prstGeom>
          <a:noFill/>
          <a:ln/>
        </p:spPr>
        <p:txBody>
          <a:bodyPr wrap="square" lIns="0" tIns="0" rIns="0" bIns="0" rtlCol="0" anchor="t"/>
          <a:lstStyle/>
          <a:p>
            <a:pPr indent="0" marL="0">
              <a:buNone/>
            </a:pPr>
            <a:r>
              <a:rPr lang="en-US" sz="1900" dirty="0">
                <a:solidFill>
                  <a:schemeClr val="accent3"/>
                </a:solidFill>
              </a:rPr>
              <a:t>formler, pivottabeller, kontrolkort og grafer</a:t>
            </a:r>
            <a:endParaRPr lang="en-US" sz="1900" dirty="0"/>
          </a:p>
        </p:txBody>
      </p:sp>
      <p:sp>
        <p:nvSpPr>
          <p:cNvPr id="10" name="Text 8"/>
          <p:cNvSpPr txBox="1"/>
          <p:nvPr/>
        </p:nvSpPr>
        <p:spPr>
          <a:xfrm>
            <a:off x="7899197" y="260604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03</a:t>
            </a:r>
            <a:endParaRPr lang="en-US" sz="1600" dirty="0"/>
          </a:p>
        </p:txBody>
      </p:sp>
      <p:sp>
        <p:nvSpPr>
          <p:cNvPr id="11" name="Text 9"/>
          <p:cNvSpPr txBox="1"/>
          <p:nvPr/>
        </p:nvSpPr>
        <p:spPr>
          <a:xfrm>
            <a:off x="7899197" y="3017520"/>
            <a:ext cx="3332378" cy="914400"/>
          </a:xfrm>
          <a:prstGeom prst="rect">
            <a:avLst/>
          </a:prstGeom>
          <a:noFill/>
          <a:ln/>
        </p:spPr>
        <p:txBody>
          <a:bodyPr wrap="square" lIns="0" tIns="0" rIns="0" bIns="0" rtlCol="0" anchor="t"/>
          <a:lstStyle/>
          <a:p>
            <a:pPr indent="0" marL="0">
              <a:buNone/>
            </a:pPr>
            <a:r>
              <a:rPr lang="en-US" sz="5200" b="1" dirty="0">
                <a:solidFill>
                  <a:schemeClr val="bg1"/>
                </a:solidFill>
              </a:rPr>
              <a:t>Leverer</a:t>
            </a:r>
            <a:endParaRPr lang="en-US" sz="5200" dirty="0"/>
          </a:p>
        </p:txBody>
      </p:sp>
      <p:sp>
        <p:nvSpPr>
          <p:cNvPr id="12" name="Text 10"/>
          <p:cNvSpPr txBox="1"/>
          <p:nvPr/>
        </p:nvSpPr>
        <p:spPr>
          <a:xfrm>
            <a:off x="7899197" y="4069080"/>
            <a:ext cx="3058058" cy="914400"/>
          </a:xfrm>
          <a:prstGeom prst="rect">
            <a:avLst/>
          </a:prstGeom>
          <a:noFill/>
          <a:ln/>
        </p:spPr>
        <p:txBody>
          <a:bodyPr wrap="square" lIns="0" tIns="0" rIns="0" bIns="0" rtlCol="0" anchor="t"/>
          <a:lstStyle/>
          <a:p>
            <a:pPr indent="0" marL="0">
              <a:buNone/>
            </a:pPr>
            <a:r>
              <a:rPr lang="en-US" sz="1900" dirty="0">
                <a:solidFill>
                  <a:schemeClr val="accent3"/>
                </a:solidFill>
              </a:rPr>
              <a:t>dashboardet, rapporten og mailen</a:t>
            </a:r>
            <a:endParaRPr lang="en-US" sz="1900" dirty="0"/>
          </a:p>
        </p:txBody>
      </p:sp>
      <p:sp>
        <p:nvSpPr>
          <p:cNvPr id="13" name="Text 11"/>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3"/>
                </a:solidFill>
              </a:rPr>
              <a:t>Upload filen til Claude eller ChatGPT, eller brug Copilot direkte i Excel.</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LIVE DEMO  ·  ALLE DATA ER FIKTIVE</a:t>
            </a:r>
            <a:endParaRPr lang="en-US" sz="1200" dirty="0"/>
          </a:p>
        </p:txBody>
      </p:sp>
      <p:sp>
        <p:nvSpPr>
          <p:cNvPr id="3" name="Text 1"/>
          <p:cNvSpPr txBox="1"/>
          <p:nvPr/>
        </p:nvSpPr>
        <p:spPr>
          <a:xfrm>
            <a:off x="685800" y="804672"/>
            <a:ext cx="10820095" cy="1280160"/>
          </a:xfrm>
          <a:prstGeom prst="rect">
            <a:avLst/>
          </a:prstGeom>
          <a:noFill/>
          <a:ln/>
        </p:spPr>
        <p:txBody>
          <a:bodyPr wrap="square" lIns="0" tIns="0" rIns="0" bIns="0" rtlCol="0" anchor="t"/>
          <a:lstStyle/>
          <a:p>
            <a:pPr indent="0" marL="0">
              <a:lnSpc>
                <a:spcPct val="93000"/>
              </a:lnSpc>
              <a:buNone/>
            </a:pPr>
            <a:r>
              <a:rPr lang="en-US" sz="3400" b="1" dirty="0">
                <a:solidFill>
                  <a:schemeClr val="bg1"/>
                </a:solidFill>
              </a:rPr>
              <a:t>Datasættet til i dag</a:t>
            </a:r>
            <a:endParaRPr lang="en-US" sz="3400" dirty="0"/>
          </a:p>
        </p:txBody>
      </p:sp>
      <p:sp>
        <p:nvSpPr>
          <p:cNvPr id="4" name="Text 2"/>
          <p:cNvSpPr txBox="1"/>
          <p:nvPr/>
        </p:nvSpPr>
        <p:spPr>
          <a:xfrm>
            <a:off x="640080" y="2240280"/>
            <a:ext cx="10515600" cy="2377440"/>
          </a:xfrm>
          <a:prstGeom prst="rect">
            <a:avLst/>
          </a:prstGeom>
          <a:noFill/>
          <a:ln/>
        </p:spPr>
        <p:txBody>
          <a:bodyPr wrap="square" lIns="0" tIns="0" rIns="0" bIns="0" rtlCol="0" anchor="ctr"/>
          <a:lstStyle/>
          <a:p>
            <a:pPr indent="0" marL="0">
              <a:lnSpc>
                <a:spcPct val="90000"/>
              </a:lnSpc>
              <a:buNone/>
            </a:pPr>
            <a:r>
              <a:rPr lang="en-US" sz="15000" b="1" dirty="0">
                <a:solidFill>
                  <a:schemeClr val="accent1"/>
                </a:solidFill>
              </a:rPr>
              <a:t>576</a:t>
            </a:r>
            <a:endParaRPr lang="en-US" sz="15000" dirty="0"/>
          </a:p>
        </p:txBody>
      </p:sp>
      <p:sp>
        <p:nvSpPr>
          <p:cNvPr id="5" name="Text 3"/>
          <p:cNvSpPr txBox="1"/>
          <p:nvPr/>
        </p:nvSpPr>
        <p:spPr>
          <a:xfrm>
            <a:off x="685800" y="4800600"/>
            <a:ext cx="9875520" cy="1097280"/>
          </a:xfrm>
          <a:prstGeom prst="rect">
            <a:avLst/>
          </a:prstGeom>
          <a:noFill/>
          <a:ln/>
        </p:spPr>
        <p:txBody>
          <a:bodyPr wrap="square" lIns="0" tIns="0" rIns="0" bIns="0" rtlCol="0" anchor="t"/>
          <a:lstStyle/>
          <a:p>
            <a:pPr indent="0" marL="0">
              <a:buNone/>
            </a:pPr>
            <a:r>
              <a:rPr lang="en-US" sz="2200" dirty="0">
                <a:solidFill>
                  <a:schemeClr val="accent3"/>
                </a:solidFill>
              </a:rPr>
              <a:t>salgslinjer fra tre butikker og 28 B2B-deals fra Fjord Outdoor.</a:t>
            </a:r>
            <a:endParaRPr lang="en-US" sz="2200" dirty="0"/>
          </a:p>
          <a:p>
            <a:pPr indent="0" marL="0">
              <a:buNone/>
            </a:pPr>
            <a:r>
              <a:rPr lang="en-US" sz="2200" dirty="0">
                <a:solidFill>
                  <a:schemeClr val="accent3"/>
                </a:solidFill>
              </a:rPr>
              <a:t>Salg  ·  Varegrupper  ·  Rabatter  ·  Pipeline</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LIVE DEMO  ·  PROMPTKORTET</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Seks prompts fra rådata til </a:t>
            </a:r>
            <a:pPr algn="l" indent="0" marL="0">
              <a:lnSpc>
                <a:spcPct val="93000"/>
              </a:lnSpc>
              <a:buNone/>
            </a:pPr>
            <a:r>
              <a:rPr lang="en-US" sz="3400" b="1" dirty="0">
                <a:solidFill>
                  <a:schemeClr val="accent1"/>
                </a:solidFill>
              </a:rPr>
              <a:t>ledermødet</a:t>
            </a:r>
            <a:endParaRPr lang="en-US" sz="3400" dirty="0"/>
          </a:p>
        </p:txBody>
      </p:sp>
      <p:sp>
        <p:nvSpPr>
          <p:cNvPr id="4" name="Text 2"/>
          <p:cNvSpPr txBox="1"/>
          <p:nvPr/>
        </p:nvSpPr>
        <p:spPr>
          <a:xfrm>
            <a:off x="685800" y="2514600"/>
            <a:ext cx="548640" cy="548640"/>
          </a:xfrm>
          <a:prstGeom prst="rect">
            <a:avLst/>
          </a:prstGeom>
          <a:noFill/>
          <a:ln/>
        </p:spPr>
        <p:txBody>
          <a:bodyPr wrap="square" lIns="0" tIns="0" rIns="0" bIns="0" rtlCol="0" anchor="t"/>
          <a:lstStyle/>
          <a:p>
            <a:pPr indent="0" marL="0">
              <a:buNone/>
            </a:pPr>
            <a:r>
              <a:rPr lang="en-US" sz="3000" b="1" dirty="0">
                <a:solidFill>
                  <a:schemeClr val="accent1"/>
                </a:solidFill>
              </a:rPr>
              <a:t>1</a:t>
            </a:r>
            <a:endParaRPr lang="en-US" sz="3000" dirty="0"/>
          </a:p>
        </p:txBody>
      </p:sp>
      <p:sp>
        <p:nvSpPr>
          <p:cNvPr id="5" name="Text 3"/>
          <p:cNvSpPr txBox="1"/>
          <p:nvPr/>
        </p:nvSpPr>
        <p:spPr>
          <a:xfrm>
            <a:off x="1325880" y="2551176"/>
            <a:ext cx="4572000" cy="548640"/>
          </a:xfrm>
          <a:prstGeom prst="rect">
            <a:avLst/>
          </a:prstGeom>
          <a:noFill/>
          <a:ln/>
        </p:spPr>
        <p:txBody>
          <a:bodyPr wrap="square" lIns="0" tIns="0" rIns="0" bIns="0" rtlCol="0" anchor="t"/>
          <a:lstStyle/>
          <a:p>
            <a:pPr indent="0" marL="0">
              <a:buNone/>
            </a:pPr>
            <a:r>
              <a:rPr lang="en-US" sz="2800" b="1" dirty="0">
                <a:solidFill>
                  <a:schemeClr val="bg1"/>
                </a:solidFill>
              </a:rPr>
              <a:t>Overblik</a:t>
            </a:r>
            <a:endParaRPr lang="en-US" sz="2800" dirty="0"/>
          </a:p>
        </p:txBody>
      </p:sp>
      <p:sp>
        <p:nvSpPr>
          <p:cNvPr id="6" name="Text 4"/>
          <p:cNvSpPr txBox="1"/>
          <p:nvPr/>
        </p:nvSpPr>
        <p:spPr>
          <a:xfrm>
            <a:off x="685800" y="3383280"/>
            <a:ext cx="548640" cy="548640"/>
          </a:xfrm>
          <a:prstGeom prst="rect">
            <a:avLst/>
          </a:prstGeom>
          <a:noFill/>
          <a:ln/>
        </p:spPr>
        <p:txBody>
          <a:bodyPr wrap="square" lIns="0" tIns="0" rIns="0" bIns="0" rtlCol="0" anchor="t"/>
          <a:lstStyle/>
          <a:p>
            <a:pPr indent="0" marL="0">
              <a:buNone/>
            </a:pPr>
            <a:r>
              <a:rPr lang="en-US" sz="3000" b="1" dirty="0">
                <a:solidFill>
                  <a:schemeClr val="accent1"/>
                </a:solidFill>
              </a:rPr>
              <a:t>2</a:t>
            </a:r>
            <a:endParaRPr lang="en-US" sz="3000" dirty="0"/>
          </a:p>
        </p:txBody>
      </p:sp>
      <p:sp>
        <p:nvSpPr>
          <p:cNvPr id="7" name="Text 5"/>
          <p:cNvSpPr txBox="1"/>
          <p:nvPr/>
        </p:nvSpPr>
        <p:spPr>
          <a:xfrm>
            <a:off x="1325880" y="3419856"/>
            <a:ext cx="4572000" cy="548640"/>
          </a:xfrm>
          <a:prstGeom prst="rect">
            <a:avLst/>
          </a:prstGeom>
          <a:noFill/>
          <a:ln/>
        </p:spPr>
        <p:txBody>
          <a:bodyPr wrap="square" lIns="0" tIns="0" rIns="0" bIns="0" rtlCol="0" anchor="t"/>
          <a:lstStyle/>
          <a:p>
            <a:pPr indent="0" marL="0">
              <a:buNone/>
            </a:pPr>
            <a:r>
              <a:rPr lang="en-US" sz="2800" b="1" dirty="0">
                <a:solidFill>
                  <a:schemeClr val="bg1"/>
                </a:solidFill>
              </a:rPr>
              <a:t>ABC-analyse</a:t>
            </a:r>
            <a:endParaRPr lang="en-US" sz="2800" dirty="0"/>
          </a:p>
        </p:txBody>
      </p:sp>
      <p:sp>
        <p:nvSpPr>
          <p:cNvPr id="8" name="Text 6"/>
          <p:cNvSpPr txBox="1"/>
          <p:nvPr/>
        </p:nvSpPr>
        <p:spPr>
          <a:xfrm>
            <a:off x="685800" y="4251960"/>
            <a:ext cx="548640" cy="548640"/>
          </a:xfrm>
          <a:prstGeom prst="rect">
            <a:avLst/>
          </a:prstGeom>
          <a:noFill/>
          <a:ln/>
        </p:spPr>
        <p:txBody>
          <a:bodyPr wrap="square" lIns="0" tIns="0" rIns="0" bIns="0" rtlCol="0" anchor="t"/>
          <a:lstStyle/>
          <a:p>
            <a:pPr indent="0" marL="0">
              <a:buNone/>
            </a:pPr>
            <a:r>
              <a:rPr lang="en-US" sz="3000" b="1" dirty="0">
                <a:solidFill>
                  <a:schemeClr val="accent1"/>
                </a:solidFill>
              </a:rPr>
              <a:t>3</a:t>
            </a:r>
            <a:endParaRPr lang="en-US" sz="3000" dirty="0"/>
          </a:p>
        </p:txBody>
      </p:sp>
      <p:sp>
        <p:nvSpPr>
          <p:cNvPr id="9" name="Text 7"/>
          <p:cNvSpPr txBox="1"/>
          <p:nvPr/>
        </p:nvSpPr>
        <p:spPr>
          <a:xfrm>
            <a:off x="1325880" y="4288536"/>
            <a:ext cx="4572000" cy="548640"/>
          </a:xfrm>
          <a:prstGeom prst="rect">
            <a:avLst/>
          </a:prstGeom>
          <a:noFill/>
          <a:ln/>
        </p:spPr>
        <p:txBody>
          <a:bodyPr wrap="square" lIns="0" tIns="0" rIns="0" bIns="0" rtlCol="0" anchor="t"/>
          <a:lstStyle/>
          <a:p>
            <a:pPr indent="0" marL="0">
              <a:buNone/>
            </a:pPr>
            <a:r>
              <a:rPr lang="en-US" sz="2800" b="1" dirty="0">
                <a:solidFill>
                  <a:schemeClr val="bg1"/>
                </a:solidFill>
              </a:rPr>
              <a:t>Hvor taber vi penge?</a:t>
            </a:r>
            <a:endParaRPr lang="en-US" sz="2800" dirty="0"/>
          </a:p>
        </p:txBody>
      </p:sp>
      <p:sp>
        <p:nvSpPr>
          <p:cNvPr id="10" name="Text 8"/>
          <p:cNvSpPr txBox="1"/>
          <p:nvPr/>
        </p:nvSpPr>
        <p:spPr>
          <a:xfrm>
            <a:off x="6172200" y="2514600"/>
            <a:ext cx="548640" cy="548640"/>
          </a:xfrm>
          <a:prstGeom prst="rect">
            <a:avLst/>
          </a:prstGeom>
          <a:noFill/>
          <a:ln/>
        </p:spPr>
        <p:txBody>
          <a:bodyPr wrap="square" lIns="0" tIns="0" rIns="0" bIns="0" rtlCol="0" anchor="t"/>
          <a:lstStyle/>
          <a:p>
            <a:pPr indent="0" marL="0">
              <a:buNone/>
            </a:pPr>
            <a:r>
              <a:rPr lang="en-US" sz="3000" b="1" dirty="0">
                <a:solidFill>
                  <a:schemeClr val="accent1"/>
                </a:solidFill>
              </a:rPr>
              <a:t>4</a:t>
            </a:r>
            <a:endParaRPr lang="en-US" sz="3000" dirty="0"/>
          </a:p>
        </p:txBody>
      </p:sp>
      <p:sp>
        <p:nvSpPr>
          <p:cNvPr id="11" name="Text 9"/>
          <p:cNvSpPr txBox="1"/>
          <p:nvPr/>
        </p:nvSpPr>
        <p:spPr>
          <a:xfrm>
            <a:off x="6812280" y="2551176"/>
            <a:ext cx="4572000" cy="548640"/>
          </a:xfrm>
          <a:prstGeom prst="rect">
            <a:avLst/>
          </a:prstGeom>
          <a:noFill/>
          <a:ln/>
        </p:spPr>
        <p:txBody>
          <a:bodyPr wrap="square" lIns="0" tIns="0" rIns="0" bIns="0" rtlCol="0" anchor="t"/>
          <a:lstStyle/>
          <a:p>
            <a:pPr indent="0" marL="0">
              <a:buNone/>
            </a:pPr>
            <a:r>
              <a:rPr lang="en-US" sz="2800" b="1" dirty="0">
                <a:solidFill>
                  <a:schemeClr val="bg1"/>
                </a:solidFill>
              </a:rPr>
              <a:t>Formel på dansk</a:t>
            </a:r>
            <a:endParaRPr lang="en-US" sz="2800" dirty="0"/>
          </a:p>
        </p:txBody>
      </p:sp>
      <p:sp>
        <p:nvSpPr>
          <p:cNvPr id="12" name="Text 10"/>
          <p:cNvSpPr txBox="1"/>
          <p:nvPr/>
        </p:nvSpPr>
        <p:spPr>
          <a:xfrm>
            <a:off x="6172200" y="3383280"/>
            <a:ext cx="548640" cy="548640"/>
          </a:xfrm>
          <a:prstGeom prst="rect">
            <a:avLst/>
          </a:prstGeom>
          <a:noFill/>
          <a:ln/>
        </p:spPr>
        <p:txBody>
          <a:bodyPr wrap="square" lIns="0" tIns="0" rIns="0" bIns="0" rtlCol="0" anchor="t"/>
          <a:lstStyle/>
          <a:p>
            <a:pPr indent="0" marL="0">
              <a:buNone/>
            </a:pPr>
            <a:r>
              <a:rPr lang="en-US" sz="3000" b="1" dirty="0">
                <a:solidFill>
                  <a:schemeClr val="accent1"/>
                </a:solidFill>
              </a:rPr>
              <a:t>5</a:t>
            </a:r>
            <a:endParaRPr lang="en-US" sz="3000" dirty="0"/>
          </a:p>
        </p:txBody>
      </p:sp>
      <p:sp>
        <p:nvSpPr>
          <p:cNvPr id="13" name="Text 11"/>
          <p:cNvSpPr txBox="1"/>
          <p:nvPr/>
        </p:nvSpPr>
        <p:spPr>
          <a:xfrm>
            <a:off x="6812280" y="3419856"/>
            <a:ext cx="4572000" cy="548640"/>
          </a:xfrm>
          <a:prstGeom prst="rect">
            <a:avLst/>
          </a:prstGeom>
          <a:noFill/>
          <a:ln/>
        </p:spPr>
        <p:txBody>
          <a:bodyPr wrap="square" lIns="0" tIns="0" rIns="0" bIns="0" rtlCol="0" anchor="t"/>
          <a:lstStyle/>
          <a:p>
            <a:pPr indent="0" marL="0">
              <a:buNone/>
            </a:pPr>
            <a:r>
              <a:rPr lang="en-US" sz="2800" b="1" dirty="0">
                <a:solidFill>
                  <a:schemeClr val="bg1"/>
                </a:solidFill>
              </a:rPr>
              <a:t>Pipeline</a:t>
            </a:r>
            <a:endParaRPr lang="en-US" sz="2800" dirty="0"/>
          </a:p>
        </p:txBody>
      </p:sp>
      <p:sp>
        <p:nvSpPr>
          <p:cNvPr id="14" name="Text 12"/>
          <p:cNvSpPr txBox="1"/>
          <p:nvPr/>
        </p:nvSpPr>
        <p:spPr>
          <a:xfrm>
            <a:off x="6172200" y="4251960"/>
            <a:ext cx="548640" cy="548640"/>
          </a:xfrm>
          <a:prstGeom prst="rect">
            <a:avLst/>
          </a:prstGeom>
          <a:noFill/>
          <a:ln/>
        </p:spPr>
        <p:txBody>
          <a:bodyPr wrap="square" lIns="0" tIns="0" rIns="0" bIns="0" rtlCol="0" anchor="t"/>
          <a:lstStyle/>
          <a:p>
            <a:pPr indent="0" marL="0">
              <a:buNone/>
            </a:pPr>
            <a:r>
              <a:rPr lang="en-US" sz="3000" b="1" dirty="0">
                <a:solidFill>
                  <a:schemeClr val="accent1"/>
                </a:solidFill>
              </a:rPr>
              <a:t>6</a:t>
            </a:r>
            <a:endParaRPr lang="en-US" sz="3000" dirty="0"/>
          </a:p>
        </p:txBody>
      </p:sp>
      <p:sp>
        <p:nvSpPr>
          <p:cNvPr id="15" name="Text 13"/>
          <p:cNvSpPr txBox="1"/>
          <p:nvPr/>
        </p:nvSpPr>
        <p:spPr>
          <a:xfrm>
            <a:off x="6812280" y="4288536"/>
            <a:ext cx="4572000" cy="548640"/>
          </a:xfrm>
          <a:prstGeom prst="rect">
            <a:avLst/>
          </a:prstGeom>
          <a:noFill/>
          <a:ln/>
        </p:spPr>
        <p:txBody>
          <a:bodyPr wrap="square" lIns="0" tIns="0" rIns="0" bIns="0" rtlCol="0" anchor="t"/>
          <a:lstStyle/>
          <a:p>
            <a:pPr indent="0" marL="0">
              <a:buNone/>
            </a:pPr>
            <a:r>
              <a:rPr lang="en-US" sz="2800" b="1" dirty="0">
                <a:solidFill>
                  <a:schemeClr val="bg1"/>
                </a:solidFill>
              </a:rPr>
              <a:t>Lever</a:t>
            </a:r>
            <a:endParaRPr lang="en-US"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PROMPT 1  ·  OVERBLIK</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Tilbehør tjener mest pr. krone. </a:t>
            </a:r>
            <a:pPr algn="l" indent="0" marL="0">
              <a:lnSpc>
                <a:spcPct val="93000"/>
              </a:lnSpc>
              <a:buNone/>
            </a:pPr>
            <a:r>
              <a:rPr lang="en-US" sz="3400" b="1" dirty="0">
                <a:solidFill>
                  <a:schemeClr val="accent1"/>
                </a:solidFill>
              </a:rPr>
              <a:t>Sko mindst</a:t>
            </a:r>
            <a:endParaRPr lang="en-US" sz="3400" dirty="0"/>
          </a:p>
        </p:txBody>
      </p:sp>
      <p:graphicFrame>
        <p:nvGraphicFramePr>
          <p:cNvPr id="4" name="Chart 0" descr=""/>
          <p:cNvGraphicFramePr/>
          <p:nvPr/>
        </p:nvGraphicFramePr>
        <p:xfrm>
          <a:off x="685800" y="2240280"/>
          <a:ext cx="7863840" cy="36576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869680" y="2286000"/>
            <a:ext cx="2651760" cy="1188720"/>
          </a:xfrm>
          <a:prstGeom prst="rect">
            <a:avLst/>
          </a:prstGeom>
          <a:noFill/>
          <a:ln/>
        </p:spPr>
        <p:txBody>
          <a:bodyPr wrap="square" lIns="0" tIns="0" rIns="0" bIns="0" rtlCol="0" anchor="b"/>
          <a:lstStyle/>
          <a:p>
            <a:pPr indent="0" marL="0">
              <a:buNone/>
            </a:pPr>
            <a:r>
              <a:rPr lang="en-US" sz="5400" b="1" dirty="0">
                <a:solidFill>
                  <a:schemeClr val="accent1"/>
                </a:solidFill>
              </a:rPr>
              <a:t>41,0 %</a:t>
            </a:r>
            <a:endParaRPr lang="en-US" sz="5400" dirty="0"/>
          </a:p>
        </p:txBody>
      </p:sp>
      <p:sp>
        <p:nvSpPr>
          <p:cNvPr id="6" name="Text 3"/>
          <p:cNvSpPr txBox="1"/>
          <p:nvPr/>
        </p:nvSpPr>
        <p:spPr>
          <a:xfrm>
            <a:off x="8869680" y="3520440"/>
            <a:ext cx="2606040" cy="1005840"/>
          </a:xfrm>
          <a:prstGeom prst="rect">
            <a:avLst/>
          </a:prstGeom>
          <a:noFill/>
          <a:ln/>
        </p:spPr>
        <p:txBody>
          <a:bodyPr wrap="square" lIns="0" tIns="0" rIns="0" bIns="0" rtlCol="0" anchor="t"/>
          <a:lstStyle/>
          <a:p>
            <a:pPr indent="0" marL="0">
              <a:buNone/>
            </a:pPr>
            <a:r>
              <a:rPr lang="en-US" sz="1700" dirty="0">
                <a:solidFill>
                  <a:schemeClr val="bg1"/>
                </a:solidFill>
              </a:rPr>
              <a:t>samlet dækningsgrad på 7,77 mio. kr. i omsætning</a:t>
            </a:r>
            <a:endParaRPr lang="en-US" sz="1700" dirty="0"/>
          </a:p>
        </p:txBody>
      </p:sp>
      <p:sp>
        <p:nvSpPr>
          <p:cNvPr id="7" name="Text 4"/>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3"/>
                </a:solidFill>
              </a:rPr>
              <a:t>Dækningsgrad pr. varegruppe, oktober 2025 til september 2026.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PROMPT 2  ·  ABC-ANALYSE</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Fem varer står for </a:t>
            </a:r>
            <a:pPr algn="l" indent="0" marL="0">
              <a:lnSpc>
                <a:spcPct val="93000"/>
              </a:lnSpc>
              <a:buNone/>
            </a:pPr>
            <a:r>
              <a:rPr lang="en-US" sz="3400" b="1" dirty="0">
                <a:solidFill>
                  <a:schemeClr val="accent1"/>
                </a:solidFill>
              </a:rPr>
              <a:t>56 % af dækningsbidraget</a:t>
            </a:r>
            <a:endParaRPr lang="en-US" sz="3400" dirty="0"/>
          </a:p>
        </p:txBody>
      </p:sp>
      <p:sp>
        <p:nvSpPr>
          <p:cNvPr id="4" name="Shape 2"/>
          <p:cNvSpPr/>
          <p:nvPr/>
        </p:nvSpPr>
        <p:spPr>
          <a:xfrm>
            <a:off x="685800" y="2331720"/>
            <a:ext cx="6084735" cy="960120"/>
          </a:xfrm>
          <a:prstGeom prst="rect">
            <a:avLst/>
          </a:prstGeom>
          <a:solidFill>
            <a:srgbClr val="EE4B1A"/>
          </a:solidFill>
          <a:ln w="12700">
            <a:solidFill>
              <a:srgbClr val="EE4B1A"/>
            </a:solidFill>
            <a:prstDash val="solid"/>
          </a:ln>
        </p:spPr>
      </p:sp>
      <p:sp>
        <p:nvSpPr>
          <p:cNvPr id="5" name="Shape 3"/>
          <p:cNvSpPr/>
          <p:nvPr/>
        </p:nvSpPr>
        <p:spPr>
          <a:xfrm>
            <a:off x="6825399" y="2331720"/>
            <a:ext cx="4680497" cy="960120"/>
          </a:xfrm>
          <a:prstGeom prst="rect">
            <a:avLst/>
          </a:prstGeom>
          <a:solidFill>
            <a:srgbClr val="2C2C2E"/>
          </a:solidFill>
          <a:ln w="12700">
            <a:solidFill>
              <a:srgbClr val="2C2C2E"/>
            </a:solidFill>
            <a:prstDash val="solid"/>
          </a:ln>
        </p:spPr>
      </p:sp>
      <p:sp>
        <p:nvSpPr>
          <p:cNvPr id="6" name="Text 4"/>
          <p:cNvSpPr txBox="1"/>
          <p:nvPr/>
        </p:nvSpPr>
        <p:spPr>
          <a:xfrm>
            <a:off x="960120" y="2331720"/>
            <a:ext cx="5563527" cy="960120"/>
          </a:xfrm>
          <a:prstGeom prst="rect">
            <a:avLst/>
          </a:prstGeom>
          <a:noFill/>
          <a:ln/>
        </p:spPr>
        <p:txBody>
          <a:bodyPr wrap="square" lIns="0" tIns="0" rIns="0" bIns="0" rtlCol="0" anchor="ctr"/>
          <a:lstStyle/>
          <a:p>
            <a:pPr indent="0" marL="0">
              <a:buNone/>
            </a:pPr>
            <a:r>
              <a:rPr lang="en-US" sz="2400" b="1" dirty="0">
                <a:solidFill>
                  <a:schemeClr val="bg1"/>
                </a:solidFill>
              </a:rPr>
              <a:t>56 %</a:t>
            </a:r>
            <a:pPr indent="0" marL="0">
              <a:buNone/>
            </a:pPr>
            <a:r>
              <a:rPr lang="en-US" sz="2400" dirty="0">
                <a:solidFill>
                  <a:schemeClr val="bg1"/>
                </a:solidFill>
              </a:rPr>
              <a:t>   1.802 tkr.</a:t>
            </a:r>
            <a:endParaRPr lang="en-US" sz="2400" dirty="0"/>
          </a:p>
        </p:txBody>
      </p:sp>
      <p:sp>
        <p:nvSpPr>
          <p:cNvPr id="7" name="Text 5"/>
          <p:cNvSpPr txBox="1"/>
          <p:nvPr/>
        </p:nvSpPr>
        <p:spPr>
          <a:xfrm>
            <a:off x="7099719" y="2331720"/>
            <a:ext cx="4159289" cy="960120"/>
          </a:xfrm>
          <a:prstGeom prst="rect">
            <a:avLst/>
          </a:prstGeom>
          <a:noFill/>
          <a:ln/>
        </p:spPr>
        <p:txBody>
          <a:bodyPr wrap="square" lIns="0" tIns="0" rIns="0" bIns="0" rtlCol="0" anchor="ctr"/>
          <a:lstStyle/>
          <a:p>
            <a:pPr indent="0" marL="0">
              <a:buNone/>
            </a:pPr>
            <a:r>
              <a:rPr lang="en-US" sz="2400" b="1" dirty="0">
                <a:solidFill>
                  <a:schemeClr val="bg1"/>
                </a:solidFill>
              </a:rPr>
              <a:t>44 %</a:t>
            </a:r>
            <a:pPr indent="0" marL="0">
              <a:buNone/>
            </a:pPr>
            <a:r>
              <a:rPr lang="en-US" sz="2400" dirty="0">
                <a:solidFill>
                  <a:schemeClr val="bg1"/>
                </a:solidFill>
              </a:rPr>
              <a:t>   1.388 tkr.</a:t>
            </a:r>
            <a:endParaRPr lang="en-US" sz="2400" dirty="0"/>
          </a:p>
        </p:txBody>
      </p:sp>
      <p:sp>
        <p:nvSpPr>
          <p:cNvPr id="8" name="Text 6"/>
          <p:cNvSpPr txBox="1"/>
          <p:nvPr/>
        </p:nvSpPr>
        <p:spPr>
          <a:xfrm>
            <a:off x="685800" y="3611880"/>
            <a:ext cx="3657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FEM A-VARER</a:t>
            </a:r>
            <a:endParaRPr lang="en-US" sz="1200" dirty="0"/>
          </a:p>
        </p:txBody>
      </p:sp>
      <p:sp>
        <p:nvSpPr>
          <p:cNvPr id="9" name="Text 7"/>
          <p:cNvSpPr txBox="1"/>
          <p:nvPr/>
        </p:nvSpPr>
        <p:spPr>
          <a:xfrm>
            <a:off x="6858000" y="3611880"/>
            <a:ext cx="45720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ELLEVE ØVRIGE VARER</a:t>
            </a:r>
            <a:endParaRPr lang="en-US" sz="1200" dirty="0"/>
          </a:p>
        </p:txBody>
      </p:sp>
      <p:sp>
        <p:nvSpPr>
          <p:cNvPr id="10" name="Text 8"/>
          <p:cNvSpPr txBox="1"/>
          <p:nvPr/>
        </p:nvSpPr>
        <p:spPr>
          <a:xfrm>
            <a:off x="685800" y="4023360"/>
            <a:ext cx="3291840" cy="347472"/>
          </a:xfrm>
          <a:prstGeom prst="rect">
            <a:avLst/>
          </a:prstGeom>
          <a:noFill/>
          <a:ln/>
        </p:spPr>
        <p:txBody>
          <a:bodyPr wrap="square" lIns="0" tIns="0" rIns="0" bIns="0" rtlCol="0" anchor="t"/>
          <a:lstStyle/>
          <a:p>
            <a:pPr indent="0" marL="0">
              <a:buNone/>
            </a:pPr>
            <a:r>
              <a:rPr lang="en-US" sz="1700" dirty="0">
                <a:solidFill>
                  <a:schemeClr val="bg1"/>
                </a:solidFill>
              </a:rPr>
              <a:t>Vandresko Mid</a:t>
            </a:r>
            <a:endParaRPr lang="en-US" sz="1700" dirty="0"/>
          </a:p>
        </p:txBody>
      </p:sp>
      <p:sp>
        <p:nvSpPr>
          <p:cNvPr id="11" name="Text 9"/>
          <p:cNvSpPr txBox="1"/>
          <p:nvPr/>
        </p:nvSpPr>
        <p:spPr>
          <a:xfrm>
            <a:off x="3977640" y="4023360"/>
            <a:ext cx="1280160" cy="347472"/>
          </a:xfrm>
          <a:prstGeom prst="rect">
            <a:avLst/>
          </a:prstGeom>
          <a:noFill/>
          <a:ln/>
        </p:spPr>
        <p:txBody>
          <a:bodyPr wrap="square" lIns="0" tIns="0" rIns="0" bIns="0" rtlCol="0" anchor="t"/>
          <a:lstStyle/>
          <a:p>
            <a:pPr algn="r" indent="0" marL="0">
              <a:buNone/>
            </a:pPr>
            <a:r>
              <a:rPr lang="en-US" sz="1700" b="1" dirty="0">
                <a:solidFill>
                  <a:schemeClr val="bg1"/>
                </a:solidFill>
              </a:rPr>
              <a:t>476 tkr.</a:t>
            </a:r>
            <a:endParaRPr lang="en-US" sz="1700" dirty="0"/>
          </a:p>
        </p:txBody>
      </p:sp>
      <p:sp>
        <p:nvSpPr>
          <p:cNvPr id="12" name="Text 10"/>
          <p:cNvSpPr txBox="1"/>
          <p:nvPr/>
        </p:nvSpPr>
        <p:spPr>
          <a:xfrm>
            <a:off x="685800" y="4407408"/>
            <a:ext cx="3291840" cy="347472"/>
          </a:xfrm>
          <a:prstGeom prst="rect">
            <a:avLst/>
          </a:prstGeom>
          <a:noFill/>
          <a:ln/>
        </p:spPr>
        <p:txBody>
          <a:bodyPr wrap="square" lIns="0" tIns="0" rIns="0" bIns="0" rtlCol="0" anchor="t"/>
          <a:lstStyle/>
          <a:p>
            <a:pPr indent="0" marL="0">
              <a:buNone/>
            </a:pPr>
            <a:r>
              <a:rPr lang="en-US" sz="1700" dirty="0">
                <a:solidFill>
                  <a:schemeClr val="bg1"/>
                </a:solidFill>
              </a:rPr>
              <a:t>Regnjakke Basic</a:t>
            </a:r>
            <a:endParaRPr lang="en-US" sz="1700" dirty="0"/>
          </a:p>
        </p:txBody>
      </p:sp>
      <p:sp>
        <p:nvSpPr>
          <p:cNvPr id="13" name="Text 11"/>
          <p:cNvSpPr txBox="1"/>
          <p:nvPr/>
        </p:nvSpPr>
        <p:spPr>
          <a:xfrm>
            <a:off x="3977640" y="4407408"/>
            <a:ext cx="1280160" cy="347472"/>
          </a:xfrm>
          <a:prstGeom prst="rect">
            <a:avLst/>
          </a:prstGeom>
          <a:noFill/>
          <a:ln/>
        </p:spPr>
        <p:txBody>
          <a:bodyPr wrap="square" lIns="0" tIns="0" rIns="0" bIns="0" rtlCol="0" anchor="t"/>
          <a:lstStyle/>
          <a:p>
            <a:pPr algn="r" indent="0" marL="0">
              <a:buNone/>
            </a:pPr>
            <a:r>
              <a:rPr lang="en-US" sz="1700" b="1" dirty="0">
                <a:solidFill>
                  <a:schemeClr val="bg1"/>
                </a:solidFill>
              </a:rPr>
              <a:t>361 tkr.</a:t>
            </a:r>
            <a:endParaRPr lang="en-US" sz="1700" dirty="0"/>
          </a:p>
        </p:txBody>
      </p:sp>
      <p:sp>
        <p:nvSpPr>
          <p:cNvPr id="14" name="Text 12"/>
          <p:cNvSpPr txBox="1"/>
          <p:nvPr/>
        </p:nvSpPr>
        <p:spPr>
          <a:xfrm>
            <a:off x="685800" y="4791456"/>
            <a:ext cx="3291840" cy="347472"/>
          </a:xfrm>
          <a:prstGeom prst="rect">
            <a:avLst/>
          </a:prstGeom>
          <a:noFill/>
          <a:ln/>
        </p:spPr>
        <p:txBody>
          <a:bodyPr wrap="square" lIns="0" tIns="0" rIns="0" bIns="0" rtlCol="0" anchor="t"/>
          <a:lstStyle/>
          <a:p>
            <a:pPr indent="0" marL="0">
              <a:buNone/>
            </a:pPr>
            <a:r>
              <a:rPr lang="en-US" sz="1700" dirty="0">
                <a:solidFill>
                  <a:schemeClr val="bg1"/>
                </a:solidFill>
              </a:rPr>
              <a:t>Løbesko Trail X</a:t>
            </a:r>
            <a:endParaRPr lang="en-US" sz="1700" dirty="0"/>
          </a:p>
        </p:txBody>
      </p:sp>
      <p:sp>
        <p:nvSpPr>
          <p:cNvPr id="15" name="Text 13"/>
          <p:cNvSpPr txBox="1"/>
          <p:nvPr/>
        </p:nvSpPr>
        <p:spPr>
          <a:xfrm>
            <a:off x="3977640" y="4791456"/>
            <a:ext cx="1280160" cy="347472"/>
          </a:xfrm>
          <a:prstGeom prst="rect">
            <a:avLst/>
          </a:prstGeom>
          <a:noFill/>
          <a:ln/>
        </p:spPr>
        <p:txBody>
          <a:bodyPr wrap="square" lIns="0" tIns="0" rIns="0" bIns="0" rtlCol="0" anchor="t"/>
          <a:lstStyle/>
          <a:p>
            <a:pPr algn="r" indent="0" marL="0">
              <a:buNone/>
            </a:pPr>
            <a:r>
              <a:rPr lang="en-US" sz="1700" b="1" dirty="0">
                <a:solidFill>
                  <a:schemeClr val="bg1"/>
                </a:solidFill>
              </a:rPr>
              <a:t>345 tkr.</a:t>
            </a:r>
            <a:endParaRPr lang="en-US" sz="1700" dirty="0"/>
          </a:p>
        </p:txBody>
      </p:sp>
      <p:sp>
        <p:nvSpPr>
          <p:cNvPr id="16" name="Text 14"/>
          <p:cNvSpPr txBox="1"/>
          <p:nvPr/>
        </p:nvSpPr>
        <p:spPr>
          <a:xfrm>
            <a:off x="685800" y="5175504"/>
            <a:ext cx="3291840" cy="347472"/>
          </a:xfrm>
          <a:prstGeom prst="rect">
            <a:avLst/>
          </a:prstGeom>
          <a:noFill/>
          <a:ln/>
        </p:spPr>
        <p:txBody>
          <a:bodyPr wrap="square" lIns="0" tIns="0" rIns="0" bIns="0" rtlCol="0" anchor="t"/>
          <a:lstStyle/>
          <a:p>
            <a:pPr indent="0" marL="0">
              <a:buNone/>
            </a:pPr>
            <a:r>
              <a:rPr lang="en-US" sz="1700" dirty="0">
                <a:solidFill>
                  <a:schemeClr val="bg1"/>
                </a:solidFill>
              </a:rPr>
              <a:t>Dunjakke Light</a:t>
            </a:r>
            <a:endParaRPr lang="en-US" sz="1700" dirty="0"/>
          </a:p>
        </p:txBody>
      </p:sp>
      <p:sp>
        <p:nvSpPr>
          <p:cNvPr id="17" name="Text 15"/>
          <p:cNvSpPr txBox="1"/>
          <p:nvPr/>
        </p:nvSpPr>
        <p:spPr>
          <a:xfrm>
            <a:off x="3977640" y="5175504"/>
            <a:ext cx="1280160" cy="347472"/>
          </a:xfrm>
          <a:prstGeom prst="rect">
            <a:avLst/>
          </a:prstGeom>
          <a:noFill/>
          <a:ln/>
        </p:spPr>
        <p:txBody>
          <a:bodyPr wrap="square" lIns="0" tIns="0" rIns="0" bIns="0" rtlCol="0" anchor="t"/>
          <a:lstStyle/>
          <a:p>
            <a:pPr algn="r" indent="0" marL="0">
              <a:buNone/>
            </a:pPr>
            <a:r>
              <a:rPr lang="en-US" sz="1700" b="1" dirty="0">
                <a:solidFill>
                  <a:schemeClr val="bg1"/>
                </a:solidFill>
              </a:rPr>
              <a:t>317 tkr.</a:t>
            </a:r>
            <a:endParaRPr lang="en-US" sz="1700" dirty="0"/>
          </a:p>
        </p:txBody>
      </p:sp>
      <p:sp>
        <p:nvSpPr>
          <p:cNvPr id="18" name="Text 16"/>
          <p:cNvSpPr txBox="1"/>
          <p:nvPr/>
        </p:nvSpPr>
        <p:spPr>
          <a:xfrm>
            <a:off x="685800" y="5559552"/>
            <a:ext cx="3291840" cy="347472"/>
          </a:xfrm>
          <a:prstGeom prst="rect">
            <a:avLst/>
          </a:prstGeom>
          <a:noFill/>
          <a:ln/>
        </p:spPr>
        <p:txBody>
          <a:bodyPr wrap="square" lIns="0" tIns="0" rIns="0" bIns="0" rtlCol="0" anchor="t"/>
          <a:lstStyle/>
          <a:p>
            <a:pPr indent="0" marL="0">
              <a:buNone/>
            </a:pPr>
            <a:r>
              <a:rPr lang="en-US" sz="1700" dirty="0">
                <a:solidFill>
                  <a:schemeClr val="bg1"/>
                </a:solidFill>
              </a:rPr>
              <a:t>Skaljakke Pro</a:t>
            </a:r>
            <a:endParaRPr lang="en-US" sz="1700" dirty="0"/>
          </a:p>
        </p:txBody>
      </p:sp>
      <p:sp>
        <p:nvSpPr>
          <p:cNvPr id="19" name="Text 17"/>
          <p:cNvSpPr txBox="1"/>
          <p:nvPr/>
        </p:nvSpPr>
        <p:spPr>
          <a:xfrm>
            <a:off x="3977640" y="5559552"/>
            <a:ext cx="1280160" cy="347472"/>
          </a:xfrm>
          <a:prstGeom prst="rect">
            <a:avLst/>
          </a:prstGeom>
          <a:noFill/>
          <a:ln/>
        </p:spPr>
        <p:txBody>
          <a:bodyPr wrap="square" lIns="0" tIns="0" rIns="0" bIns="0" rtlCol="0" anchor="t"/>
          <a:lstStyle/>
          <a:p>
            <a:pPr algn="r" indent="0" marL="0">
              <a:buNone/>
            </a:pPr>
            <a:r>
              <a:rPr lang="en-US" sz="1700" b="1" dirty="0">
                <a:solidFill>
                  <a:schemeClr val="bg1"/>
                </a:solidFill>
              </a:rPr>
              <a:t>303 tkr.</a:t>
            </a:r>
            <a:endParaRPr lang="en-US" sz="1700" dirty="0"/>
          </a:p>
        </p:txBody>
      </p:sp>
      <p:sp>
        <p:nvSpPr>
          <p:cNvPr id="20" name="Text 18"/>
          <p:cNvSpPr txBox="1"/>
          <p:nvPr/>
        </p:nvSpPr>
        <p:spPr>
          <a:xfrm>
            <a:off x="6858000" y="4023360"/>
            <a:ext cx="4572000" cy="1463040"/>
          </a:xfrm>
          <a:prstGeom prst="rect">
            <a:avLst/>
          </a:prstGeom>
          <a:noFill/>
          <a:ln/>
        </p:spPr>
        <p:txBody>
          <a:bodyPr wrap="square" lIns="0" tIns="0" rIns="0" bIns="0" rtlCol="0" anchor="t"/>
          <a:lstStyle/>
          <a:p>
            <a:pPr indent="0" marL="0">
              <a:buNone/>
            </a:pPr>
            <a:r>
              <a:rPr lang="en-US" sz="1600" dirty="0">
                <a:solidFill>
                  <a:schemeClr val="accent3"/>
                </a:solidFill>
              </a:rPr>
              <a:t>Dagstur 25 L, uldsokker, telt, drikkeflaske, gummistøvler, Trek 50 L, sovepose, hue, handsker, pandelampe og liggeunderlag</a:t>
            </a:r>
            <a:endParaRPr lang="en-US" sz="1600" dirty="0"/>
          </a:p>
        </p:txBody>
      </p:sp>
      <p:sp>
        <p:nvSpPr>
          <p:cNvPr id="21" name="Text 19"/>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3"/>
                </a:solidFill>
              </a:rPr>
              <a:t>Dækningsbidrag i tusinde kr., oktober 2025 til september 2026.</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PROMPT 3  ·  HVOR TABER VI PENGE?</a:t>
            </a:r>
            <a:endParaRPr lang="en-US" sz="1200" dirty="0"/>
          </a:p>
        </p:txBody>
      </p:sp>
      <p:sp>
        <p:nvSpPr>
          <p:cNvPr id="3" name="Text 1"/>
          <p:cNvSpPr txBox="1"/>
          <p:nvPr/>
        </p:nvSpPr>
        <p:spPr>
          <a:xfrm>
            <a:off x="685800" y="804672"/>
            <a:ext cx="10820095" cy="1280160"/>
          </a:xfrm>
          <a:prstGeom prst="rect">
            <a:avLst/>
          </a:prstGeom>
          <a:noFill/>
          <a:ln/>
        </p:spPr>
        <p:txBody>
          <a:bodyPr wrap="square" lIns="0" tIns="0" rIns="0" bIns="0" rtlCol="0" anchor="t"/>
          <a:lstStyle/>
          <a:p>
            <a:pPr indent="0" marL="0">
              <a:lnSpc>
                <a:spcPct val="93000"/>
              </a:lnSpc>
              <a:buNone/>
            </a:pPr>
            <a:r>
              <a:rPr lang="en-US" sz="3400" b="1" dirty="0">
                <a:solidFill>
                  <a:schemeClr val="bg1"/>
                </a:solidFill>
              </a:rPr>
              <a:t>November-rabatten gjorde én vare til </a:t>
            </a:r>
            <a:pPr indent="0" marL="0">
              <a:lnSpc>
                <a:spcPct val="93000"/>
              </a:lnSpc>
              <a:buNone/>
            </a:pPr>
            <a:r>
              <a:rPr lang="en-US" sz="3400" b="1" dirty="0">
                <a:solidFill>
                  <a:schemeClr val="accent1"/>
                </a:solidFill>
              </a:rPr>
              <a:t>en underskudsforretning</a:t>
            </a:r>
            <a:endParaRPr lang="en-US" sz="3400" dirty="0"/>
          </a:p>
        </p:txBody>
      </p:sp>
      <p:sp>
        <p:nvSpPr>
          <p:cNvPr id="4" name="Text 2"/>
          <p:cNvSpPr txBox="1"/>
          <p:nvPr/>
        </p:nvSpPr>
        <p:spPr>
          <a:xfrm>
            <a:off x="640080" y="2240280"/>
            <a:ext cx="10515600" cy="2377440"/>
          </a:xfrm>
          <a:prstGeom prst="rect">
            <a:avLst/>
          </a:prstGeom>
          <a:noFill/>
          <a:ln/>
        </p:spPr>
        <p:txBody>
          <a:bodyPr wrap="square" lIns="0" tIns="0" rIns="0" bIns="0" rtlCol="0" anchor="ctr"/>
          <a:lstStyle/>
          <a:p>
            <a:pPr indent="0" marL="0">
              <a:lnSpc>
                <a:spcPct val="90000"/>
              </a:lnSpc>
              <a:buNone/>
            </a:pPr>
            <a:r>
              <a:rPr lang="en-US" sz="13000" b="1" dirty="0">
                <a:solidFill>
                  <a:schemeClr val="accent1"/>
                </a:solidFill>
              </a:rPr>
              <a:t>−16.833 kr.</a:t>
            </a:r>
            <a:endParaRPr lang="en-US" sz="13000" dirty="0"/>
          </a:p>
        </p:txBody>
      </p:sp>
      <p:sp>
        <p:nvSpPr>
          <p:cNvPr id="5" name="Text 3"/>
          <p:cNvSpPr txBox="1"/>
          <p:nvPr/>
        </p:nvSpPr>
        <p:spPr>
          <a:xfrm>
            <a:off x="685800" y="4800600"/>
            <a:ext cx="8686800" cy="1097280"/>
          </a:xfrm>
          <a:prstGeom prst="rect">
            <a:avLst/>
          </a:prstGeom>
          <a:noFill/>
          <a:ln/>
        </p:spPr>
        <p:txBody>
          <a:bodyPr wrap="square" lIns="0" tIns="0" rIns="0" bIns="0" rtlCol="0" anchor="t"/>
          <a:lstStyle/>
          <a:p>
            <a:pPr indent="0" marL="0">
              <a:buNone/>
            </a:pPr>
            <a:r>
              <a:rPr lang="en-US" sz="2200" dirty="0">
                <a:solidFill>
                  <a:schemeClr val="accent3"/>
                </a:solidFill>
              </a:rPr>
              <a:t>Løbesko Trail X, november 2025. 45 % rabat på en vare med 40 % dækningsgrad. Alle tre butikker tabte penge.</a:t>
            </a:r>
            <a:endParaRPr 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PROMPT 3  ·  RABATTER</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Kolding giver næsten </a:t>
            </a:r>
            <a:pPr algn="l" indent="0" marL="0">
              <a:lnSpc>
                <a:spcPct val="93000"/>
              </a:lnSpc>
              <a:buNone/>
            </a:pPr>
            <a:r>
              <a:rPr lang="en-US" sz="3400" b="1" dirty="0">
                <a:solidFill>
                  <a:schemeClr val="accent1"/>
                </a:solidFill>
              </a:rPr>
              <a:t>tre gange så meget rabat</a:t>
            </a:r>
            <a:pPr algn="l" indent="0" marL="0">
              <a:lnSpc>
                <a:spcPct val="93000"/>
              </a:lnSpc>
              <a:buNone/>
            </a:pPr>
            <a:r>
              <a:rPr lang="en-US" sz="3400" b="1" dirty="0">
                <a:solidFill>
                  <a:schemeClr val="bg1"/>
                </a:solidFill>
              </a:rPr>
              <a:t> på jakker</a:t>
            </a:r>
            <a:endParaRPr lang="en-US" sz="3400" dirty="0"/>
          </a:p>
        </p:txBody>
      </p:sp>
      <p:sp>
        <p:nvSpPr>
          <p:cNvPr id="4" name="Text 2"/>
          <p:cNvSpPr txBox="1"/>
          <p:nvPr/>
        </p:nvSpPr>
        <p:spPr>
          <a:xfrm>
            <a:off x="640080" y="2331720"/>
            <a:ext cx="6949440" cy="2286000"/>
          </a:xfrm>
          <a:prstGeom prst="rect">
            <a:avLst/>
          </a:prstGeom>
          <a:noFill/>
          <a:ln/>
        </p:spPr>
        <p:txBody>
          <a:bodyPr wrap="square" lIns="0" tIns="0" rIns="0" bIns="0" rtlCol="0" anchor="ctr"/>
          <a:lstStyle/>
          <a:p>
            <a:pPr indent="0" marL="0">
              <a:buNone/>
            </a:pPr>
            <a:r>
              <a:rPr lang="en-US" sz="13000" b="1" dirty="0">
                <a:solidFill>
                  <a:schemeClr val="accent1"/>
                </a:solidFill>
              </a:rPr>
              <a:t>25,9 %</a:t>
            </a:r>
            <a:endParaRPr lang="en-US" sz="13000" dirty="0"/>
          </a:p>
        </p:txBody>
      </p:sp>
      <p:sp>
        <p:nvSpPr>
          <p:cNvPr id="5" name="Text 3"/>
          <p:cNvSpPr txBox="1"/>
          <p:nvPr/>
        </p:nvSpPr>
        <p:spPr>
          <a:xfrm>
            <a:off x="685800" y="4709160"/>
            <a:ext cx="3657600" cy="457200"/>
          </a:xfrm>
          <a:prstGeom prst="rect">
            <a:avLst/>
          </a:prstGeom>
          <a:noFill/>
          <a:ln/>
        </p:spPr>
        <p:txBody>
          <a:bodyPr wrap="square" lIns="0" tIns="0" rIns="0" bIns="0" rtlCol="0" anchor="t"/>
          <a:lstStyle/>
          <a:p>
            <a:pPr indent="0" marL="0">
              <a:buNone/>
            </a:pPr>
            <a:r>
              <a:rPr lang="en-US" sz="2400" b="1" dirty="0">
                <a:solidFill>
                  <a:schemeClr val="bg1"/>
                </a:solidFill>
              </a:rPr>
              <a:t>Kolding</a:t>
            </a:r>
            <a:endParaRPr lang="en-US" sz="2400" dirty="0"/>
          </a:p>
        </p:txBody>
      </p:sp>
      <p:sp>
        <p:nvSpPr>
          <p:cNvPr id="6" name="Shape 4"/>
          <p:cNvSpPr/>
          <p:nvPr/>
        </p:nvSpPr>
        <p:spPr>
          <a:xfrm>
            <a:off x="7863840" y="2743200"/>
            <a:ext cx="3639312" cy="0"/>
          </a:xfrm>
          <a:prstGeom prst="line">
            <a:avLst/>
          </a:prstGeom>
          <a:noFill/>
          <a:ln w="12700">
            <a:solidFill>
              <a:schemeClr val="accent5"/>
            </a:solidFill>
            <a:prstDash val="solid"/>
          </a:ln>
        </p:spPr>
      </p:sp>
      <p:sp>
        <p:nvSpPr>
          <p:cNvPr id="7" name="Text 5"/>
          <p:cNvSpPr txBox="1"/>
          <p:nvPr/>
        </p:nvSpPr>
        <p:spPr>
          <a:xfrm>
            <a:off x="7863840" y="2926080"/>
            <a:ext cx="3566160" cy="731520"/>
          </a:xfrm>
          <a:prstGeom prst="rect">
            <a:avLst/>
          </a:prstGeom>
          <a:noFill/>
          <a:ln/>
        </p:spPr>
        <p:txBody>
          <a:bodyPr wrap="square" lIns="0" tIns="0" rIns="0" bIns="0" rtlCol="0" anchor="t"/>
          <a:lstStyle/>
          <a:p>
            <a:pPr indent="0" marL="0">
              <a:buNone/>
            </a:pPr>
            <a:r>
              <a:rPr lang="en-US" sz="4400" b="1" dirty="0">
                <a:solidFill>
                  <a:schemeClr val="bg1"/>
                </a:solidFill>
              </a:rPr>
              <a:t>9,1 %</a:t>
            </a:r>
            <a:endParaRPr lang="en-US" sz="4400" dirty="0"/>
          </a:p>
        </p:txBody>
      </p:sp>
      <p:sp>
        <p:nvSpPr>
          <p:cNvPr id="8" name="Text 6"/>
          <p:cNvSpPr txBox="1"/>
          <p:nvPr/>
        </p:nvSpPr>
        <p:spPr>
          <a:xfrm>
            <a:off x="7863840" y="3611880"/>
            <a:ext cx="3566160" cy="320040"/>
          </a:xfrm>
          <a:prstGeom prst="rect">
            <a:avLst/>
          </a:prstGeom>
          <a:noFill/>
          <a:ln/>
        </p:spPr>
        <p:txBody>
          <a:bodyPr wrap="square" lIns="0" tIns="0" rIns="0" bIns="0" rtlCol="0" anchor="t"/>
          <a:lstStyle/>
          <a:p>
            <a:pPr indent="0" marL="0">
              <a:buNone/>
            </a:pPr>
            <a:r>
              <a:rPr lang="en-US" sz="1600" dirty="0">
                <a:solidFill>
                  <a:schemeClr val="accent3"/>
                </a:solidFill>
              </a:rPr>
              <a:t>Vejle</a:t>
            </a:r>
            <a:endParaRPr lang="en-US" sz="1600" dirty="0"/>
          </a:p>
        </p:txBody>
      </p:sp>
      <p:sp>
        <p:nvSpPr>
          <p:cNvPr id="9" name="Shape 7"/>
          <p:cNvSpPr/>
          <p:nvPr/>
        </p:nvSpPr>
        <p:spPr>
          <a:xfrm>
            <a:off x="7863840" y="4114800"/>
            <a:ext cx="3639312" cy="0"/>
          </a:xfrm>
          <a:prstGeom prst="line">
            <a:avLst/>
          </a:prstGeom>
          <a:noFill/>
          <a:ln w="12700">
            <a:solidFill>
              <a:schemeClr val="accent5"/>
            </a:solidFill>
            <a:prstDash val="solid"/>
          </a:ln>
        </p:spPr>
      </p:sp>
      <p:sp>
        <p:nvSpPr>
          <p:cNvPr id="10" name="Text 8"/>
          <p:cNvSpPr txBox="1"/>
          <p:nvPr/>
        </p:nvSpPr>
        <p:spPr>
          <a:xfrm>
            <a:off x="7863840" y="4297680"/>
            <a:ext cx="3566160" cy="731520"/>
          </a:xfrm>
          <a:prstGeom prst="rect">
            <a:avLst/>
          </a:prstGeom>
          <a:noFill/>
          <a:ln/>
        </p:spPr>
        <p:txBody>
          <a:bodyPr wrap="square" lIns="0" tIns="0" rIns="0" bIns="0" rtlCol="0" anchor="t"/>
          <a:lstStyle/>
          <a:p>
            <a:pPr indent="0" marL="0">
              <a:buNone/>
            </a:pPr>
            <a:r>
              <a:rPr lang="en-US" sz="4400" b="1" dirty="0">
                <a:solidFill>
                  <a:schemeClr val="bg1"/>
                </a:solidFill>
              </a:rPr>
              <a:t>9,3 %</a:t>
            </a:r>
            <a:endParaRPr lang="en-US" sz="4400" dirty="0"/>
          </a:p>
        </p:txBody>
      </p:sp>
      <p:sp>
        <p:nvSpPr>
          <p:cNvPr id="11" name="Text 9"/>
          <p:cNvSpPr txBox="1"/>
          <p:nvPr/>
        </p:nvSpPr>
        <p:spPr>
          <a:xfrm>
            <a:off x="7863840" y="4983480"/>
            <a:ext cx="3566160" cy="320040"/>
          </a:xfrm>
          <a:prstGeom prst="rect">
            <a:avLst/>
          </a:prstGeom>
          <a:noFill/>
          <a:ln/>
        </p:spPr>
        <p:txBody>
          <a:bodyPr wrap="square" lIns="0" tIns="0" rIns="0" bIns="0" rtlCol="0" anchor="t"/>
          <a:lstStyle/>
          <a:p>
            <a:pPr indent="0" marL="0">
              <a:buNone/>
            </a:pPr>
            <a:r>
              <a:rPr lang="en-US" sz="1600" dirty="0">
                <a:solidFill>
                  <a:schemeClr val="accent3"/>
                </a:solidFill>
              </a:rPr>
              <a:t>Fredericia</a:t>
            </a:r>
            <a:endParaRPr lang="en-US" sz="1600" dirty="0"/>
          </a:p>
        </p:txBody>
      </p:sp>
      <p:sp>
        <p:nvSpPr>
          <p:cNvPr id="12" name="Text 10"/>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3"/>
                </a:solidFill>
              </a:rPr>
              <a:t>Gennemsnitlig rabat på jakker pr. butik, oktober 2025 til september 2026.</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PROMPT 4  ·  FORMEL PÅ DANSK</a:t>
            </a:r>
            <a:endParaRPr lang="en-US" sz="1200" dirty="0"/>
          </a:p>
        </p:txBody>
      </p:sp>
      <p:sp>
        <p:nvSpPr>
          <p:cNvPr id="3" name="Text 1"/>
          <p:cNvSpPr txBox="1"/>
          <p:nvPr/>
        </p:nvSpPr>
        <p:spPr>
          <a:xfrm>
            <a:off x="685800" y="804672"/>
            <a:ext cx="10820095" cy="1280160"/>
          </a:xfrm>
          <a:prstGeom prst="rect">
            <a:avLst/>
          </a:prstGeom>
          <a:noFill/>
          <a:ln/>
        </p:spPr>
        <p:txBody>
          <a:bodyPr wrap="square" lIns="0" tIns="0" rIns="0" bIns="0" rtlCol="0" anchor="t"/>
          <a:lstStyle/>
          <a:p>
            <a:pPr indent="0" marL="0">
              <a:buNone/>
            </a:pPr>
            <a:r>
              <a:rPr lang="en-US" sz="3400" b="1" dirty="0">
                <a:solidFill>
                  <a:schemeClr val="bg1"/>
                </a:solidFill>
              </a:rPr>
              <a:t>AI skriver formlen. </a:t>
            </a:r>
            <a:pPr indent="0" marL="0">
              <a:buNone/>
            </a:pPr>
            <a:r>
              <a:rPr lang="en-US" sz="3400" b="1" dirty="0">
                <a:solidFill>
                  <a:schemeClr val="accent1"/>
                </a:solidFill>
              </a:rPr>
              <a:t>Du kopierer den ind.</a:t>
            </a:r>
            <a:endParaRPr lang="en-US" sz="3400" dirty="0"/>
          </a:p>
        </p:txBody>
      </p:sp>
      <p:sp>
        <p:nvSpPr>
          <p:cNvPr id="4" name="Text 2"/>
          <p:cNvSpPr txBox="1"/>
          <p:nvPr/>
        </p:nvSpPr>
        <p:spPr>
          <a:xfrm>
            <a:off x="685800" y="2560320"/>
            <a:ext cx="10820095" cy="1463040"/>
          </a:xfrm>
          <a:prstGeom prst="rect">
            <a:avLst/>
          </a:prstGeom>
          <a:noFill/>
          <a:ln/>
        </p:spPr>
        <p:txBody>
          <a:bodyPr wrap="square" lIns="0" tIns="0" rIns="0" bIns="0" rtlCol="0" anchor="ctr"/>
          <a:lstStyle/>
          <a:p>
            <a:pPr indent="0" marL="0">
              <a:buNone/>
            </a:pPr>
            <a:r>
              <a:rPr lang="en-US" sz="6600" b="1" dirty="0">
                <a:solidFill>
                  <a:schemeClr val="bg1"/>
                </a:solidFill>
              </a:rPr>
              <a:t>=E2*F2*(1-G2)-E2*H2</a:t>
            </a:r>
            <a:endParaRPr lang="en-US" sz="6600" dirty="0"/>
          </a:p>
        </p:txBody>
      </p:sp>
      <p:sp>
        <p:nvSpPr>
          <p:cNvPr id="5" name="Text 3"/>
          <p:cNvSpPr txBox="1"/>
          <p:nvPr/>
        </p:nvSpPr>
        <p:spPr>
          <a:xfrm>
            <a:off x="685800" y="4251960"/>
            <a:ext cx="9601200" cy="914400"/>
          </a:xfrm>
          <a:prstGeom prst="rect">
            <a:avLst/>
          </a:prstGeom>
          <a:noFill/>
          <a:ln/>
        </p:spPr>
        <p:txBody>
          <a:bodyPr wrap="square" lIns="0" tIns="0" rIns="0" bIns="0" rtlCol="0" anchor="t"/>
          <a:lstStyle/>
          <a:p>
            <a:pPr indent="0" marL="0">
              <a:buNone/>
            </a:pPr>
            <a:r>
              <a:rPr lang="en-US" sz="2100" dirty="0">
                <a:solidFill>
                  <a:schemeClr val="accent3"/>
                </a:solidFill>
              </a:rPr>
              <a:t>Antal × listepris × (1 − rabat) − antal × kostpris. </a:t>
            </a:r>
            <a:pPr indent="0" marL="0">
              <a:buNone/>
            </a:pPr>
            <a:r>
              <a:rPr lang="en-US" sz="2100" dirty="0">
                <a:solidFill>
                  <a:schemeClr val="accent1"/>
                </a:solidFill>
              </a:rPr>
              <a:t>Dækningsbidraget for hver linje.</a:t>
            </a:r>
            <a:endParaRPr lang="en-US" sz="2100" dirty="0"/>
          </a:p>
        </p:txBody>
      </p:sp>
      <p:sp>
        <p:nvSpPr>
          <p:cNvPr id="6" name="Text 4"/>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3"/>
                </a:solidFill>
              </a:rPr>
              <a:t>Kolonnerne i fanen Salg. E er antal, F listepris, G rabat og H kostpris.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PROMPT 5  ·  PIPELINE</a:t>
            </a:r>
            <a:endParaRPr lang="en-US" sz="1200" dirty="0"/>
          </a:p>
        </p:txBody>
      </p:sp>
      <p:sp>
        <p:nvSpPr>
          <p:cNvPr id="3" name="Text 1"/>
          <p:cNvSpPr txBox="1"/>
          <p:nvPr/>
        </p:nvSpPr>
        <p:spPr>
          <a:xfrm>
            <a:off x="685800" y="804672"/>
            <a:ext cx="10820095" cy="1280160"/>
          </a:xfrm>
          <a:prstGeom prst="rect">
            <a:avLst/>
          </a:prstGeom>
          <a:noFill/>
          <a:ln/>
        </p:spPr>
        <p:txBody>
          <a:bodyPr wrap="square" lIns="0" tIns="0" rIns="0" bIns="0" rtlCol="0" anchor="t"/>
          <a:lstStyle/>
          <a:p>
            <a:pPr indent="0" marL="0">
              <a:buNone/>
            </a:pPr>
            <a:r>
              <a:rPr lang="en-US" sz="3400" b="1" dirty="0">
                <a:solidFill>
                  <a:schemeClr val="bg1"/>
                </a:solidFill>
              </a:rPr>
              <a:t>Seks deals har stået stille i </a:t>
            </a:r>
            <a:pPr indent="0" marL="0">
              <a:buNone/>
            </a:pPr>
            <a:r>
              <a:rPr lang="en-US" sz="3400" b="1" dirty="0">
                <a:solidFill>
                  <a:schemeClr val="accent1"/>
                </a:solidFill>
              </a:rPr>
              <a:t>mere end 14 dage</a:t>
            </a:r>
            <a:endParaRPr lang="en-US" sz="3400" dirty="0"/>
          </a:p>
        </p:txBody>
      </p:sp>
      <p:sp>
        <p:nvSpPr>
          <p:cNvPr id="4" name="Text 2"/>
          <p:cNvSpPr txBox="1"/>
          <p:nvPr/>
        </p:nvSpPr>
        <p:spPr>
          <a:xfrm>
            <a:off x="640080" y="2377440"/>
            <a:ext cx="5943600" cy="1463040"/>
          </a:xfrm>
          <a:prstGeom prst="rect">
            <a:avLst/>
          </a:prstGeom>
          <a:noFill/>
          <a:ln/>
        </p:spPr>
        <p:txBody>
          <a:bodyPr wrap="square" lIns="0" tIns="0" rIns="0" bIns="0" rtlCol="0" anchor="ctr"/>
          <a:lstStyle/>
          <a:p>
            <a:pPr indent="0" marL="0">
              <a:buNone/>
            </a:pPr>
            <a:r>
              <a:rPr lang="en-US" sz="7000" b="1" dirty="0">
                <a:solidFill>
                  <a:schemeClr val="accent1"/>
                </a:solidFill>
              </a:rPr>
              <a:t>302.000 kr.</a:t>
            </a:r>
            <a:endParaRPr lang="en-US" sz="7000" dirty="0"/>
          </a:p>
        </p:txBody>
      </p:sp>
      <p:sp>
        <p:nvSpPr>
          <p:cNvPr id="5" name="Text 3"/>
          <p:cNvSpPr txBox="1"/>
          <p:nvPr/>
        </p:nvSpPr>
        <p:spPr>
          <a:xfrm>
            <a:off x="685800" y="4023360"/>
            <a:ext cx="4937760" cy="914400"/>
          </a:xfrm>
          <a:prstGeom prst="rect">
            <a:avLst/>
          </a:prstGeom>
          <a:noFill/>
          <a:ln/>
        </p:spPr>
        <p:txBody>
          <a:bodyPr wrap="square" lIns="0" tIns="0" rIns="0" bIns="0" rtlCol="0" anchor="t"/>
          <a:lstStyle/>
          <a:p>
            <a:pPr indent="0" marL="0">
              <a:buNone/>
            </a:pPr>
            <a:r>
              <a:rPr lang="en-US" sz="2000" dirty="0">
                <a:solidFill>
                  <a:schemeClr val="accent3"/>
                </a:solidFill>
              </a:rPr>
              <a:t>i tilbud og forhandlinger, der venter på en opfølgning</a:t>
            </a:r>
            <a:endParaRPr lang="en-US" sz="2000" dirty="0"/>
          </a:p>
        </p:txBody>
      </p:sp>
      <p:sp>
        <p:nvSpPr>
          <p:cNvPr id="6" name="Shape 4"/>
          <p:cNvSpPr/>
          <p:nvPr/>
        </p:nvSpPr>
        <p:spPr>
          <a:xfrm>
            <a:off x="6720840" y="2331720"/>
            <a:ext cx="4782312" cy="0"/>
          </a:xfrm>
          <a:prstGeom prst="line">
            <a:avLst/>
          </a:prstGeom>
          <a:noFill/>
          <a:ln w="9525">
            <a:solidFill>
              <a:schemeClr val="accent5"/>
            </a:solidFill>
            <a:prstDash val="solid"/>
          </a:ln>
        </p:spPr>
      </p:sp>
      <p:sp>
        <p:nvSpPr>
          <p:cNvPr id="7" name="Text 5"/>
          <p:cNvSpPr txBox="1"/>
          <p:nvPr/>
        </p:nvSpPr>
        <p:spPr>
          <a:xfrm>
            <a:off x="6720840" y="2441448"/>
            <a:ext cx="3017520" cy="365760"/>
          </a:xfrm>
          <a:prstGeom prst="rect">
            <a:avLst/>
          </a:prstGeom>
          <a:noFill/>
          <a:ln/>
        </p:spPr>
        <p:txBody>
          <a:bodyPr wrap="square" lIns="0" tIns="0" rIns="0" bIns="0" rtlCol="0" anchor="t"/>
          <a:lstStyle/>
          <a:p>
            <a:pPr indent="0" marL="0">
              <a:buNone/>
            </a:pPr>
            <a:r>
              <a:rPr lang="en-US" sz="1500" dirty="0">
                <a:solidFill>
                  <a:schemeClr val="bg1"/>
                </a:solidFill>
              </a:rPr>
              <a:t>Søndervang Plejecenter</a:t>
            </a:r>
            <a:endParaRPr lang="en-US" sz="1500" dirty="0"/>
          </a:p>
        </p:txBody>
      </p:sp>
      <p:sp>
        <p:nvSpPr>
          <p:cNvPr id="8" name="Text 6"/>
          <p:cNvSpPr txBox="1"/>
          <p:nvPr/>
        </p:nvSpPr>
        <p:spPr>
          <a:xfrm>
            <a:off x="9601200" y="2441448"/>
            <a:ext cx="1143000" cy="365760"/>
          </a:xfrm>
          <a:prstGeom prst="rect">
            <a:avLst/>
          </a:prstGeom>
          <a:noFill/>
          <a:ln/>
        </p:spPr>
        <p:txBody>
          <a:bodyPr wrap="square" lIns="0" tIns="0" rIns="0" bIns="0" rtlCol="0" anchor="t"/>
          <a:lstStyle/>
          <a:p>
            <a:pPr algn="r" indent="0" marL="0">
              <a:buNone/>
            </a:pPr>
            <a:r>
              <a:rPr lang="en-US" sz="1500" b="1" dirty="0">
                <a:solidFill>
                  <a:schemeClr val="bg1"/>
                </a:solidFill>
              </a:rPr>
              <a:t>79.000 kr.</a:t>
            </a:r>
            <a:endParaRPr lang="en-US" sz="1500" dirty="0"/>
          </a:p>
        </p:txBody>
      </p:sp>
      <p:sp>
        <p:nvSpPr>
          <p:cNvPr id="9" name="Text 7"/>
          <p:cNvSpPr txBox="1"/>
          <p:nvPr/>
        </p:nvSpPr>
        <p:spPr>
          <a:xfrm>
            <a:off x="10789920" y="2441448"/>
            <a:ext cx="713232" cy="365760"/>
          </a:xfrm>
          <a:prstGeom prst="rect">
            <a:avLst/>
          </a:prstGeom>
          <a:noFill/>
          <a:ln/>
        </p:spPr>
        <p:txBody>
          <a:bodyPr wrap="square" lIns="0" tIns="0" rIns="0" bIns="0" rtlCol="0" anchor="t"/>
          <a:lstStyle/>
          <a:p>
            <a:pPr algn="r" indent="0" marL="0">
              <a:buNone/>
            </a:pPr>
            <a:r>
              <a:rPr lang="en-US" sz="1500" dirty="0">
                <a:solidFill>
                  <a:schemeClr val="accent3"/>
                </a:solidFill>
              </a:rPr>
              <a:t>19 d</a:t>
            </a:r>
            <a:endParaRPr lang="en-US" sz="1500" dirty="0"/>
          </a:p>
        </p:txBody>
      </p:sp>
      <p:sp>
        <p:nvSpPr>
          <p:cNvPr id="10" name="Shape 8"/>
          <p:cNvSpPr/>
          <p:nvPr/>
        </p:nvSpPr>
        <p:spPr>
          <a:xfrm>
            <a:off x="6720840" y="2898648"/>
            <a:ext cx="4782312" cy="0"/>
          </a:xfrm>
          <a:prstGeom prst="line">
            <a:avLst/>
          </a:prstGeom>
          <a:noFill/>
          <a:ln w="9525">
            <a:solidFill>
              <a:schemeClr val="accent5"/>
            </a:solidFill>
            <a:prstDash val="solid"/>
          </a:ln>
        </p:spPr>
      </p:sp>
      <p:sp>
        <p:nvSpPr>
          <p:cNvPr id="11" name="Text 9"/>
          <p:cNvSpPr txBox="1"/>
          <p:nvPr/>
        </p:nvSpPr>
        <p:spPr>
          <a:xfrm>
            <a:off x="6720840" y="3008376"/>
            <a:ext cx="3017520" cy="365760"/>
          </a:xfrm>
          <a:prstGeom prst="rect">
            <a:avLst/>
          </a:prstGeom>
          <a:noFill/>
          <a:ln/>
        </p:spPr>
        <p:txBody>
          <a:bodyPr wrap="square" lIns="0" tIns="0" rIns="0" bIns="0" rtlCol="0" anchor="t"/>
          <a:lstStyle/>
          <a:p>
            <a:pPr indent="0" marL="0">
              <a:buNone/>
            </a:pPr>
            <a:r>
              <a:rPr lang="en-US" sz="1500" dirty="0">
                <a:solidFill>
                  <a:schemeClr val="bg1"/>
                </a:solidFill>
              </a:rPr>
              <a:t>Fjordbyens Løbeklub</a:t>
            </a:r>
            <a:endParaRPr lang="en-US" sz="1500" dirty="0"/>
          </a:p>
        </p:txBody>
      </p:sp>
      <p:sp>
        <p:nvSpPr>
          <p:cNvPr id="12" name="Text 10"/>
          <p:cNvSpPr txBox="1"/>
          <p:nvPr/>
        </p:nvSpPr>
        <p:spPr>
          <a:xfrm>
            <a:off x="9601200" y="3008376"/>
            <a:ext cx="1143000" cy="365760"/>
          </a:xfrm>
          <a:prstGeom prst="rect">
            <a:avLst/>
          </a:prstGeom>
          <a:noFill/>
          <a:ln/>
        </p:spPr>
        <p:txBody>
          <a:bodyPr wrap="square" lIns="0" tIns="0" rIns="0" bIns="0" rtlCol="0" anchor="t"/>
          <a:lstStyle/>
          <a:p>
            <a:pPr algn="r" indent="0" marL="0">
              <a:buNone/>
            </a:pPr>
            <a:r>
              <a:rPr lang="en-US" sz="1500" b="1" dirty="0">
                <a:solidFill>
                  <a:schemeClr val="bg1"/>
                </a:solidFill>
              </a:rPr>
              <a:t>79.000 kr.</a:t>
            </a:r>
            <a:endParaRPr lang="en-US" sz="1500" dirty="0"/>
          </a:p>
        </p:txBody>
      </p:sp>
      <p:sp>
        <p:nvSpPr>
          <p:cNvPr id="13" name="Text 11"/>
          <p:cNvSpPr txBox="1"/>
          <p:nvPr/>
        </p:nvSpPr>
        <p:spPr>
          <a:xfrm>
            <a:off x="10789920" y="3008376"/>
            <a:ext cx="713232" cy="365760"/>
          </a:xfrm>
          <a:prstGeom prst="rect">
            <a:avLst/>
          </a:prstGeom>
          <a:noFill/>
          <a:ln/>
        </p:spPr>
        <p:txBody>
          <a:bodyPr wrap="square" lIns="0" tIns="0" rIns="0" bIns="0" rtlCol="0" anchor="t"/>
          <a:lstStyle/>
          <a:p>
            <a:pPr algn="r" indent="0" marL="0">
              <a:buNone/>
            </a:pPr>
            <a:r>
              <a:rPr lang="en-US" sz="1500" dirty="0">
                <a:solidFill>
                  <a:schemeClr val="accent3"/>
                </a:solidFill>
              </a:rPr>
              <a:t>27 d</a:t>
            </a:r>
            <a:endParaRPr lang="en-US" sz="1500" dirty="0"/>
          </a:p>
        </p:txBody>
      </p:sp>
      <p:sp>
        <p:nvSpPr>
          <p:cNvPr id="14" name="Shape 12"/>
          <p:cNvSpPr/>
          <p:nvPr/>
        </p:nvSpPr>
        <p:spPr>
          <a:xfrm>
            <a:off x="6720840" y="3465576"/>
            <a:ext cx="4782312" cy="0"/>
          </a:xfrm>
          <a:prstGeom prst="line">
            <a:avLst/>
          </a:prstGeom>
          <a:noFill/>
          <a:ln w="9525">
            <a:solidFill>
              <a:schemeClr val="accent5"/>
            </a:solidFill>
            <a:prstDash val="solid"/>
          </a:ln>
        </p:spPr>
      </p:sp>
      <p:sp>
        <p:nvSpPr>
          <p:cNvPr id="15" name="Text 13"/>
          <p:cNvSpPr txBox="1"/>
          <p:nvPr/>
        </p:nvSpPr>
        <p:spPr>
          <a:xfrm>
            <a:off x="6720840" y="3575304"/>
            <a:ext cx="3017520" cy="365760"/>
          </a:xfrm>
          <a:prstGeom prst="rect">
            <a:avLst/>
          </a:prstGeom>
          <a:noFill/>
          <a:ln/>
        </p:spPr>
        <p:txBody>
          <a:bodyPr wrap="square" lIns="0" tIns="0" rIns="0" bIns="0" rtlCol="0" anchor="t"/>
          <a:lstStyle/>
          <a:p>
            <a:pPr indent="0" marL="0">
              <a:buNone/>
            </a:pPr>
            <a:r>
              <a:rPr lang="en-US" sz="1500" dirty="0">
                <a:solidFill>
                  <a:schemeClr val="bg1"/>
                </a:solidFill>
              </a:rPr>
              <a:t>Bøgedal Maskinservice</a:t>
            </a:r>
            <a:endParaRPr lang="en-US" sz="1500" dirty="0"/>
          </a:p>
        </p:txBody>
      </p:sp>
      <p:sp>
        <p:nvSpPr>
          <p:cNvPr id="16" name="Text 14"/>
          <p:cNvSpPr txBox="1"/>
          <p:nvPr/>
        </p:nvSpPr>
        <p:spPr>
          <a:xfrm>
            <a:off x="9601200" y="3575304"/>
            <a:ext cx="1143000" cy="365760"/>
          </a:xfrm>
          <a:prstGeom prst="rect">
            <a:avLst/>
          </a:prstGeom>
          <a:noFill/>
          <a:ln/>
        </p:spPr>
        <p:txBody>
          <a:bodyPr wrap="square" lIns="0" tIns="0" rIns="0" bIns="0" rtlCol="0" anchor="t"/>
          <a:lstStyle/>
          <a:p>
            <a:pPr algn="r" indent="0" marL="0">
              <a:buNone/>
            </a:pPr>
            <a:r>
              <a:rPr lang="en-US" sz="1500" b="1" dirty="0">
                <a:solidFill>
                  <a:schemeClr val="bg1"/>
                </a:solidFill>
              </a:rPr>
              <a:t>49.000 kr.</a:t>
            </a:r>
            <a:endParaRPr lang="en-US" sz="1500" dirty="0"/>
          </a:p>
        </p:txBody>
      </p:sp>
      <p:sp>
        <p:nvSpPr>
          <p:cNvPr id="17" name="Text 15"/>
          <p:cNvSpPr txBox="1"/>
          <p:nvPr/>
        </p:nvSpPr>
        <p:spPr>
          <a:xfrm>
            <a:off x="10789920" y="3575304"/>
            <a:ext cx="713232" cy="365760"/>
          </a:xfrm>
          <a:prstGeom prst="rect">
            <a:avLst/>
          </a:prstGeom>
          <a:noFill/>
          <a:ln/>
        </p:spPr>
        <p:txBody>
          <a:bodyPr wrap="square" lIns="0" tIns="0" rIns="0" bIns="0" rtlCol="0" anchor="t"/>
          <a:lstStyle/>
          <a:p>
            <a:pPr algn="r" indent="0" marL="0">
              <a:buNone/>
            </a:pPr>
            <a:r>
              <a:rPr lang="en-US" sz="1500" dirty="0">
                <a:solidFill>
                  <a:schemeClr val="accent3"/>
                </a:solidFill>
              </a:rPr>
              <a:t>31 d</a:t>
            </a:r>
            <a:endParaRPr lang="en-US" sz="1500" dirty="0"/>
          </a:p>
        </p:txBody>
      </p:sp>
      <p:sp>
        <p:nvSpPr>
          <p:cNvPr id="18" name="Shape 16"/>
          <p:cNvSpPr/>
          <p:nvPr/>
        </p:nvSpPr>
        <p:spPr>
          <a:xfrm>
            <a:off x="6720840" y="4032504"/>
            <a:ext cx="4782312" cy="0"/>
          </a:xfrm>
          <a:prstGeom prst="line">
            <a:avLst/>
          </a:prstGeom>
          <a:noFill/>
          <a:ln w="9525">
            <a:solidFill>
              <a:schemeClr val="accent5"/>
            </a:solidFill>
            <a:prstDash val="solid"/>
          </a:ln>
        </p:spPr>
      </p:sp>
      <p:sp>
        <p:nvSpPr>
          <p:cNvPr id="19" name="Text 17"/>
          <p:cNvSpPr txBox="1"/>
          <p:nvPr/>
        </p:nvSpPr>
        <p:spPr>
          <a:xfrm>
            <a:off x="6720840" y="4142232"/>
            <a:ext cx="3017520" cy="365760"/>
          </a:xfrm>
          <a:prstGeom prst="rect">
            <a:avLst/>
          </a:prstGeom>
          <a:noFill/>
          <a:ln/>
        </p:spPr>
        <p:txBody>
          <a:bodyPr wrap="square" lIns="0" tIns="0" rIns="0" bIns="0" rtlCol="0" anchor="t"/>
          <a:lstStyle/>
          <a:p>
            <a:pPr indent="0" marL="0">
              <a:buNone/>
            </a:pPr>
            <a:r>
              <a:rPr lang="en-US" sz="1500" dirty="0">
                <a:solidFill>
                  <a:schemeClr val="bg1"/>
                </a:solidFill>
              </a:rPr>
              <a:t>Granly Golfklub</a:t>
            </a:r>
            <a:endParaRPr lang="en-US" sz="1500" dirty="0"/>
          </a:p>
        </p:txBody>
      </p:sp>
      <p:sp>
        <p:nvSpPr>
          <p:cNvPr id="20" name="Text 18"/>
          <p:cNvSpPr txBox="1"/>
          <p:nvPr/>
        </p:nvSpPr>
        <p:spPr>
          <a:xfrm>
            <a:off x="9601200" y="4142232"/>
            <a:ext cx="1143000" cy="365760"/>
          </a:xfrm>
          <a:prstGeom prst="rect">
            <a:avLst/>
          </a:prstGeom>
          <a:noFill/>
          <a:ln/>
        </p:spPr>
        <p:txBody>
          <a:bodyPr wrap="square" lIns="0" tIns="0" rIns="0" bIns="0" rtlCol="0" anchor="t"/>
          <a:lstStyle/>
          <a:p>
            <a:pPr algn="r" indent="0" marL="0">
              <a:buNone/>
            </a:pPr>
            <a:r>
              <a:rPr lang="en-US" sz="1500" b="1" dirty="0">
                <a:solidFill>
                  <a:schemeClr val="bg1"/>
                </a:solidFill>
              </a:rPr>
              <a:t>46.000 kr.</a:t>
            </a:r>
            <a:endParaRPr lang="en-US" sz="1500" dirty="0"/>
          </a:p>
        </p:txBody>
      </p:sp>
      <p:sp>
        <p:nvSpPr>
          <p:cNvPr id="21" name="Text 19"/>
          <p:cNvSpPr txBox="1"/>
          <p:nvPr/>
        </p:nvSpPr>
        <p:spPr>
          <a:xfrm>
            <a:off x="10789920" y="4142232"/>
            <a:ext cx="713232" cy="365760"/>
          </a:xfrm>
          <a:prstGeom prst="rect">
            <a:avLst/>
          </a:prstGeom>
          <a:noFill/>
          <a:ln/>
        </p:spPr>
        <p:txBody>
          <a:bodyPr wrap="square" lIns="0" tIns="0" rIns="0" bIns="0" rtlCol="0" anchor="t"/>
          <a:lstStyle/>
          <a:p>
            <a:pPr algn="r" indent="0" marL="0">
              <a:buNone/>
            </a:pPr>
            <a:r>
              <a:rPr lang="en-US" sz="1500" dirty="0">
                <a:solidFill>
                  <a:schemeClr val="accent3"/>
                </a:solidFill>
              </a:rPr>
              <a:t>38 d</a:t>
            </a:r>
            <a:endParaRPr lang="en-US" sz="1500" dirty="0"/>
          </a:p>
        </p:txBody>
      </p:sp>
      <p:sp>
        <p:nvSpPr>
          <p:cNvPr id="22" name="Shape 20"/>
          <p:cNvSpPr/>
          <p:nvPr/>
        </p:nvSpPr>
        <p:spPr>
          <a:xfrm>
            <a:off x="6720840" y="4599432"/>
            <a:ext cx="4782312" cy="0"/>
          </a:xfrm>
          <a:prstGeom prst="line">
            <a:avLst/>
          </a:prstGeom>
          <a:noFill/>
          <a:ln w="9525">
            <a:solidFill>
              <a:schemeClr val="accent5"/>
            </a:solidFill>
            <a:prstDash val="solid"/>
          </a:ln>
        </p:spPr>
      </p:sp>
      <p:sp>
        <p:nvSpPr>
          <p:cNvPr id="23" name="Text 21"/>
          <p:cNvSpPr txBox="1"/>
          <p:nvPr/>
        </p:nvSpPr>
        <p:spPr>
          <a:xfrm>
            <a:off x="6720840" y="4709160"/>
            <a:ext cx="3017520" cy="365760"/>
          </a:xfrm>
          <a:prstGeom prst="rect">
            <a:avLst/>
          </a:prstGeom>
          <a:noFill/>
          <a:ln/>
        </p:spPr>
        <p:txBody>
          <a:bodyPr wrap="square" lIns="0" tIns="0" rIns="0" bIns="0" rtlCol="0" anchor="t"/>
          <a:lstStyle/>
          <a:p>
            <a:pPr indent="0" marL="0">
              <a:buNone/>
            </a:pPr>
            <a:r>
              <a:rPr lang="en-US" sz="1500" dirty="0">
                <a:solidFill>
                  <a:schemeClr val="bg1"/>
                </a:solidFill>
              </a:rPr>
              <a:t>Hedegaard Transport</a:t>
            </a:r>
            <a:endParaRPr lang="en-US" sz="1500" dirty="0"/>
          </a:p>
        </p:txBody>
      </p:sp>
      <p:sp>
        <p:nvSpPr>
          <p:cNvPr id="24" name="Text 22"/>
          <p:cNvSpPr txBox="1"/>
          <p:nvPr/>
        </p:nvSpPr>
        <p:spPr>
          <a:xfrm>
            <a:off x="9601200" y="4709160"/>
            <a:ext cx="1143000" cy="365760"/>
          </a:xfrm>
          <a:prstGeom prst="rect">
            <a:avLst/>
          </a:prstGeom>
          <a:noFill/>
          <a:ln/>
        </p:spPr>
        <p:txBody>
          <a:bodyPr wrap="square" lIns="0" tIns="0" rIns="0" bIns="0" rtlCol="0" anchor="t"/>
          <a:lstStyle/>
          <a:p>
            <a:pPr algn="r" indent="0" marL="0">
              <a:buNone/>
            </a:pPr>
            <a:r>
              <a:rPr lang="en-US" sz="1500" b="1" dirty="0">
                <a:solidFill>
                  <a:schemeClr val="bg1"/>
                </a:solidFill>
              </a:rPr>
              <a:t>33.000 kr.</a:t>
            </a:r>
            <a:endParaRPr lang="en-US" sz="1500" dirty="0"/>
          </a:p>
        </p:txBody>
      </p:sp>
      <p:sp>
        <p:nvSpPr>
          <p:cNvPr id="25" name="Text 23"/>
          <p:cNvSpPr txBox="1"/>
          <p:nvPr/>
        </p:nvSpPr>
        <p:spPr>
          <a:xfrm>
            <a:off x="10789920" y="4709160"/>
            <a:ext cx="713232" cy="365760"/>
          </a:xfrm>
          <a:prstGeom prst="rect">
            <a:avLst/>
          </a:prstGeom>
          <a:noFill/>
          <a:ln/>
        </p:spPr>
        <p:txBody>
          <a:bodyPr wrap="square" lIns="0" tIns="0" rIns="0" bIns="0" rtlCol="0" anchor="t"/>
          <a:lstStyle/>
          <a:p>
            <a:pPr algn="r" indent="0" marL="0">
              <a:buNone/>
            </a:pPr>
            <a:r>
              <a:rPr lang="en-US" sz="1500" dirty="0">
                <a:solidFill>
                  <a:schemeClr val="accent3"/>
                </a:solidFill>
              </a:rPr>
              <a:t>16 d</a:t>
            </a:r>
            <a:endParaRPr lang="en-US" sz="1500" dirty="0"/>
          </a:p>
        </p:txBody>
      </p:sp>
      <p:sp>
        <p:nvSpPr>
          <p:cNvPr id="26" name="Shape 24"/>
          <p:cNvSpPr/>
          <p:nvPr/>
        </p:nvSpPr>
        <p:spPr>
          <a:xfrm>
            <a:off x="6720840" y="5166360"/>
            <a:ext cx="4782312" cy="0"/>
          </a:xfrm>
          <a:prstGeom prst="line">
            <a:avLst/>
          </a:prstGeom>
          <a:noFill/>
          <a:ln w="9525">
            <a:solidFill>
              <a:schemeClr val="accent5"/>
            </a:solidFill>
            <a:prstDash val="solid"/>
          </a:ln>
        </p:spPr>
      </p:sp>
      <p:sp>
        <p:nvSpPr>
          <p:cNvPr id="27" name="Text 25"/>
          <p:cNvSpPr txBox="1"/>
          <p:nvPr/>
        </p:nvSpPr>
        <p:spPr>
          <a:xfrm>
            <a:off x="6720840" y="5276088"/>
            <a:ext cx="3017520" cy="365760"/>
          </a:xfrm>
          <a:prstGeom prst="rect">
            <a:avLst/>
          </a:prstGeom>
          <a:noFill/>
          <a:ln/>
        </p:spPr>
        <p:txBody>
          <a:bodyPr wrap="square" lIns="0" tIns="0" rIns="0" bIns="0" rtlCol="0" anchor="t"/>
          <a:lstStyle/>
          <a:p>
            <a:pPr indent="0" marL="0">
              <a:buNone/>
            </a:pPr>
            <a:r>
              <a:rPr lang="en-US" sz="1500" dirty="0">
                <a:solidFill>
                  <a:schemeClr val="bg1"/>
                </a:solidFill>
              </a:rPr>
              <a:t>Nordskov Spejdergruppe</a:t>
            </a:r>
            <a:endParaRPr lang="en-US" sz="1500" dirty="0"/>
          </a:p>
        </p:txBody>
      </p:sp>
      <p:sp>
        <p:nvSpPr>
          <p:cNvPr id="28" name="Text 26"/>
          <p:cNvSpPr txBox="1"/>
          <p:nvPr/>
        </p:nvSpPr>
        <p:spPr>
          <a:xfrm>
            <a:off x="9601200" y="5276088"/>
            <a:ext cx="1143000" cy="365760"/>
          </a:xfrm>
          <a:prstGeom prst="rect">
            <a:avLst/>
          </a:prstGeom>
          <a:noFill/>
          <a:ln/>
        </p:spPr>
        <p:txBody>
          <a:bodyPr wrap="square" lIns="0" tIns="0" rIns="0" bIns="0" rtlCol="0" anchor="t"/>
          <a:lstStyle/>
          <a:p>
            <a:pPr algn="r" indent="0" marL="0">
              <a:buNone/>
            </a:pPr>
            <a:r>
              <a:rPr lang="en-US" sz="1500" b="1" dirty="0">
                <a:solidFill>
                  <a:schemeClr val="bg1"/>
                </a:solidFill>
              </a:rPr>
              <a:t>16.000 kr.</a:t>
            </a:r>
            <a:endParaRPr lang="en-US" sz="1500" dirty="0"/>
          </a:p>
        </p:txBody>
      </p:sp>
      <p:sp>
        <p:nvSpPr>
          <p:cNvPr id="29" name="Text 27"/>
          <p:cNvSpPr txBox="1"/>
          <p:nvPr/>
        </p:nvSpPr>
        <p:spPr>
          <a:xfrm>
            <a:off x="10789920" y="5276088"/>
            <a:ext cx="713232" cy="365760"/>
          </a:xfrm>
          <a:prstGeom prst="rect">
            <a:avLst/>
          </a:prstGeom>
          <a:noFill/>
          <a:ln/>
        </p:spPr>
        <p:txBody>
          <a:bodyPr wrap="square" lIns="0" tIns="0" rIns="0" bIns="0" rtlCol="0" anchor="t"/>
          <a:lstStyle/>
          <a:p>
            <a:pPr algn="r" indent="0" marL="0">
              <a:buNone/>
            </a:pPr>
            <a:r>
              <a:rPr lang="en-US" sz="1500" dirty="0">
                <a:solidFill>
                  <a:schemeClr val="accent3"/>
                </a:solidFill>
              </a:rPr>
              <a:t>38 d</a:t>
            </a:r>
            <a:endParaRPr lang="en-US" sz="1500" dirty="0"/>
          </a:p>
        </p:txBody>
      </p:sp>
      <p:sp>
        <p:nvSpPr>
          <p:cNvPr id="30" name="Text 28"/>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3"/>
                </a:solidFill>
              </a:rPr>
              <a:t>Fanen Pipeline, udtræk pr. 1. oktober 2026. Dage siden sidste aktivitet.</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PROMPT 5  ·  LEVER</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AI skriver opfølgningen. </a:t>
            </a:r>
            <a:pPr algn="l" indent="0" marL="0">
              <a:lnSpc>
                <a:spcPct val="93000"/>
              </a:lnSpc>
              <a:buNone/>
            </a:pPr>
            <a:r>
              <a:rPr lang="en-US" sz="3400" b="1" dirty="0">
                <a:solidFill>
                  <a:schemeClr val="accent1"/>
                </a:solidFill>
              </a:rPr>
              <a:t>Klar til at sende</a:t>
            </a:r>
            <a:endParaRPr lang="en-US" sz="3400" dirty="0"/>
          </a:p>
        </p:txBody>
      </p:sp>
      <p:sp>
        <p:nvSpPr>
          <p:cNvPr id="4" name="Shape 2"/>
          <p:cNvSpPr/>
          <p:nvPr/>
        </p:nvSpPr>
        <p:spPr>
          <a:xfrm>
            <a:off x="685800" y="2606040"/>
            <a:ext cx="329184" cy="329184"/>
          </a:xfrm>
          <a:prstGeom prst="ellipse">
            <a:avLst/>
          </a:prstGeom>
          <a:solidFill>
            <a:schemeClr val="accent1"/>
          </a:solidFill>
          <a:ln w="12700">
            <a:solidFill>
              <a:schemeClr val="accent1"/>
            </a:solidFill>
            <a:prstDash val="solid"/>
          </a:ln>
        </p:spPr>
      </p:sp>
      <p:sp>
        <p:nvSpPr>
          <p:cNvPr id="5" name="Text 3"/>
          <p:cNvSpPr txBox="1"/>
          <p:nvPr/>
        </p:nvSpPr>
        <p:spPr>
          <a:xfrm>
            <a:off x="685800" y="261061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234440" y="2578608"/>
            <a:ext cx="3840480" cy="731520"/>
          </a:xfrm>
          <a:prstGeom prst="rect">
            <a:avLst/>
          </a:prstGeom>
          <a:noFill/>
          <a:ln/>
        </p:spPr>
        <p:txBody>
          <a:bodyPr wrap="square" lIns="0" tIns="0" rIns="0" bIns="0" rtlCol="0" anchor="t"/>
          <a:lstStyle/>
          <a:p>
            <a:pPr indent="0" marL="0">
              <a:buNone/>
            </a:pPr>
            <a:r>
              <a:rPr lang="en-US" sz="1800" dirty="0">
                <a:solidFill>
                  <a:schemeClr val="bg1"/>
                </a:solidFill>
              </a:rPr>
              <a:t>Kontakt og deal hentet fra pipelinen</a:t>
            </a:r>
            <a:endParaRPr lang="en-US" sz="1800" dirty="0"/>
          </a:p>
        </p:txBody>
      </p:sp>
      <p:sp>
        <p:nvSpPr>
          <p:cNvPr id="7" name="Shape 5"/>
          <p:cNvSpPr/>
          <p:nvPr/>
        </p:nvSpPr>
        <p:spPr>
          <a:xfrm>
            <a:off x="685800" y="3566160"/>
            <a:ext cx="329184" cy="329184"/>
          </a:xfrm>
          <a:prstGeom prst="ellipse">
            <a:avLst/>
          </a:prstGeom>
          <a:solidFill>
            <a:schemeClr val="accent1"/>
          </a:solidFill>
          <a:ln w="12700">
            <a:solidFill>
              <a:schemeClr val="accent1"/>
            </a:solidFill>
            <a:prstDash val="solid"/>
          </a:ln>
        </p:spPr>
      </p:sp>
      <p:sp>
        <p:nvSpPr>
          <p:cNvPr id="8" name="Text 6"/>
          <p:cNvSpPr txBox="1"/>
          <p:nvPr/>
        </p:nvSpPr>
        <p:spPr>
          <a:xfrm>
            <a:off x="685800" y="357073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1234440" y="3538728"/>
            <a:ext cx="3840480" cy="731520"/>
          </a:xfrm>
          <a:prstGeom prst="rect">
            <a:avLst/>
          </a:prstGeom>
          <a:noFill/>
          <a:ln/>
        </p:spPr>
        <p:txBody>
          <a:bodyPr wrap="square" lIns="0" tIns="0" rIns="0" bIns="0" rtlCol="0" anchor="t"/>
          <a:lstStyle/>
          <a:p>
            <a:pPr indent="0" marL="0">
              <a:buNone/>
            </a:pPr>
            <a:r>
              <a:rPr lang="en-US" sz="1800" dirty="0">
                <a:solidFill>
                  <a:schemeClr val="bg1"/>
                </a:solidFill>
              </a:rPr>
              <a:t>Skrevet i virksomhedens tone</a:t>
            </a:r>
            <a:endParaRPr lang="en-US" sz="1800" dirty="0"/>
          </a:p>
        </p:txBody>
      </p:sp>
      <p:sp>
        <p:nvSpPr>
          <p:cNvPr id="10" name="Shape 8"/>
          <p:cNvSpPr/>
          <p:nvPr/>
        </p:nvSpPr>
        <p:spPr>
          <a:xfrm>
            <a:off x="685800" y="4526280"/>
            <a:ext cx="329184" cy="329184"/>
          </a:xfrm>
          <a:prstGeom prst="ellipse">
            <a:avLst/>
          </a:prstGeom>
          <a:solidFill>
            <a:schemeClr val="accent1"/>
          </a:solidFill>
          <a:ln w="12700">
            <a:solidFill>
              <a:schemeClr val="accent1"/>
            </a:solidFill>
            <a:prstDash val="solid"/>
          </a:ln>
        </p:spPr>
      </p:sp>
      <p:sp>
        <p:nvSpPr>
          <p:cNvPr id="11" name="Text 9"/>
          <p:cNvSpPr txBox="1"/>
          <p:nvPr/>
        </p:nvSpPr>
        <p:spPr>
          <a:xfrm>
            <a:off x="685800" y="453085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10"/>
          <p:cNvSpPr txBox="1"/>
          <p:nvPr/>
        </p:nvSpPr>
        <p:spPr>
          <a:xfrm>
            <a:off x="1234440" y="4498848"/>
            <a:ext cx="3840480" cy="731520"/>
          </a:xfrm>
          <a:prstGeom prst="rect">
            <a:avLst/>
          </a:prstGeom>
          <a:noFill/>
          <a:ln/>
        </p:spPr>
        <p:txBody>
          <a:bodyPr wrap="square" lIns="0" tIns="0" rIns="0" bIns="0" rtlCol="0" anchor="t"/>
          <a:lstStyle/>
          <a:p>
            <a:pPr indent="0" marL="0">
              <a:buNone/>
            </a:pPr>
            <a:r>
              <a:rPr lang="en-US" sz="1800" dirty="0">
                <a:solidFill>
                  <a:schemeClr val="bg1"/>
                </a:solidFill>
              </a:rPr>
              <a:t>Seks mails på én gang</a:t>
            </a:r>
            <a:endParaRPr lang="en-US" sz="1800" dirty="0"/>
          </a:p>
        </p:txBody>
      </p:sp>
      <p:sp>
        <p:nvSpPr>
          <p:cNvPr id="13" name="Shape 11"/>
          <p:cNvSpPr/>
          <p:nvPr/>
        </p:nvSpPr>
        <p:spPr>
          <a:xfrm>
            <a:off x="5760720" y="2148840"/>
            <a:ext cx="5742432" cy="4114800"/>
          </a:xfrm>
          <a:prstGeom prst="roundRect">
            <a:avLst>
              <a:gd name="adj" fmla="val 1778"/>
            </a:avLst>
          </a:prstGeom>
          <a:solidFill>
            <a:srgbClr val="FFFFFF"/>
          </a:solidFill>
          <a:ln w="12700">
            <a:solidFill>
              <a:srgbClr val="FFFFFF"/>
            </a:solidFill>
            <a:prstDash val="solid"/>
          </a:ln>
        </p:spPr>
      </p:sp>
      <p:sp>
        <p:nvSpPr>
          <p:cNvPr id="14" name="Text 12"/>
          <p:cNvSpPr txBox="1"/>
          <p:nvPr/>
        </p:nvSpPr>
        <p:spPr>
          <a:xfrm>
            <a:off x="6172200" y="2514600"/>
            <a:ext cx="822960" cy="320040"/>
          </a:xfrm>
          <a:prstGeom prst="rect">
            <a:avLst/>
          </a:prstGeom>
          <a:noFill/>
          <a:ln/>
        </p:spPr>
        <p:txBody>
          <a:bodyPr wrap="square" lIns="0" tIns="0" rIns="0" bIns="0" rtlCol="0" anchor="t"/>
          <a:lstStyle/>
          <a:p>
            <a:pPr indent="0" marL="0">
              <a:buNone/>
            </a:pPr>
            <a:r>
              <a:rPr lang="en-US" sz="1300" dirty="0">
                <a:solidFill>
                  <a:schemeClr val="accent2"/>
                </a:solidFill>
              </a:rPr>
              <a:t>Til</a:t>
            </a:r>
            <a:endParaRPr lang="en-US" sz="1300" dirty="0"/>
          </a:p>
        </p:txBody>
      </p:sp>
      <p:sp>
        <p:nvSpPr>
          <p:cNvPr id="15" name="Text 13"/>
          <p:cNvSpPr txBox="1"/>
          <p:nvPr/>
        </p:nvSpPr>
        <p:spPr>
          <a:xfrm>
            <a:off x="6949440" y="2514600"/>
            <a:ext cx="4206240" cy="320040"/>
          </a:xfrm>
          <a:prstGeom prst="rect">
            <a:avLst/>
          </a:prstGeom>
          <a:noFill/>
          <a:ln/>
        </p:spPr>
        <p:txBody>
          <a:bodyPr wrap="square" lIns="0" tIns="0" rIns="0" bIns="0" rtlCol="0" anchor="t"/>
          <a:lstStyle/>
          <a:p>
            <a:pPr indent="0" marL="0">
              <a:buNone/>
            </a:pPr>
            <a:r>
              <a:rPr lang="en-US" sz="1300" dirty="0">
                <a:solidFill>
                  <a:schemeClr val="tx1"/>
                </a:solidFill>
              </a:rPr>
              <a:t>Henrik Bundgaard, Søndervang Plejecenter</a:t>
            </a:r>
            <a:endParaRPr lang="en-US" sz="1300" dirty="0"/>
          </a:p>
        </p:txBody>
      </p:sp>
      <p:sp>
        <p:nvSpPr>
          <p:cNvPr id="16" name="Shape 14"/>
          <p:cNvSpPr/>
          <p:nvPr/>
        </p:nvSpPr>
        <p:spPr>
          <a:xfrm>
            <a:off x="6172200" y="2926080"/>
            <a:ext cx="4919472" cy="0"/>
          </a:xfrm>
          <a:prstGeom prst="line">
            <a:avLst/>
          </a:prstGeom>
          <a:noFill/>
          <a:ln w="9525">
            <a:solidFill>
              <a:schemeClr val="accent4"/>
            </a:solidFill>
            <a:prstDash val="solid"/>
          </a:ln>
        </p:spPr>
      </p:sp>
      <p:sp>
        <p:nvSpPr>
          <p:cNvPr id="17" name="Text 15"/>
          <p:cNvSpPr txBox="1"/>
          <p:nvPr/>
        </p:nvSpPr>
        <p:spPr>
          <a:xfrm>
            <a:off x="6172200" y="3017520"/>
            <a:ext cx="822960" cy="320040"/>
          </a:xfrm>
          <a:prstGeom prst="rect">
            <a:avLst/>
          </a:prstGeom>
          <a:noFill/>
          <a:ln/>
        </p:spPr>
        <p:txBody>
          <a:bodyPr wrap="square" lIns="0" tIns="0" rIns="0" bIns="0" rtlCol="0" anchor="t"/>
          <a:lstStyle/>
          <a:p>
            <a:pPr indent="0" marL="0">
              <a:buNone/>
            </a:pPr>
            <a:r>
              <a:rPr lang="en-US" sz="1300" dirty="0">
                <a:solidFill>
                  <a:schemeClr val="accent2"/>
                </a:solidFill>
              </a:rPr>
              <a:t>Emne</a:t>
            </a:r>
            <a:endParaRPr lang="en-US" sz="1300" dirty="0"/>
          </a:p>
        </p:txBody>
      </p:sp>
      <p:sp>
        <p:nvSpPr>
          <p:cNvPr id="18" name="Text 16"/>
          <p:cNvSpPr txBox="1"/>
          <p:nvPr/>
        </p:nvSpPr>
        <p:spPr>
          <a:xfrm>
            <a:off x="6949440" y="3017520"/>
            <a:ext cx="4206240" cy="320040"/>
          </a:xfrm>
          <a:prstGeom prst="rect">
            <a:avLst/>
          </a:prstGeom>
          <a:noFill/>
          <a:ln/>
        </p:spPr>
        <p:txBody>
          <a:bodyPr wrap="square" lIns="0" tIns="0" rIns="0" bIns="0" rtlCol="0" anchor="t"/>
          <a:lstStyle/>
          <a:p>
            <a:pPr indent="0" marL="0">
              <a:buNone/>
            </a:pPr>
            <a:r>
              <a:rPr lang="en-US" sz="1300" b="1" dirty="0">
                <a:solidFill>
                  <a:schemeClr val="tx1"/>
                </a:solidFill>
              </a:rPr>
              <a:t>Opfølgning på tilbud om firmabeklædning</a:t>
            </a:r>
            <a:endParaRPr lang="en-US" sz="1300" dirty="0"/>
          </a:p>
        </p:txBody>
      </p:sp>
      <p:sp>
        <p:nvSpPr>
          <p:cNvPr id="19" name="Shape 17"/>
          <p:cNvSpPr/>
          <p:nvPr/>
        </p:nvSpPr>
        <p:spPr>
          <a:xfrm>
            <a:off x="6172200" y="3429000"/>
            <a:ext cx="4919472" cy="0"/>
          </a:xfrm>
          <a:prstGeom prst="line">
            <a:avLst/>
          </a:prstGeom>
          <a:noFill/>
          <a:ln w="9525">
            <a:solidFill>
              <a:schemeClr val="accent4"/>
            </a:solidFill>
            <a:prstDash val="solid"/>
          </a:ln>
        </p:spPr>
      </p:sp>
      <p:sp>
        <p:nvSpPr>
          <p:cNvPr id="20" name="Shape 18"/>
          <p:cNvSpPr/>
          <p:nvPr/>
        </p:nvSpPr>
        <p:spPr>
          <a:xfrm>
            <a:off x="10817352" y="2496312"/>
            <a:ext cx="329184" cy="329184"/>
          </a:xfrm>
          <a:prstGeom prst="ellipse">
            <a:avLst/>
          </a:prstGeom>
          <a:solidFill>
            <a:schemeClr val="accent1"/>
          </a:solidFill>
          <a:ln w="12700">
            <a:solidFill>
              <a:schemeClr val="accent1"/>
            </a:solidFill>
            <a:prstDash val="solid"/>
          </a:ln>
        </p:spPr>
      </p:sp>
      <p:sp>
        <p:nvSpPr>
          <p:cNvPr id="21" name="Text 19"/>
          <p:cNvSpPr txBox="1"/>
          <p:nvPr/>
        </p:nvSpPr>
        <p:spPr>
          <a:xfrm>
            <a:off x="10817352" y="250088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2" name="Text 20"/>
          <p:cNvSpPr txBox="1"/>
          <p:nvPr/>
        </p:nvSpPr>
        <p:spPr>
          <a:xfrm>
            <a:off x="6172200" y="3749040"/>
            <a:ext cx="3657600" cy="320040"/>
          </a:xfrm>
          <a:prstGeom prst="rect">
            <a:avLst/>
          </a:prstGeom>
          <a:noFill/>
          <a:ln/>
        </p:spPr>
        <p:txBody>
          <a:bodyPr wrap="square" lIns="0" tIns="0" rIns="0" bIns="0" rtlCol="0" anchor="t"/>
          <a:lstStyle/>
          <a:p>
            <a:pPr indent="0" marL="0">
              <a:buNone/>
            </a:pPr>
            <a:r>
              <a:rPr lang="en-US" sz="1400" dirty="0">
                <a:solidFill>
                  <a:schemeClr val="tx1"/>
                </a:solidFill>
              </a:rPr>
              <a:t>Hej Henrik</a:t>
            </a:r>
            <a:endParaRPr lang="en-US" sz="1400" dirty="0"/>
          </a:p>
        </p:txBody>
      </p:sp>
      <p:sp>
        <p:nvSpPr>
          <p:cNvPr id="23" name="Shape 21"/>
          <p:cNvSpPr/>
          <p:nvPr/>
        </p:nvSpPr>
        <p:spPr>
          <a:xfrm>
            <a:off x="6172200" y="4251960"/>
            <a:ext cx="4754880" cy="91440"/>
          </a:xfrm>
          <a:prstGeom prst="roundRect">
            <a:avLst>
              <a:gd name="adj" fmla="val 50000"/>
            </a:avLst>
          </a:prstGeom>
          <a:solidFill>
            <a:srgbClr val="E8E8ED"/>
          </a:solidFill>
          <a:ln w="12700">
            <a:solidFill>
              <a:srgbClr val="E8E8ED"/>
            </a:solidFill>
            <a:prstDash val="solid"/>
          </a:ln>
        </p:spPr>
      </p:sp>
      <p:sp>
        <p:nvSpPr>
          <p:cNvPr id="24" name="Shape 22"/>
          <p:cNvSpPr/>
          <p:nvPr/>
        </p:nvSpPr>
        <p:spPr>
          <a:xfrm>
            <a:off x="6172200" y="4544568"/>
            <a:ext cx="4297680" cy="91440"/>
          </a:xfrm>
          <a:prstGeom prst="roundRect">
            <a:avLst>
              <a:gd name="adj" fmla="val 50000"/>
            </a:avLst>
          </a:prstGeom>
          <a:solidFill>
            <a:srgbClr val="E8E8ED"/>
          </a:solidFill>
          <a:ln w="12700">
            <a:solidFill>
              <a:srgbClr val="E8E8ED"/>
            </a:solidFill>
            <a:prstDash val="solid"/>
          </a:ln>
        </p:spPr>
      </p:sp>
      <p:sp>
        <p:nvSpPr>
          <p:cNvPr id="25" name="Shape 23"/>
          <p:cNvSpPr/>
          <p:nvPr/>
        </p:nvSpPr>
        <p:spPr>
          <a:xfrm>
            <a:off x="6172200" y="4837176"/>
            <a:ext cx="4572000" cy="91440"/>
          </a:xfrm>
          <a:prstGeom prst="roundRect">
            <a:avLst>
              <a:gd name="adj" fmla="val 50000"/>
            </a:avLst>
          </a:prstGeom>
          <a:solidFill>
            <a:srgbClr val="E8E8ED"/>
          </a:solidFill>
          <a:ln w="12700">
            <a:solidFill>
              <a:srgbClr val="E8E8ED"/>
            </a:solidFill>
            <a:prstDash val="solid"/>
          </a:ln>
        </p:spPr>
      </p:sp>
      <p:sp>
        <p:nvSpPr>
          <p:cNvPr id="26" name="Shape 24"/>
          <p:cNvSpPr/>
          <p:nvPr/>
        </p:nvSpPr>
        <p:spPr>
          <a:xfrm>
            <a:off x="6172200" y="5129784"/>
            <a:ext cx="2834640" cy="91440"/>
          </a:xfrm>
          <a:prstGeom prst="roundRect">
            <a:avLst>
              <a:gd name="adj" fmla="val 50000"/>
            </a:avLst>
          </a:prstGeom>
          <a:solidFill>
            <a:srgbClr val="E8E8ED"/>
          </a:solidFill>
          <a:ln w="12700">
            <a:solidFill>
              <a:srgbClr val="E8E8ED"/>
            </a:solidFill>
            <a:prstDash val="solid"/>
          </a:ln>
        </p:spPr>
      </p:sp>
      <p:sp>
        <p:nvSpPr>
          <p:cNvPr id="27" name="Shape 25"/>
          <p:cNvSpPr/>
          <p:nvPr/>
        </p:nvSpPr>
        <p:spPr>
          <a:xfrm>
            <a:off x="10817352" y="4206240"/>
            <a:ext cx="329184" cy="329184"/>
          </a:xfrm>
          <a:prstGeom prst="ellipse">
            <a:avLst/>
          </a:prstGeom>
          <a:solidFill>
            <a:schemeClr val="accent1"/>
          </a:solidFill>
          <a:ln w="12700">
            <a:solidFill>
              <a:schemeClr val="accent1"/>
            </a:solidFill>
            <a:prstDash val="solid"/>
          </a:ln>
        </p:spPr>
      </p:sp>
      <p:sp>
        <p:nvSpPr>
          <p:cNvPr id="28" name="Text 26"/>
          <p:cNvSpPr txBox="1"/>
          <p:nvPr/>
        </p:nvSpPr>
        <p:spPr>
          <a:xfrm>
            <a:off x="10817352" y="421081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Shape 27"/>
          <p:cNvSpPr/>
          <p:nvPr/>
        </p:nvSpPr>
        <p:spPr>
          <a:xfrm>
            <a:off x="6172200" y="5577840"/>
            <a:ext cx="1371600" cy="411480"/>
          </a:xfrm>
          <a:prstGeom prst="roundRect">
            <a:avLst>
              <a:gd name="adj" fmla="val 48889"/>
            </a:avLst>
          </a:prstGeom>
          <a:solidFill>
            <a:srgbClr val="EE4B1A"/>
          </a:solidFill>
          <a:ln w="12700">
            <a:solidFill>
              <a:srgbClr val="EE4B1A"/>
            </a:solidFill>
            <a:prstDash val="solid"/>
          </a:ln>
        </p:spPr>
      </p:sp>
      <p:sp>
        <p:nvSpPr>
          <p:cNvPr id="30" name="Text 28"/>
          <p:cNvSpPr txBox="1"/>
          <p:nvPr/>
        </p:nvSpPr>
        <p:spPr>
          <a:xfrm>
            <a:off x="6172200" y="5577840"/>
            <a:ext cx="1371600" cy="411480"/>
          </a:xfrm>
          <a:prstGeom prst="rect">
            <a:avLst/>
          </a:prstGeom>
          <a:noFill/>
          <a:ln/>
        </p:spPr>
        <p:txBody>
          <a:bodyPr wrap="square" lIns="0" tIns="0" rIns="0" bIns="0" rtlCol="0" anchor="ctr"/>
          <a:lstStyle/>
          <a:p>
            <a:pPr algn="ctr" indent="0" marL="0">
              <a:buNone/>
            </a:pPr>
            <a:r>
              <a:rPr lang="en-US" sz="1300" b="1" dirty="0">
                <a:solidFill>
                  <a:schemeClr val="bg1"/>
                </a:solidFill>
              </a:rPr>
              <a:t>Send</a:t>
            </a:r>
            <a:endParaRPr lang="en-US" sz="1300" dirty="0"/>
          </a:p>
        </p:txBody>
      </p:sp>
      <p:sp>
        <p:nvSpPr>
          <p:cNvPr id="31" name="Shape 29"/>
          <p:cNvSpPr/>
          <p:nvPr/>
        </p:nvSpPr>
        <p:spPr>
          <a:xfrm>
            <a:off x="7726680" y="5614416"/>
            <a:ext cx="329184" cy="329184"/>
          </a:xfrm>
          <a:prstGeom prst="ellipse">
            <a:avLst/>
          </a:prstGeom>
          <a:solidFill>
            <a:schemeClr val="accent1"/>
          </a:solidFill>
          <a:ln w="12700">
            <a:solidFill>
              <a:schemeClr val="accent1"/>
            </a:solidFill>
            <a:prstDash val="solid"/>
          </a:ln>
        </p:spPr>
      </p:sp>
      <p:sp>
        <p:nvSpPr>
          <p:cNvPr id="32" name="Text 30"/>
          <p:cNvSpPr txBox="1"/>
          <p:nvPr/>
        </p:nvSpPr>
        <p:spPr>
          <a:xfrm>
            <a:off x="7726680" y="56189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HANDS-ON  ·  PARVIS</a:t>
            </a:r>
            <a:endParaRPr lang="en-US" sz="1200" dirty="0"/>
          </a:p>
        </p:txBody>
      </p:sp>
      <p:sp>
        <p:nvSpPr>
          <p:cNvPr id="3" name="Text 1"/>
          <p:cNvSpPr txBox="1"/>
          <p:nvPr/>
        </p:nvSpPr>
        <p:spPr>
          <a:xfrm>
            <a:off x="685800" y="1280160"/>
            <a:ext cx="10058400" cy="2011680"/>
          </a:xfrm>
          <a:prstGeom prst="rect">
            <a:avLst/>
          </a:prstGeom>
          <a:noFill/>
          <a:ln/>
        </p:spPr>
        <p:txBody>
          <a:bodyPr wrap="square" lIns="0" tIns="0" rIns="0" bIns="0" rtlCol="0" anchor="b"/>
          <a:lstStyle/>
          <a:p>
            <a:pPr indent="0" marL="0">
              <a:buNone/>
            </a:pPr>
            <a:r>
              <a:rPr lang="en-US" sz="11000" b="1" dirty="0">
                <a:solidFill>
                  <a:schemeClr val="bg1"/>
                </a:solidFill>
              </a:rPr>
              <a:t>Din tur.</a:t>
            </a:r>
            <a:endParaRPr lang="en-US" sz="11000" dirty="0"/>
          </a:p>
        </p:txBody>
      </p:sp>
      <p:sp>
        <p:nvSpPr>
          <p:cNvPr id="4" name="Text 2"/>
          <p:cNvSpPr txBox="1"/>
          <p:nvPr/>
        </p:nvSpPr>
        <p:spPr>
          <a:xfrm>
            <a:off x="685800" y="3611880"/>
            <a:ext cx="9601200" cy="1280160"/>
          </a:xfrm>
          <a:prstGeom prst="rect">
            <a:avLst/>
          </a:prstGeom>
          <a:noFill/>
          <a:ln/>
        </p:spPr>
        <p:txBody>
          <a:bodyPr wrap="square" lIns="0" tIns="0" rIns="0" bIns="0" rtlCol="0" anchor="t"/>
          <a:lstStyle/>
          <a:p>
            <a:pPr indent="0" marL="0">
              <a:buNone/>
            </a:pPr>
            <a:r>
              <a:rPr lang="en-US" sz="2600" dirty="0">
                <a:solidFill>
                  <a:schemeClr val="bg1"/>
                </a:solidFill>
              </a:rPr>
              <a:t>Upload </a:t>
            </a:r>
            <a:pPr indent="0" marL="0">
              <a:buNone/>
            </a:pPr>
            <a:r>
              <a:rPr lang="en-US" sz="2600" dirty="0">
                <a:solidFill>
                  <a:schemeClr val="accent1"/>
                </a:solidFill>
              </a:rPr>
              <a:t>Handelsokonom_FjordOutdoor.xlsx</a:t>
            </a:r>
            <a:pPr indent="0" marL="0">
              <a:buNone/>
            </a:pPr>
            <a:r>
              <a:rPr lang="en-US" sz="2600" dirty="0">
                <a:solidFill>
                  <a:schemeClr val="bg1"/>
                </a:solidFill>
              </a:rPr>
              <a:t>. Kør promptkortet. Find de tre vigtigste ting, og få AI til at lave én graf.</a:t>
            </a:r>
            <a:endParaRPr lang="en-US" sz="2600" dirty="0"/>
          </a:p>
        </p:txBody>
      </p:sp>
      <p:sp>
        <p:nvSpPr>
          <p:cNvPr id="5" name="Text 3"/>
          <p:cNvSpPr txBox="1"/>
          <p:nvPr/>
        </p:nvSpPr>
        <p:spPr>
          <a:xfrm>
            <a:off x="685800" y="5120640"/>
            <a:ext cx="9144000" cy="457200"/>
          </a:xfrm>
          <a:prstGeom prst="rect">
            <a:avLst/>
          </a:prstGeom>
          <a:noFill/>
          <a:ln/>
        </p:spPr>
        <p:txBody>
          <a:bodyPr wrap="square" lIns="0" tIns="0" rIns="0" bIns="0" rtlCol="0" anchor="t"/>
          <a:lstStyle/>
          <a:p>
            <a:pPr indent="0" marL="0">
              <a:buNone/>
            </a:pPr>
            <a:r>
              <a:rPr lang="en-US" sz="2000" dirty="0">
                <a:solidFill>
                  <a:schemeClr val="accent3"/>
                </a:solidFill>
              </a:rPr>
              <a:t>Det er jobbet, I øver. Tag svarene.</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POINTE</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6600" b="1" dirty="0">
                <a:solidFill>
                  <a:schemeClr val="bg1"/>
                </a:solidFill>
              </a:rPr>
              <a:t>Spørg som en chef. </a:t>
            </a:r>
            <a:pPr indent="0" marL="0">
              <a:lnSpc>
                <a:spcPct val="95000"/>
              </a:lnSpc>
              <a:buNone/>
            </a:pPr>
            <a:r>
              <a:rPr lang="en-US" sz="6600" b="1" dirty="0">
                <a:solidFill>
                  <a:schemeClr val="accent1"/>
                </a:solidFill>
              </a:rPr>
              <a:t>Lad AI regne.</a:t>
            </a:r>
            <a:endParaRPr lang="en-US" sz="6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04  ·  AI I JOBBET</a:t>
            </a:r>
            <a:endParaRPr lang="en-US" sz="1200" dirty="0"/>
          </a:p>
        </p:txBody>
      </p:sp>
      <p:sp>
        <p:nvSpPr>
          <p:cNvPr id="3" name="Text 1"/>
          <p:cNvSpPr txBox="1"/>
          <p:nvPr/>
        </p:nvSpPr>
        <p:spPr>
          <a:xfrm>
            <a:off x="685800" y="1828800"/>
            <a:ext cx="10515600" cy="2194560"/>
          </a:xfrm>
          <a:prstGeom prst="rect">
            <a:avLst/>
          </a:prstGeom>
          <a:noFill/>
          <a:ln/>
        </p:spPr>
        <p:txBody>
          <a:bodyPr wrap="square" lIns="0" tIns="0" rIns="0" bIns="0" rtlCol="0" anchor="b"/>
          <a:lstStyle/>
          <a:p>
            <a:pPr indent="0" marL="0">
              <a:lnSpc>
                <a:spcPct val="90000"/>
              </a:lnSpc>
              <a:buNone/>
            </a:pPr>
            <a:r>
              <a:rPr lang="en-US" sz="9600" b="1" dirty="0">
                <a:solidFill>
                  <a:schemeClr val="bg1"/>
                </a:solidFill>
              </a:rPr>
              <a:t>Lad AI lave </a:t>
            </a:r>
            <a:pPr indent="0" marL="0">
              <a:lnSpc>
                <a:spcPct val="90000"/>
              </a:lnSpc>
              <a:buNone/>
            </a:pPr>
            <a:r>
              <a:rPr lang="en-US" sz="9600" b="1" dirty="0">
                <a:solidFill>
                  <a:schemeClr val="accent1"/>
                </a:solidFill>
              </a:rPr>
              <a:t>arbejdet.</a:t>
            </a:r>
            <a:endParaRPr lang="en-US" sz="9600" dirty="0"/>
          </a:p>
        </p:txBody>
      </p:sp>
      <p:sp>
        <p:nvSpPr>
          <p:cNvPr id="4" name="Text 2"/>
          <p:cNvSpPr txBox="1"/>
          <p:nvPr/>
        </p:nvSpPr>
        <p:spPr>
          <a:xfrm>
            <a:off x="685800" y="4206240"/>
            <a:ext cx="9144000" cy="548640"/>
          </a:xfrm>
          <a:prstGeom prst="rect">
            <a:avLst/>
          </a:prstGeom>
          <a:noFill/>
          <a:ln/>
        </p:spPr>
        <p:txBody>
          <a:bodyPr wrap="square" lIns="0" tIns="0" rIns="0" bIns="0" rtlCol="0" anchor="t"/>
          <a:lstStyle/>
          <a:p>
            <a:pPr indent="0" marL="0">
              <a:buNone/>
            </a:pPr>
            <a:r>
              <a:rPr lang="en-US" sz="2400" dirty="0">
                <a:solidFill>
                  <a:schemeClr val="accent3"/>
                </a:solidFill>
              </a:rPr>
              <a:t>Sådan bruger jeg AI i mine egne job.</a:t>
            </a:r>
            <a:endParaRPr lang="en-US" sz="2400" dirty="0"/>
          </a:p>
        </p:txBody>
      </p:sp>
      <p:sp>
        <p:nvSpPr>
          <p:cNvPr id="5" name="Shape 3"/>
          <p:cNvSpPr/>
          <p:nvPr/>
        </p:nvSpPr>
        <p:spPr>
          <a:xfrm>
            <a:off x="685800" y="5943600"/>
            <a:ext cx="10820095" cy="0"/>
          </a:xfrm>
          <a:prstGeom prst="line">
            <a:avLst/>
          </a:prstGeom>
          <a:noFill/>
          <a:ln w="12700">
            <a:solidFill>
              <a:schemeClr val="accent5"/>
            </a:solidFill>
            <a:prstDash val="solid"/>
          </a:ln>
        </p:spPr>
      </p:sp>
      <p:sp>
        <p:nvSpPr>
          <p:cNvPr id="6" name="Shape 4"/>
          <p:cNvSpPr/>
          <p:nvPr/>
        </p:nvSpPr>
        <p:spPr>
          <a:xfrm>
            <a:off x="7177857" y="5943600"/>
            <a:ext cx="2164019" cy="0"/>
          </a:xfrm>
          <a:prstGeom prst="line">
            <a:avLst/>
          </a:prstGeom>
          <a:noFill/>
          <a:ln w="38100">
            <a:solidFill>
              <a:schemeClr val="accent1"/>
            </a:solidFill>
            <a:prstDash val="solid"/>
          </a:ln>
        </p:spPr>
      </p:sp>
      <p:sp>
        <p:nvSpPr>
          <p:cNvPr id="7" name="Text 5"/>
          <p:cNvSpPr txBox="1"/>
          <p:nvPr/>
        </p:nvSpPr>
        <p:spPr>
          <a:xfrm>
            <a:off x="685800"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Som studerende</a:t>
            </a:r>
            <a:endParaRPr lang="en-US" sz="1200" dirty="0"/>
          </a:p>
        </p:txBody>
      </p:sp>
      <p:sp>
        <p:nvSpPr>
          <p:cNvPr id="8" name="Text 6"/>
          <p:cNvSpPr txBox="1"/>
          <p:nvPr/>
        </p:nvSpPr>
        <p:spPr>
          <a:xfrm>
            <a:off x="2849819"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Prompting</a:t>
            </a:r>
            <a:endParaRPr lang="en-US" sz="1200" dirty="0"/>
          </a:p>
        </p:txBody>
      </p:sp>
      <p:sp>
        <p:nvSpPr>
          <p:cNvPr id="9" name="Text 7"/>
          <p:cNvSpPr txBox="1"/>
          <p:nvPr/>
        </p:nvSpPr>
        <p:spPr>
          <a:xfrm>
            <a:off x="5013838"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Excel og data</a:t>
            </a:r>
            <a:endParaRPr lang="en-US" sz="1200" dirty="0"/>
          </a:p>
        </p:txBody>
      </p:sp>
      <p:sp>
        <p:nvSpPr>
          <p:cNvPr id="10" name="Text 8"/>
          <p:cNvSpPr txBox="1"/>
          <p:nvPr/>
        </p:nvSpPr>
        <p:spPr>
          <a:xfrm>
            <a:off x="7177857" y="6089904"/>
            <a:ext cx="2072579" cy="274320"/>
          </a:xfrm>
          <a:prstGeom prst="rect">
            <a:avLst/>
          </a:prstGeom>
          <a:noFill/>
          <a:ln/>
        </p:spPr>
        <p:txBody>
          <a:bodyPr wrap="square" lIns="0" tIns="0" rIns="0" bIns="0" rtlCol="0" anchor="t"/>
          <a:lstStyle/>
          <a:p>
            <a:pPr indent="0" marL="0">
              <a:buNone/>
            </a:pPr>
            <a:r>
              <a:rPr lang="en-US" sz="1200" b="1" dirty="0">
                <a:solidFill>
                  <a:schemeClr val="bg1"/>
                </a:solidFill>
              </a:rPr>
              <a:t>AI i jobbet</a:t>
            </a:r>
            <a:endParaRPr lang="en-US" sz="1200" dirty="0"/>
          </a:p>
        </p:txBody>
      </p:sp>
      <p:sp>
        <p:nvSpPr>
          <p:cNvPr id="11" name="Text 9"/>
          <p:cNvSpPr txBox="1"/>
          <p:nvPr/>
        </p:nvSpPr>
        <p:spPr>
          <a:xfrm>
            <a:off x="9341876"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Vibecoding</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AUTONOMITRAPPEN</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Jo højere op ad trappen, jo mere </a:t>
            </a:r>
            <a:pPr algn="l" indent="0" marL="0">
              <a:lnSpc>
                <a:spcPct val="93000"/>
              </a:lnSpc>
              <a:buNone/>
            </a:pPr>
            <a:r>
              <a:rPr lang="en-US" sz="3400" b="1" dirty="0">
                <a:solidFill>
                  <a:schemeClr val="accent1"/>
                </a:solidFill>
              </a:rPr>
              <a:t>arbejder AI uden dig</a:t>
            </a:r>
            <a:endParaRPr lang="en-US" sz="3400" dirty="0"/>
          </a:p>
        </p:txBody>
      </p:sp>
      <p:sp>
        <p:nvSpPr>
          <p:cNvPr id="4" name="Shape 2"/>
          <p:cNvSpPr/>
          <p:nvPr/>
        </p:nvSpPr>
        <p:spPr>
          <a:xfrm>
            <a:off x="685800" y="4754880"/>
            <a:ext cx="2602154" cy="1417320"/>
          </a:xfrm>
          <a:prstGeom prst="roundRect">
            <a:avLst>
              <a:gd name="adj" fmla="val 5161"/>
            </a:avLst>
          </a:prstGeom>
          <a:solidFill>
            <a:srgbClr val="1C1C1E"/>
          </a:solidFill>
          <a:ln w="12700">
            <a:solidFill>
              <a:srgbClr val="1C1C1E"/>
            </a:solidFill>
            <a:prstDash val="solid"/>
          </a:ln>
        </p:spPr>
      </p:sp>
      <p:sp>
        <p:nvSpPr>
          <p:cNvPr id="5" name="Text 3"/>
          <p:cNvSpPr txBox="1"/>
          <p:nvPr/>
        </p:nvSpPr>
        <p:spPr>
          <a:xfrm>
            <a:off x="914400" y="493776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1</a:t>
            </a:r>
            <a:endParaRPr lang="en-US" sz="1600" dirty="0"/>
          </a:p>
        </p:txBody>
      </p:sp>
      <p:sp>
        <p:nvSpPr>
          <p:cNvPr id="6" name="Text 4"/>
          <p:cNvSpPr txBox="1"/>
          <p:nvPr/>
        </p:nvSpPr>
        <p:spPr>
          <a:xfrm>
            <a:off x="914400" y="5285232"/>
            <a:ext cx="2236394" cy="685800"/>
          </a:xfrm>
          <a:prstGeom prst="rect">
            <a:avLst/>
          </a:prstGeom>
          <a:noFill/>
          <a:ln/>
        </p:spPr>
        <p:txBody>
          <a:bodyPr wrap="square" lIns="0" tIns="0" rIns="0" bIns="0" rtlCol="0" anchor="t"/>
          <a:lstStyle/>
          <a:p>
            <a:pPr indent="0" marL="0">
              <a:buNone/>
            </a:pPr>
            <a:r>
              <a:rPr lang="en-US" sz="1900" b="1" dirty="0">
                <a:solidFill>
                  <a:schemeClr val="bg1"/>
                </a:solidFill>
              </a:rPr>
              <a:t>Chat</a:t>
            </a:r>
            <a:endParaRPr lang="en-US" sz="1900" dirty="0"/>
          </a:p>
        </p:txBody>
      </p:sp>
      <p:sp>
        <p:nvSpPr>
          <p:cNvPr id="7" name="Text 5"/>
          <p:cNvSpPr txBox="1"/>
          <p:nvPr/>
        </p:nvSpPr>
        <p:spPr>
          <a:xfrm>
            <a:off x="914400" y="5669280"/>
            <a:ext cx="2190674" cy="822960"/>
          </a:xfrm>
          <a:prstGeom prst="rect">
            <a:avLst/>
          </a:prstGeom>
          <a:noFill/>
          <a:ln/>
        </p:spPr>
        <p:txBody>
          <a:bodyPr wrap="square" lIns="0" tIns="0" rIns="0" bIns="0" rtlCol="0" anchor="t"/>
          <a:lstStyle/>
          <a:p>
            <a:pPr indent="0" marL="0">
              <a:buNone/>
            </a:pPr>
            <a:r>
              <a:rPr lang="en-US" sz="1500" dirty="0">
                <a:solidFill>
                  <a:schemeClr val="accent3"/>
                </a:solidFill>
              </a:rPr>
              <a:t>Du kopierer ind og ud</a:t>
            </a:r>
            <a:endParaRPr lang="en-US" sz="1500" dirty="0"/>
          </a:p>
        </p:txBody>
      </p:sp>
      <p:sp>
        <p:nvSpPr>
          <p:cNvPr id="8" name="Shape 6"/>
          <p:cNvSpPr/>
          <p:nvPr/>
        </p:nvSpPr>
        <p:spPr>
          <a:xfrm>
            <a:off x="3425114" y="4069080"/>
            <a:ext cx="2602154" cy="2103120"/>
          </a:xfrm>
          <a:prstGeom prst="roundRect">
            <a:avLst>
              <a:gd name="adj" fmla="val 3478"/>
            </a:avLst>
          </a:prstGeom>
          <a:solidFill>
            <a:srgbClr val="1C1C1E"/>
          </a:solidFill>
          <a:ln w="12700">
            <a:solidFill>
              <a:srgbClr val="1C1C1E"/>
            </a:solidFill>
            <a:prstDash val="solid"/>
          </a:ln>
        </p:spPr>
      </p:sp>
      <p:sp>
        <p:nvSpPr>
          <p:cNvPr id="9" name="Text 7"/>
          <p:cNvSpPr txBox="1"/>
          <p:nvPr/>
        </p:nvSpPr>
        <p:spPr>
          <a:xfrm>
            <a:off x="3653714" y="425196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2</a:t>
            </a:r>
            <a:endParaRPr lang="en-US" sz="1600" dirty="0"/>
          </a:p>
        </p:txBody>
      </p:sp>
      <p:sp>
        <p:nvSpPr>
          <p:cNvPr id="10" name="Text 8"/>
          <p:cNvSpPr txBox="1"/>
          <p:nvPr/>
        </p:nvSpPr>
        <p:spPr>
          <a:xfrm>
            <a:off x="3653714" y="4599432"/>
            <a:ext cx="2236394" cy="685800"/>
          </a:xfrm>
          <a:prstGeom prst="rect">
            <a:avLst/>
          </a:prstGeom>
          <a:noFill/>
          <a:ln/>
        </p:spPr>
        <p:txBody>
          <a:bodyPr wrap="square" lIns="0" tIns="0" rIns="0" bIns="0" rtlCol="0" anchor="t"/>
          <a:lstStyle/>
          <a:p>
            <a:pPr indent="0" marL="0">
              <a:buNone/>
            </a:pPr>
            <a:r>
              <a:rPr lang="en-US" sz="1900" b="1" dirty="0">
                <a:solidFill>
                  <a:schemeClr val="bg1"/>
                </a:solidFill>
              </a:rPr>
              <a:t>Forbundne værktøjer</a:t>
            </a:r>
            <a:endParaRPr lang="en-US" sz="1900" dirty="0"/>
          </a:p>
        </p:txBody>
      </p:sp>
      <p:sp>
        <p:nvSpPr>
          <p:cNvPr id="11" name="Text 9"/>
          <p:cNvSpPr txBox="1"/>
          <p:nvPr/>
        </p:nvSpPr>
        <p:spPr>
          <a:xfrm>
            <a:off x="3653714" y="5276088"/>
            <a:ext cx="2190674" cy="822960"/>
          </a:xfrm>
          <a:prstGeom prst="rect">
            <a:avLst/>
          </a:prstGeom>
          <a:noFill/>
          <a:ln/>
        </p:spPr>
        <p:txBody>
          <a:bodyPr wrap="square" lIns="0" tIns="0" rIns="0" bIns="0" rtlCol="0" anchor="t"/>
          <a:lstStyle/>
          <a:p>
            <a:pPr indent="0" marL="0">
              <a:buNone/>
            </a:pPr>
            <a:r>
              <a:rPr lang="en-US" sz="1500" dirty="0">
                <a:solidFill>
                  <a:schemeClr val="accent3"/>
                </a:solidFill>
              </a:rPr>
              <a:t>AI læser og skriver i HubSpot, Sheets og Slack</a:t>
            </a:r>
            <a:endParaRPr lang="en-US" sz="1500" dirty="0"/>
          </a:p>
        </p:txBody>
      </p:sp>
      <p:sp>
        <p:nvSpPr>
          <p:cNvPr id="12" name="Shape 10"/>
          <p:cNvSpPr/>
          <p:nvPr/>
        </p:nvSpPr>
        <p:spPr>
          <a:xfrm>
            <a:off x="6164428" y="3383280"/>
            <a:ext cx="2602154" cy="2788920"/>
          </a:xfrm>
          <a:prstGeom prst="roundRect">
            <a:avLst>
              <a:gd name="adj" fmla="val 2811"/>
            </a:avLst>
          </a:prstGeom>
          <a:solidFill>
            <a:srgbClr val="1C1C1E"/>
          </a:solidFill>
          <a:ln w="12700">
            <a:solidFill>
              <a:srgbClr val="1C1C1E"/>
            </a:solidFill>
            <a:prstDash val="solid"/>
          </a:ln>
        </p:spPr>
      </p:sp>
      <p:sp>
        <p:nvSpPr>
          <p:cNvPr id="13" name="Text 11"/>
          <p:cNvSpPr txBox="1"/>
          <p:nvPr/>
        </p:nvSpPr>
        <p:spPr>
          <a:xfrm>
            <a:off x="6393028" y="356616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3</a:t>
            </a:r>
            <a:endParaRPr lang="en-US" sz="1600" dirty="0"/>
          </a:p>
        </p:txBody>
      </p:sp>
      <p:sp>
        <p:nvSpPr>
          <p:cNvPr id="14" name="Text 12"/>
          <p:cNvSpPr txBox="1"/>
          <p:nvPr/>
        </p:nvSpPr>
        <p:spPr>
          <a:xfrm>
            <a:off x="6393028" y="3913632"/>
            <a:ext cx="2236394" cy="685800"/>
          </a:xfrm>
          <a:prstGeom prst="rect">
            <a:avLst/>
          </a:prstGeom>
          <a:noFill/>
          <a:ln/>
        </p:spPr>
        <p:txBody>
          <a:bodyPr wrap="square" lIns="0" tIns="0" rIns="0" bIns="0" rtlCol="0" anchor="t"/>
          <a:lstStyle/>
          <a:p>
            <a:pPr indent="0" marL="0">
              <a:buNone/>
            </a:pPr>
            <a:r>
              <a:rPr lang="en-US" sz="1900" b="1" dirty="0">
                <a:solidFill>
                  <a:schemeClr val="bg1"/>
                </a:solidFill>
              </a:rPr>
              <a:t>Automatisering</a:t>
            </a:r>
            <a:endParaRPr lang="en-US" sz="1900" dirty="0"/>
          </a:p>
        </p:txBody>
      </p:sp>
      <p:sp>
        <p:nvSpPr>
          <p:cNvPr id="15" name="Text 13"/>
          <p:cNvSpPr txBox="1"/>
          <p:nvPr/>
        </p:nvSpPr>
        <p:spPr>
          <a:xfrm>
            <a:off x="6393028" y="4297680"/>
            <a:ext cx="2190674" cy="822960"/>
          </a:xfrm>
          <a:prstGeom prst="rect">
            <a:avLst/>
          </a:prstGeom>
          <a:noFill/>
          <a:ln/>
        </p:spPr>
        <p:txBody>
          <a:bodyPr wrap="square" lIns="0" tIns="0" rIns="0" bIns="0" rtlCol="0" anchor="t"/>
          <a:lstStyle/>
          <a:p>
            <a:pPr indent="0" marL="0">
              <a:buNone/>
            </a:pPr>
            <a:r>
              <a:rPr lang="en-US" sz="1500" dirty="0">
                <a:solidFill>
                  <a:schemeClr val="accent3"/>
                </a:solidFill>
              </a:rPr>
              <a:t>Et nyt lead udløser opgave og Slack-besked</a:t>
            </a:r>
            <a:endParaRPr lang="en-US" sz="1500" dirty="0"/>
          </a:p>
        </p:txBody>
      </p:sp>
      <p:sp>
        <p:nvSpPr>
          <p:cNvPr id="16" name="Shape 14"/>
          <p:cNvSpPr/>
          <p:nvPr/>
        </p:nvSpPr>
        <p:spPr>
          <a:xfrm>
            <a:off x="8903741" y="2697480"/>
            <a:ext cx="2602154" cy="3474720"/>
          </a:xfrm>
          <a:prstGeom prst="roundRect">
            <a:avLst>
              <a:gd name="adj" fmla="val 2811"/>
            </a:avLst>
          </a:prstGeom>
          <a:solidFill>
            <a:srgbClr val="EE4B1A"/>
          </a:solidFill>
          <a:ln w="12700">
            <a:solidFill>
              <a:srgbClr val="EE4B1A"/>
            </a:solidFill>
            <a:prstDash val="solid"/>
          </a:ln>
        </p:spPr>
      </p:sp>
      <p:sp>
        <p:nvSpPr>
          <p:cNvPr id="17" name="Text 15"/>
          <p:cNvSpPr txBox="1"/>
          <p:nvPr/>
        </p:nvSpPr>
        <p:spPr>
          <a:xfrm>
            <a:off x="9132341" y="2880360"/>
            <a:ext cx="914400" cy="365760"/>
          </a:xfrm>
          <a:prstGeom prst="rect">
            <a:avLst/>
          </a:prstGeom>
          <a:noFill/>
          <a:ln/>
        </p:spPr>
        <p:txBody>
          <a:bodyPr wrap="square" lIns="0" tIns="0" rIns="0" bIns="0" rtlCol="0" anchor="t"/>
          <a:lstStyle/>
          <a:p>
            <a:pPr indent="0" marL="0">
              <a:buNone/>
            </a:pPr>
            <a:r>
              <a:rPr lang="en-US" sz="1600" b="1" dirty="0">
                <a:solidFill>
                  <a:schemeClr val="bg1"/>
                </a:solidFill>
              </a:rPr>
              <a:t>4</a:t>
            </a:r>
            <a:endParaRPr lang="en-US" sz="1600" dirty="0"/>
          </a:p>
        </p:txBody>
      </p:sp>
      <p:sp>
        <p:nvSpPr>
          <p:cNvPr id="18" name="Text 16"/>
          <p:cNvSpPr txBox="1"/>
          <p:nvPr/>
        </p:nvSpPr>
        <p:spPr>
          <a:xfrm>
            <a:off x="9132341" y="3227832"/>
            <a:ext cx="2236394" cy="685800"/>
          </a:xfrm>
          <a:prstGeom prst="rect">
            <a:avLst/>
          </a:prstGeom>
          <a:noFill/>
          <a:ln/>
        </p:spPr>
        <p:txBody>
          <a:bodyPr wrap="square" lIns="0" tIns="0" rIns="0" bIns="0" rtlCol="0" anchor="t"/>
          <a:lstStyle/>
          <a:p>
            <a:pPr indent="0" marL="0">
              <a:buNone/>
            </a:pPr>
            <a:r>
              <a:rPr lang="en-US" sz="1900" b="1" dirty="0">
                <a:solidFill>
                  <a:schemeClr val="bg1"/>
                </a:solidFill>
              </a:rPr>
              <a:t>Agenter</a:t>
            </a:r>
            <a:endParaRPr lang="en-US" sz="1900" dirty="0"/>
          </a:p>
        </p:txBody>
      </p:sp>
      <p:sp>
        <p:nvSpPr>
          <p:cNvPr id="19" name="Text 17"/>
          <p:cNvSpPr txBox="1"/>
          <p:nvPr/>
        </p:nvSpPr>
        <p:spPr>
          <a:xfrm>
            <a:off x="9132341" y="3611880"/>
            <a:ext cx="2190674" cy="822960"/>
          </a:xfrm>
          <a:prstGeom prst="rect">
            <a:avLst/>
          </a:prstGeom>
          <a:noFill/>
          <a:ln/>
        </p:spPr>
        <p:txBody>
          <a:bodyPr wrap="square" lIns="0" tIns="0" rIns="0" bIns="0" rtlCol="0" anchor="t"/>
          <a:lstStyle/>
          <a:p>
            <a:pPr indent="0" marL="0">
              <a:buNone/>
            </a:pPr>
            <a:r>
              <a:rPr lang="en-US" sz="1500" dirty="0">
                <a:solidFill>
                  <a:schemeClr val="bg1"/>
                </a:solidFill>
              </a:rPr>
              <a:t>Grok finder leads. Claude Code bygger appen</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DEMO  ·  THIRDBASE</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Fra målgruppe til HubSpot </a:t>
            </a:r>
            <a:pPr algn="l" indent="0" marL="0">
              <a:lnSpc>
                <a:spcPct val="93000"/>
              </a:lnSpc>
              <a:buNone/>
            </a:pPr>
            <a:r>
              <a:rPr lang="en-US" sz="3400" b="1" dirty="0">
                <a:solidFill>
                  <a:schemeClr val="accent1"/>
                </a:solidFill>
              </a:rPr>
              <a:t>uden manuel research</a:t>
            </a:r>
            <a:endParaRPr lang="en-US" sz="3400" dirty="0"/>
          </a:p>
        </p:txBody>
      </p:sp>
      <p:sp>
        <p:nvSpPr>
          <p:cNvPr id="4" name="Shape 2"/>
          <p:cNvSpPr/>
          <p:nvPr/>
        </p:nvSpPr>
        <p:spPr>
          <a:xfrm>
            <a:off x="2606040" y="3383280"/>
            <a:ext cx="270434" cy="0"/>
          </a:xfrm>
          <a:prstGeom prst="line">
            <a:avLst/>
          </a:prstGeom>
          <a:noFill/>
          <a:ln w="15875">
            <a:solidFill>
              <a:srgbClr val="3A3A3C"/>
            </a:solidFill>
            <a:prstDash val="solid"/>
            <a:tailEnd type="triangle"/>
          </a:ln>
        </p:spPr>
      </p:sp>
      <p:sp>
        <p:nvSpPr>
          <p:cNvPr id="5" name="Shape 3"/>
          <p:cNvSpPr/>
          <p:nvPr/>
        </p:nvSpPr>
        <p:spPr>
          <a:xfrm>
            <a:off x="685800" y="2971800"/>
            <a:ext cx="1874520" cy="822960"/>
          </a:xfrm>
          <a:prstGeom prst="roundRect">
            <a:avLst>
              <a:gd name="adj" fmla="val 50000"/>
            </a:avLst>
          </a:prstGeom>
          <a:solidFill>
            <a:srgbClr val="EE4B1A"/>
          </a:solidFill>
          <a:ln w="12700">
            <a:solidFill>
              <a:srgbClr val="EE4B1A"/>
            </a:solidFill>
            <a:prstDash val="solid"/>
          </a:ln>
        </p:spPr>
      </p:sp>
      <p:sp>
        <p:nvSpPr>
          <p:cNvPr id="6" name="Text 4"/>
          <p:cNvSpPr txBox="1"/>
          <p:nvPr/>
        </p:nvSpPr>
        <p:spPr>
          <a:xfrm>
            <a:off x="685800" y="2971800"/>
            <a:ext cx="1874520" cy="822960"/>
          </a:xfrm>
          <a:prstGeom prst="rect">
            <a:avLst/>
          </a:prstGeom>
          <a:noFill/>
          <a:ln/>
        </p:spPr>
        <p:txBody>
          <a:bodyPr wrap="square" lIns="0" tIns="0" rIns="0" bIns="0" rtlCol="0" anchor="ctr"/>
          <a:lstStyle/>
          <a:p>
            <a:pPr algn="ctr" indent="0" marL="0">
              <a:buNone/>
            </a:pPr>
            <a:r>
              <a:rPr lang="en-US" sz="1900" b="1" dirty="0">
                <a:solidFill>
                  <a:schemeClr val="bg1"/>
                </a:solidFill>
              </a:rPr>
              <a:t>Grok</a:t>
            </a:r>
            <a:endParaRPr lang="en-US" sz="1900" dirty="0"/>
          </a:p>
        </p:txBody>
      </p:sp>
      <p:sp>
        <p:nvSpPr>
          <p:cNvPr id="7" name="Text 5"/>
          <p:cNvSpPr txBox="1"/>
          <p:nvPr/>
        </p:nvSpPr>
        <p:spPr>
          <a:xfrm>
            <a:off x="731520" y="4023360"/>
            <a:ext cx="1783080" cy="1097280"/>
          </a:xfrm>
          <a:prstGeom prst="rect">
            <a:avLst/>
          </a:prstGeom>
          <a:noFill/>
          <a:ln/>
        </p:spPr>
        <p:txBody>
          <a:bodyPr wrap="square" lIns="0" tIns="0" rIns="0" bIns="0" rtlCol="0" anchor="t"/>
          <a:lstStyle/>
          <a:p>
            <a:pPr algn="ctr" indent="0" marL="0">
              <a:buNone/>
            </a:pPr>
            <a:r>
              <a:rPr lang="en-US" sz="1500" dirty="0">
                <a:solidFill>
                  <a:schemeClr val="accent3"/>
                </a:solidFill>
              </a:rPr>
              <a:t>finder virksomheder og beslutningstagere</a:t>
            </a:r>
            <a:endParaRPr lang="en-US" sz="1500" dirty="0"/>
          </a:p>
        </p:txBody>
      </p:sp>
      <p:sp>
        <p:nvSpPr>
          <p:cNvPr id="8" name="Shape 6"/>
          <p:cNvSpPr/>
          <p:nvPr/>
        </p:nvSpPr>
        <p:spPr>
          <a:xfrm>
            <a:off x="4842434" y="3383280"/>
            <a:ext cx="270434" cy="0"/>
          </a:xfrm>
          <a:prstGeom prst="line">
            <a:avLst/>
          </a:prstGeom>
          <a:noFill/>
          <a:ln w="15875">
            <a:solidFill>
              <a:srgbClr val="3A3A3C"/>
            </a:solidFill>
            <a:prstDash val="solid"/>
            <a:tailEnd type="triangle"/>
          </a:ln>
        </p:spPr>
      </p:sp>
      <p:sp>
        <p:nvSpPr>
          <p:cNvPr id="9" name="Shape 7"/>
          <p:cNvSpPr/>
          <p:nvPr/>
        </p:nvSpPr>
        <p:spPr>
          <a:xfrm>
            <a:off x="2922194" y="2971800"/>
            <a:ext cx="1874520" cy="822960"/>
          </a:xfrm>
          <a:prstGeom prst="roundRect">
            <a:avLst>
              <a:gd name="adj" fmla="val 50000"/>
            </a:avLst>
          </a:prstGeom>
          <a:solidFill>
            <a:srgbClr val="1C1C1E"/>
          </a:solidFill>
          <a:ln w="12700">
            <a:solidFill>
              <a:srgbClr val="1C1C1E"/>
            </a:solidFill>
            <a:prstDash val="solid"/>
          </a:ln>
        </p:spPr>
      </p:sp>
      <p:sp>
        <p:nvSpPr>
          <p:cNvPr id="10" name="Text 8"/>
          <p:cNvSpPr txBox="1"/>
          <p:nvPr/>
        </p:nvSpPr>
        <p:spPr>
          <a:xfrm>
            <a:off x="2922194" y="2971800"/>
            <a:ext cx="1874520" cy="822960"/>
          </a:xfrm>
          <a:prstGeom prst="rect">
            <a:avLst/>
          </a:prstGeom>
          <a:noFill/>
          <a:ln/>
        </p:spPr>
        <p:txBody>
          <a:bodyPr wrap="square" lIns="0" tIns="0" rIns="0" bIns="0" rtlCol="0" anchor="ctr"/>
          <a:lstStyle/>
          <a:p>
            <a:pPr algn="ctr" indent="0" marL="0">
              <a:buNone/>
            </a:pPr>
            <a:r>
              <a:rPr lang="en-US" sz="1900" b="1" dirty="0">
                <a:solidFill>
                  <a:schemeClr val="bg1"/>
                </a:solidFill>
              </a:rPr>
              <a:t>Google Sheets</a:t>
            </a:r>
            <a:endParaRPr lang="en-US" sz="1900" dirty="0"/>
          </a:p>
        </p:txBody>
      </p:sp>
      <p:sp>
        <p:nvSpPr>
          <p:cNvPr id="11" name="Text 9"/>
          <p:cNvSpPr txBox="1"/>
          <p:nvPr/>
        </p:nvSpPr>
        <p:spPr>
          <a:xfrm>
            <a:off x="2967914" y="4023360"/>
            <a:ext cx="1783080" cy="1097280"/>
          </a:xfrm>
          <a:prstGeom prst="rect">
            <a:avLst/>
          </a:prstGeom>
          <a:noFill/>
          <a:ln/>
        </p:spPr>
        <p:txBody>
          <a:bodyPr wrap="square" lIns="0" tIns="0" rIns="0" bIns="0" rtlCol="0" anchor="t"/>
          <a:lstStyle/>
          <a:p>
            <a:pPr algn="ctr" indent="0" marL="0">
              <a:buNone/>
            </a:pPr>
            <a:r>
              <a:rPr lang="en-US" sz="1500" dirty="0">
                <a:solidFill>
                  <a:schemeClr val="accent3"/>
                </a:solidFill>
              </a:rPr>
              <a:t>samler listen</a:t>
            </a:r>
            <a:endParaRPr lang="en-US" sz="1500" dirty="0"/>
          </a:p>
        </p:txBody>
      </p:sp>
      <p:sp>
        <p:nvSpPr>
          <p:cNvPr id="12" name="Shape 10"/>
          <p:cNvSpPr/>
          <p:nvPr/>
        </p:nvSpPr>
        <p:spPr>
          <a:xfrm>
            <a:off x="7078828" y="3383280"/>
            <a:ext cx="270434" cy="0"/>
          </a:xfrm>
          <a:prstGeom prst="line">
            <a:avLst/>
          </a:prstGeom>
          <a:noFill/>
          <a:ln w="15875">
            <a:solidFill>
              <a:srgbClr val="3A3A3C"/>
            </a:solidFill>
            <a:prstDash val="solid"/>
            <a:tailEnd type="triangle"/>
          </a:ln>
        </p:spPr>
      </p:sp>
      <p:sp>
        <p:nvSpPr>
          <p:cNvPr id="13" name="Shape 11"/>
          <p:cNvSpPr/>
          <p:nvPr/>
        </p:nvSpPr>
        <p:spPr>
          <a:xfrm>
            <a:off x="5158588" y="2971800"/>
            <a:ext cx="1874520" cy="822960"/>
          </a:xfrm>
          <a:prstGeom prst="roundRect">
            <a:avLst>
              <a:gd name="adj" fmla="val 50000"/>
            </a:avLst>
          </a:prstGeom>
          <a:solidFill>
            <a:srgbClr val="EE4B1A"/>
          </a:solidFill>
          <a:ln w="12700">
            <a:solidFill>
              <a:srgbClr val="EE4B1A"/>
            </a:solidFill>
            <a:prstDash val="solid"/>
          </a:ln>
        </p:spPr>
      </p:sp>
      <p:sp>
        <p:nvSpPr>
          <p:cNvPr id="14" name="Text 12"/>
          <p:cNvSpPr txBox="1"/>
          <p:nvPr/>
        </p:nvSpPr>
        <p:spPr>
          <a:xfrm>
            <a:off x="5158588" y="2971800"/>
            <a:ext cx="1874520" cy="822960"/>
          </a:xfrm>
          <a:prstGeom prst="rect">
            <a:avLst/>
          </a:prstGeom>
          <a:noFill/>
          <a:ln/>
        </p:spPr>
        <p:txBody>
          <a:bodyPr wrap="square" lIns="0" tIns="0" rIns="0" bIns="0" rtlCol="0" anchor="ctr"/>
          <a:lstStyle/>
          <a:p>
            <a:pPr algn="ctr" indent="0" marL="0">
              <a:buNone/>
            </a:pPr>
            <a:r>
              <a:rPr lang="en-US" sz="1900" b="1" dirty="0">
                <a:solidFill>
                  <a:schemeClr val="bg1"/>
                </a:solidFill>
              </a:rPr>
              <a:t>AI</a:t>
            </a:r>
            <a:endParaRPr lang="en-US" sz="1900" dirty="0"/>
          </a:p>
        </p:txBody>
      </p:sp>
      <p:sp>
        <p:nvSpPr>
          <p:cNvPr id="15" name="Text 13"/>
          <p:cNvSpPr txBox="1"/>
          <p:nvPr/>
        </p:nvSpPr>
        <p:spPr>
          <a:xfrm>
            <a:off x="5204308" y="4023360"/>
            <a:ext cx="1783080" cy="1097280"/>
          </a:xfrm>
          <a:prstGeom prst="rect">
            <a:avLst/>
          </a:prstGeom>
          <a:noFill/>
          <a:ln/>
        </p:spPr>
        <p:txBody>
          <a:bodyPr wrap="square" lIns="0" tIns="0" rIns="0" bIns="0" rtlCol="0" anchor="t"/>
          <a:lstStyle/>
          <a:p>
            <a:pPr algn="ctr" indent="0" marL="0">
              <a:buNone/>
            </a:pPr>
            <a:r>
              <a:rPr lang="en-US" sz="1500" dirty="0">
                <a:solidFill>
                  <a:schemeClr val="accent3"/>
                </a:solidFill>
              </a:rPr>
              <a:t>renser og beriger</a:t>
            </a:r>
            <a:endParaRPr lang="en-US" sz="1500" dirty="0"/>
          </a:p>
        </p:txBody>
      </p:sp>
      <p:sp>
        <p:nvSpPr>
          <p:cNvPr id="16" name="Shape 14"/>
          <p:cNvSpPr/>
          <p:nvPr/>
        </p:nvSpPr>
        <p:spPr>
          <a:xfrm>
            <a:off x="9315221" y="3383280"/>
            <a:ext cx="270434" cy="0"/>
          </a:xfrm>
          <a:prstGeom prst="line">
            <a:avLst/>
          </a:prstGeom>
          <a:noFill/>
          <a:ln w="15875">
            <a:solidFill>
              <a:srgbClr val="3A3A3C"/>
            </a:solidFill>
            <a:prstDash val="solid"/>
            <a:tailEnd type="triangle"/>
          </a:ln>
        </p:spPr>
      </p:sp>
      <p:sp>
        <p:nvSpPr>
          <p:cNvPr id="17" name="Shape 15"/>
          <p:cNvSpPr/>
          <p:nvPr/>
        </p:nvSpPr>
        <p:spPr>
          <a:xfrm>
            <a:off x="7394981" y="2971800"/>
            <a:ext cx="1874520" cy="822960"/>
          </a:xfrm>
          <a:prstGeom prst="roundRect">
            <a:avLst>
              <a:gd name="adj" fmla="val 50000"/>
            </a:avLst>
          </a:prstGeom>
          <a:solidFill>
            <a:srgbClr val="1C1C1E"/>
          </a:solidFill>
          <a:ln w="12700">
            <a:solidFill>
              <a:srgbClr val="1C1C1E"/>
            </a:solidFill>
            <a:prstDash val="solid"/>
          </a:ln>
        </p:spPr>
      </p:sp>
      <p:sp>
        <p:nvSpPr>
          <p:cNvPr id="18" name="Text 16"/>
          <p:cNvSpPr txBox="1"/>
          <p:nvPr/>
        </p:nvSpPr>
        <p:spPr>
          <a:xfrm>
            <a:off x="7394981" y="2971800"/>
            <a:ext cx="1874520" cy="822960"/>
          </a:xfrm>
          <a:prstGeom prst="rect">
            <a:avLst/>
          </a:prstGeom>
          <a:noFill/>
          <a:ln/>
        </p:spPr>
        <p:txBody>
          <a:bodyPr wrap="square" lIns="0" tIns="0" rIns="0" bIns="0" rtlCol="0" anchor="ctr"/>
          <a:lstStyle/>
          <a:p>
            <a:pPr algn="ctr" indent="0" marL="0">
              <a:buNone/>
            </a:pPr>
            <a:r>
              <a:rPr lang="en-US" sz="1900" b="1" dirty="0">
                <a:solidFill>
                  <a:schemeClr val="bg1"/>
                </a:solidFill>
              </a:rPr>
              <a:t>HubSpot</a:t>
            </a:r>
            <a:endParaRPr lang="en-US" sz="1900" dirty="0"/>
          </a:p>
        </p:txBody>
      </p:sp>
      <p:sp>
        <p:nvSpPr>
          <p:cNvPr id="19" name="Text 17"/>
          <p:cNvSpPr txBox="1"/>
          <p:nvPr/>
        </p:nvSpPr>
        <p:spPr>
          <a:xfrm>
            <a:off x="7440701" y="4023360"/>
            <a:ext cx="1783080" cy="1097280"/>
          </a:xfrm>
          <a:prstGeom prst="rect">
            <a:avLst/>
          </a:prstGeom>
          <a:noFill/>
          <a:ln/>
        </p:spPr>
        <p:txBody>
          <a:bodyPr wrap="square" lIns="0" tIns="0" rIns="0" bIns="0" rtlCol="0" anchor="t"/>
          <a:lstStyle/>
          <a:p>
            <a:pPr algn="ctr" indent="0" marL="0">
              <a:buNone/>
            </a:pPr>
            <a:r>
              <a:rPr lang="en-US" sz="1500" dirty="0">
                <a:solidFill>
                  <a:schemeClr val="accent3"/>
                </a:solidFill>
              </a:rPr>
              <a:t>firma, kontakt og deal</a:t>
            </a:r>
            <a:endParaRPr lang="en-US" sz="1500" dirty="0"/>
          </a:p>
        </p:txBody>
      </p:sp>
      <p:sp>
        <p:nvSpPr>
          <p:cNvPr id="20" name="Shape 18"/>
          <p:cNvSpPr/>
          <p:nvPr/>
        </p:nvSpPr>
        <p:spPr>
          <a:xfrm>
            <a:off x="9631375" y="2971800"/>
            <a:ext cx="1874520" cy="822960"/>
          </a:xfrm>
          <a:prstGeom prst="roundRect">
            <a:avLst>
              <a:gd name="adj" fmla="val 50000"/>
            </a:avLst>
          </a:prstGeom>
          <a:solidFill>
            <a:srgbClr val="EE4B1A"/>
          </a:solidFill>
          <a:ln w="12700">
            <a:solidFill>
              <a:srgbClr val="EE4B1A"/>
            </a:solidFill>
            <a:prstDash val="solid"/>
          </a:ln>
        </p:spPr>
      </p:sp>
      <p:sp>
        <p:nvSpPr>
          <p:cNvPr id="21" name="Text 19"/>
          <p:cNvSpPr txBox="1"/>
          <p:nvPr/>
        </p:nvSpPr>
        <p:spPr>
          <a:xfrm>
            <a:off x="9631375" y="2971800"/>
            <a:ext cx="1874520" cy="822960"/>
          </a:xfrm>
          <a:prstGeom prst="rect">
            <a:avLst/>
          </a:prstGeom>
          <a:noFill/>
          <a:ln/>
        </p:spPr>
        <p:txBody>
          <a:bodyPr wrap="square" lIns="0" tIns="0" rIns="0" bIns="0" rtlCol="0" anchor="ctr"/>
          <a:lstStyle/>
          <a:p>
            <a:pPr algn="ctr" indent="0" marL="0">
              <a:buNone/>
            </a:pPr>
            <a:r>
              <a:rPr lang="en-US" sz="1900" b="1" dirty="0">
                <a:solidFill>
                  <a:schemeClr val="bg1"/>
                </a:solidFill>
              </a:rPr>
              <a:t>AI</a:t>
            </a:r>
            <a:endParaRPr lang="en-US" sz="1900" dirty="0"/>
          </a:p>
        </p:txBody>
      </p:sp>
      <p:sp>
        <p:nvSpPr>
          <p:cNvPr id="22" name="Text 20"/>
          <p:cNvSpPr txBox="1"/>
          <p:nvPr/>
        </p:nvSpPr>
        <p:spPr>
          <a:xfrm>
            <a:off x="9677095" y="4023360"/>
            <a:ext cx="1783080" cy="1097280"/>
          </a:xfrm>
          <a:prstGeom prst="rect">
            <a:avLst/>
          </a:prstGeom>
          <a:noFill/>
          <a:ln/>
        </p:spPr>
        <p:txBody>
          <a:bodyPr wrap="square" lIns="0" tIns="0" rIns="0" bIns="0" rtlCol="0" anchor="t"/>
          <a:lstStyle/>
          <a:p>
            <a:pPr algn="ctr" indent="0" marL="0">
              <a:buNone/>
            </a:pPr>
            <a:r>
              <a:rPr lang="en-US" sz="1500" dirty="0">
                <a:solidFill>
                  <a:schemeClr val="accent3"/>
                </a:solidFill>
              </a:rPr>
              <a:t>skriver beskeder og opfølgninger</a:t>
            </a:r>
            <a:endParaRPr lang="en-US" sz="1500" dirty="0"/>
          </a:p>
        </p:txBody>
      </p:sp>
      <p:sp>
        <p:nvSpPr>
          <p:cNvPr id="23" name="Text 21"/>
          <p:cNvSpPr txBox="1"/>
          <p:nvPr/>
        </p:nvSpPr>
        <p:spPr>
          <a:xfrm>
            <a:off x="685800" y="5486400"/>
            <a:ext cx="5486400" cy="320040"/>
          </a:xfrm>
          <a:prstGeom prst="rect">
            <a:avLst/>
          </a:prstGeom>
          <a:noFill/>
          <a:ln/>
        </p:spPr>
        <p:txBody>
          <a:bodyPr wrap="square" lIns="0" tIns="0" rIns="0" bIns="0" rtlCol="0" anchor="t"/>
          <a:lstStyle/>
          <a:p>
            <a:pPr indent="0" marL="0">
              <a:buNone/>
            </a:pPr>
            <a:r>
              <a:rPr lang="en-US" sz="1300" b="1" dirty="0">
                <a:solidFill>
                  <a:schemeClr val="accent1"/>
                </a:solidFill>
              </a:rPr>
              <a:t>AI-trin</a:t>
            </a:r>
            <a:pPr indent="0" marL="0">
              <a:buNone/>
            </a:pPr>
            <a:r>
              <a:rPr lang="en-US" sz="1300" dirty="0">
                <a:solidFill>
                  <a:schemeClr val="accent3"/>
                </a:solidFill>
              </a:rPr>
              <a:t>   ·   Systemer</a:t>
            </a:r>
            <a:endParaRPr lang="en-US" sz="1300" dirty="0"/>
          </a:p>
        </p:txBody>
      </p:sp>
      <p:sp>
        <p:nvSpPr>
          <p:cNvPr id="24" name="Text 22"/>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3"/>
                </a:solidFill>
              </a:rPr>
              <a:t>Thirdbase er mit eget konsulenthus inden for B2B-salg og marketing.</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SPILLEREGEL</a:t>
            </a:r>
            <a:endParaRPr lang="en-US" sz="1200" dirty="0"/>
          </a:p>
        </p:txBody>
      </p:sp>
      <p:sp>
        <p:nvSpPr>
          <p:cNvPr id="3" name="Text 1"/>
          <p:cNvSpPr txBox="1"/>
          <p:nvPr/>
        </p:nvSpPr>
        <p:spPr>
          <a:xfrm>
            <a:off x="685800" y="804672"/>
            <a:ext cx="10424160" cy="1828800"/>
          </a:xfrm>
          <a:prstGeom prst="rect">
            <a:avLst/>
          </a:prstGeom>
          <a:noFill/>
          <a:ln/>
        </p:spPr>
        <p:txBody>
          <a:bodyPr wrap="square" lIns="0" tIns="0" rIns="0" bIns="0" rtlCol="0" anchor="t"/>
          <a:lstStyle/>
          <a:p>
            <a:pPr indent="0" marL="0">
              <a:lnSpc>
                <a:spcPct val="95000"/>
              </a:lnSpc>
              <a:buNone/>
            </a:pPr>
            <a:r>
              <a:rPr lang="en-US" sz="4400" b="1" dirty="0">
                <a:solidFill>
                  <a:schemeClr val="tx1"/>
                </a:solidFill>
              </a:rPr>
              <a:t>Bot'en kan skrive på LinkedIn. </a:t>
            </a:r>
            <a:pPr indent="0" marL="0">
              <a:lnSpc>
                <a:spcPct val="95000"/>
              </a:lnSpc>
              <a:buNone/>
            </a:pPr>
            <a:r>
              <a:rPr lang="en-US" sz="4400" b="1" dirty="0">
                <a:solidFill>
                  <a:schemeClr val="accent1"/>
                </a:solidFill>
              </a:rPr>
              <a:t>Loven kræver samtykke.</a:t>
            </a:r>
            <a:endParaRPr lang="en-US" sz="4400" dirty="0"/>
          </a:p>
        </p:txBody>
      </p:sp>
      <p:sp>
        <p:nvSpPr>
          <p:cNvPr id="4" name="Text 2"/>
          <p:cNvSpPr txBox="1"/>
          <p:nvPr/>
        </p:nvSpPr>
        <p:spPr>
          <a:xfrm>
            <a:off x="685800" y="3017520"/>
            <a:ext cx="9326880" cy="1280160"/>
          </a:xfrm>
          <a:prstGeom prst="rect">
            <a:avLst/>
          </a:prstGeom>
          <a:noFill/>
          <a:ln/>
        </p:spPr>
        <p:txBody>
          <a:bodyPr wrap="square" lIns="0" tIns="0" rIns="0" bIns="0" rtlCol="0" anchor="t"/>
          <a:lstStyle/>
          <a:p>
            <a:pPr indent="0" marL="0">
              <a:buNone/>
            </a:pPr>
            <a:r>
              <a:rPr lang="en-US" sz="2200" dirty="0">
                <a:solidFill>
                  <a:schemeClr val="tx1"/>
                </a:solidFill>
              </a:rPr>
              <a:t>Markedsføring i LinkedIn-beskeder og invitationer er elektronisk post. Det kræver modtagerens samtykke efter markedsføringslovens § 10, også mellem virksomheder.</a:t>
            </a:r>
            <a:endParaRPr lang="en-US" sz="2200" dirty="0"/>
          </a:p>
        </p:txBody>
      </p:sp>
      <p:sp>
        <p:nvSpPr>
          <p:cNvPr id="5" name="Text 3"/>
          <p:cNvSpPr txBox="1"/>
          <p:nvPr/>
        </p:nvSpPr>
        <p:spPr>
          <a:xfrm>
            <a:off x="685800" y="4434840"/>
            <a:ext cx="9326880" cy="914400"/>
          </a:xfrm>
          <a:prstGeom prst="rect">
            <a:avLst/>
          </a:prstGeom>
          <a:noFill/>
          <a:ln/>
        </p:spPr>
        <p:txBody>
          <a:bodyPr wrap="square" lIns="0" tIns="0" rIns="0" bIns="0" rtlCol="0" anchor="t"/>
          <a:lstStyle/>
          <a:p>
            <a:pPr indent="0" marL="0">
              <a:buNone/>
            </a:pPr>
            <a:r>
              <a:rPr lang="en-US" sz="2200" dirty="0">
                <a:solidFill>
                  <a:schemeClr val="accent2"/>
                </a:solidFill>
              </a:rPr>
              <a:t>Automatisér research og udkast fuldt ud. </a:t>
            </a:r>
            <a:pPr indent="0" marL="0">
              <a:buNone/>
            </a:pPr>
            <a:r>
              <a:rPr lang="en-US" sz="2200" dirty="0">
                <a:solidFill>
                  <a:schemeClr val="accent1"/>
                </a:solidFill>
              </a:rPr>
              <a:t>Send markedsføringen dér, hvor reglerne tillader det.</a:t>
            </a:r>
            <a:endParaRPr lang="en-US" sz="2200" dirty="0"/>
          </a:p>
        </p:txBody>
      </p:sp>
      <p:sp>
        <p:nvSpPr>
          <p:cNvPr id="6" name="Text 4"/>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2"/>
                </a:solidFill>
              </a:rPr>
              <a:t>Kilde. Forbrugerombudsmanden, gengivet af Dansk Erhverv 2020. LinkedIns brugeraftale forbyder desuden bots.</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LIVE DEMO  ·  FRA MØDE TIL HANDLING</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Pocket har lyttet med hele timen. </a:t>
            </a:r>
            <a:pPr algn="l" indent="0" marL="0">
              <a:lnSpc>
                <a:spcPct val="93000"/>
              </a:lnSpc>
              <a:buNone/>
            </a:pPr>
            <a:r>
              <a:rPr lang="en-US" sz="3400" b="1" dirty="0">
                <a:solidFill>
                  <a:schemeClr val="accent1"/>
                </a:solidFill>
              </a:rPr>
              <a:t>Nu bliver det til handling</a:t>
            </a:r>
            <a:endParaRPr lang="en-US" sz="3400" dirty="0"/>
          </a:p>
        </p:txBody>
      </p:sp>
      <p:sp>
        <p:nvSpPr>
          <p:cNvPr id="4" name="Shape 2"/>
          <p:cNvSpPr/>
          <p:nvPr/>
        </p:nvSpPr>
        <p:spPr>
          <a:xfrm>
            <a:off x="685800" y="2624328"/>
            <a:ext cx="201168" cy="201168"/>
          </a:xfrm>
          <a:prstGeom prst="ellipse">
            <a:avLst/>
          </a:prstGeom>
          <a:solidFill>
            <a:srgbClr val="A1A1A6"/>
          </a:solidFill>
          <a:ln w="12700">
            <a:solidFill>
              <a:srgbClr val="A1A1A6"/>
            </a:solidFill>
            <a:prstDash val="solid"/>
          </a:ln>
        </p:spPr>
      </p:sp>
      <p:sp>
        <p:nvSpPr>
          <p:cNvPr id="5" name="Shape 3"/>
          <p:cNvSpPr/>
          <p:nvPr/>
        </p:nvSpPr>
        <p:spPr>
          <a:xfrm>
            <a:off x="786384" y="2898648"/>
            <a:ext cx="0" cy="868680"/>
          </a:xfrm>
          <a:prstGeom prst="line">
            <a:avLst/>
          </a:prstGeom>
          <a:noFill/>
          <a:ln w="12700">
            <a:solidFill>
              <a:schemeClr val="accent5"/>
            </a:solidFill>
            <a:prstDash val="solid"/>
          </a:ln>
        </p:spPr>
      </p:sp>
      <p:sp>
        <p:nvSpPr>
          <p:cNvPr id="6" name="Text 4"/>
          <p:cNvSpPr txBox="1"/>
          <p:nvPr/>
        </p:nvSpPr>
        <p:spPr>
          <a:xfrm>
            <a:off x="1143000" y="2514600"/>
            <a:ext cx="3931920" cy="411480"/>
          </a:xfrm>
          <a:prstGeom prst="rect">
            <a:avLst/>
          </a:prstGeom>
          <a:noFill/>
          <a:ln/>
        </p:spPr>
        <p:txBody>
          <a:bodyPr wrap="square" lIns="0" tIns="0" rIns="0" bIns="0" rtlCol="0" anchor="t"/>
          <a:lstStyle/>
          <a:p>
            <a:pPr indent="0" marL="0">
              <a:buNone/>
            </a:pPr>
            <a:r>
              <a:rPr lang="en-US" sz="2100" b="1" dirty="0">
                <a:solidFill>
                  <a:schemeClr val="bg1"/>
                </a:solidFill>
              </a:rPr>
              <a:t>Pocket og Read.ai</a:t>
            </a:r>
            <a:endParaRPr lang="en-US" sz="2100" dirty="0"/>
          </a:p>
        </p:txBody>
      </p:sp>
      <p:sp>
        <p:nvSpPr>
          <p:cNvPr id="7" name="Text 5"/>
          <p:cNvSpPr txBox="1"/>
          <p:nvPr/>
        </p:nvSpPr>
        <p:spPr>
          <a:xfrm>
            <a:off x="1143000" y="2926080"/>
            <a:ext cx="3931920" cy="365760"/>
          </a:xfrm>
          <a:prstGeom prst="rect">
            <a:avLst/>
          </a:prstGeom>
          <a:noFill/>
          <a:ln/>
        </p:spPr>
        <p:txBody>
          <a:bodyPr wrap="square" lIns="0" tIns="0" rIns="0" bIns="0" rtlCol="0" anchor="t"/>
          <a:lstStyle/>
          <a:p>
            <a:pPr indent="0" marL="0">
              <a:buNone/>
            </a:pPr>
            <a:r>
              <a:rPr lang="en-US" sz="1500" dirty="0">
                <a:solidFill>
                  <a:schemeClr val="accent3"/>
                </a:solidFill>
              </a:rPr>
              <a:t>optager fysiske og online møder</a:t>
            </a:r>
            <a:endParaRPr lang="en-US" sz="1500" dirty="0"/>
          </a:p>
        </p:txBody>
      </p:sp>
      <p:sp>
        <p:nvSpPr>
          <p:cNvPr id="8" name="Shape 6"/>
          <p:cNvSpPr/>
          <p:nvPr/>
        </p:nvSpPr>
        <p:spPr>
          <a:xfrm>
            <a:off x="685800" y="3767328"/>
            <a:ext cx="201168" cy="201168"/>
          </a:xfrm>
          <a:prstGeom prst="ellipse">
            <a:avLst/>
          </a:prstGeom>
          <a:solidFill>
            <a:srgbClr val="EE4B1A"/>
          </a:solidFill>
          <a:ln w="12700">
            <a:solidFill>
              <a:srgbClr val="EE4B1A"/>
            </a:solidFill>
            <a:prstDash val="solid"/>
          </a:ln>
        </p:spPr>
      </p:sp>
      <p:sp>
        <p:nvSpPr>
          <p:cNvPr id="9" name="Shape 7"/>
          <p:cNvSpPr/>
          <p:nvPr/>
        </p:nvSpPr>
        <p:spPr>
          <a:xfrm>
            <a:off x="786384" y="4041648"/>
            <a:ext cx="0" cy="868680"/>
          </a:xfrm>
          <a:prstGeom prst="line">
            <a:avLst/>
          </a:prstGeom>
          <a:noFill/>
          <a:ln w="12700">
            <a:solidFill>
              <a:schemeClr val="accent5"/>
            </a:solidFill>
            <a:prstDash val="solid"/>
          </a:ln>
        </p:spPr>
      </p:sp>
      <p:sp>
        <p:nvSpPr>
          <p:cNvPr id="10" name="Text 8"/>
          <p:cNvSpPr txBox="1"/>
          <p:nvPr/>
        </p:nvSpPr>
        <p:spPr>
          <a:xfrm>
            <a:off x="1143000" y="3657600"/>
            <a:ext cx="3931920" cy="411480"/>
          </a:xfrm>
          <a:prstGeom prst="rect">
            <a:avLst/>
          </a:prstGeom>
          <a:noFill/>
          <a:ln/>
        </p:spPr>
        <p:txBody>
          <a:bodyPr wrap="square" lIns="0" tIns="0" rIns="0" bIns="0" rtlCol="0" anchor="t"/>
          <a:lstStyle/>
          <a:p>
            <a:pPr indent="0" marL="0">
              <a:buNone/>
            </a:pPr>
            <a:r>
              <a:rPr lang="en-US" sz="2100" b="1" dirty="0">
                <a:solidFill>
                  <a:schemeClr val="bg1"/>
                </a:solidFill>
              </a:rPr>
              <a:t>AI</a:t>
            </a:r>
            <a:endParaRPr lang="en-US" sz="2100" dirty="0"/>
          </a:p>
        </p:txBody>
      </p:sp>
      <p:sp>
        <p:nvSpPr>
          <p:cNvPr id="11" name="Text 9"/>
          <p:cNvSpPr txBox="1"/>
          <p:nvPr/>
        </p:nvSpPr>
        <p:spPr>
          <a:xfrm>
            <a:off x="1143000" y="4069080"/>
            <a:ext cx="3931920" cy="365760"/>
          </a:xfrm>
          <a:prstGeom prst="rect">
            <a:avLst/>
          </a:prstGeom>
          <a:noFill/>
          <a:ln/>
        </p:spPr>
        <p:txBody>
          <a:bodyPr wrap="square" lIns="0" tIns="0" rIns="0" bIns="0" rtlCol="0" anchor="t"/>
          <a:lstStyle/>
          <a:p>
            <a:pPr indent="0" marL="0">
              <a:buNone/>
            </a:pPr>
            <a:r>
              <a:rPr lang="en-US" sz="1500" dirty="0">
                <a:solidFill>
                  <a:schemeClr val="accent3"/>
                </a:solidFill>
              </a:rPr>
              <a:t>skriver referat, beslutninger og opgaver</a:t>
            </a:r>
            <a:endParaRPr lang="en-US" sz="1500" dirty="0"/>
          </a:p>
        </p:txBody>
      </p:sp>
      <p:sp>
        <p:nvSpPr>
          <p:cNvPr id="12" name="Shape 10"/>
          <p:cNvSpPr/>
          <p:nvPr/>
        </p:nvSpPr>
        <p:spPr>
          <a:xfrm>
            <a:off x="685800" y="4910328"/>
            <a:ext cx="201168" cy="201168"/>
          </a:xfrm>
          <a:prstGeom prst="ellipse">
            <a:avLst/>
          </a:prstGeom>
          <a:solidFill>
            <a:srgbClr val="A1A1A6"/>
          </a:solidFill>
          <a:ln w="12700">
            <a:solidFill>
              <a:srgbClr val="A1A1A6"/>
            </a:solidFill>
            <a:prstDash val="solid"/>
          </a:ln>
        </p:spPr>
      </p:sp>
      <p:sp>
        <p:nvSpPr>
          <p:cNvPr id="13" name="Text 11"/>
          <p:cNvSpPr txBox="1"/>
          <p:nvPr/>
        </p:nvSpPr>
        <p:spPr>
          <a:xfrm>
            <a:off x="1143000" y="4800600"/>
            <a:ext cx="3931920" cy="411480"/>
          </a:xfrm>
          <a:prstGeom prst="rect">
            <a:avLst/>
          </a:prstGeom>
          <a:noFill/>
          <a:ln/>
        </p:spPr>
        <p:txBody>
          <a:bodyPr wrap="square" lIns="0" tIns="0" rIns="0" bIns="0" rtlCol="0" anchor="t"/>
          <a:lstStyle/>
          <a:p>
            <a:pPr indent="0" marL="0">
              <a:buNone/>
            </a:pPr>
            <a:r>
              <a:rPr lang="en-US" sz="2100" b="1" dirty="0">
                <a:solidFill>
                  <a:schemeClr val="bg1"/>
                </a:solidFill>
              </a:rPr>
              <a:t>HubSpot og Slack</a:t>
            </a:r>
            <a:endParaRPr lang="en-US" sz="2100" dirty="0"/>
          </a:p>
        </p:txBody>
      </p:sp>
      <p:sp>
        <p:nvSpPr>
          <p:cNvPr id="14" name="Text 12"/>
          <p:cNvSpPr txBox="1"/>
          <p:nvPr/>
        </p:nvSpPr>
        <p:spPr>
          <a:xfrm>
            <a:off x="1143000" y="5212080"/>
            <a:ext cx="3931920" cy="365760"/>
          </a:xfrm>
          <a:prstGeom prst="rect">
            <a:avLst/>
          </a:prstGeom>
          <a:noFill/>
          <a:ln/>
        </p:spPr>
        <p:txBody>
          <a:bodyPr wrap="square" lIns="0" tIns="0" rIns="0" bIns="0" rtlCol="0" anchor="t"/>
          <a:lstStyle/>
          <a:p>
            <a:pPr indent="0" marL="0">
              <a:buNone/>
            </a:pPr>
            <a:r>
              <a:rPr lang="en-US" sz="1500" dirty="0">
                <a:solidFill>
                  <a:schemeClr val="accent3"/>
                </a:solidFill>
              </a:rPr>
              <a:t>opgaver og besked til holdet</a:t>
            </a:r>
            <a:endParaRPr lang="en-US" sz="1500" dirty="0"/>
          </a:p>
        </p:txBody>
      </p:sp>
      <p:sp>
        <p:nvSpPr>
          <p:cNvPr id="15" name="Shape 13"/>
          <p:cNvSpPr/>
          <p:nvPr/>
        </p:nvSpPr>
        <p:spPr>
          <a:xfrm>
            <a:off x="5669280" y="2377440"/>
            <a:ext cx="5833872" cy="3611880"/>
          </a:xfrm>
          <a:prstGeom prst="roundRect">
            <a:avLst>
              <a:gd name="adj" fmla="val 3038"/>
            </a:avLst>
          </a:prstGeom>
          <a:solidFill>
            <a:srgbClr val="1C1C1E"/>
          </a:solidFill>
          <a:ln w="12700">
            <a:solidFill>
              <a:srgbClr val="1C1C1E"/>
            </a:solidFill>
            <a:prstDash val="solid"/>
          </a:ln>
        </p:spPr>
      </p:sp>
      <p:sp>
        <p:nvSpPr>
          <p:cNvPr id="16" name="Text 14"/>
          <p:cNvSpPr txBox="1"/>
          <p:nvPr/>
        </p:nvSpPr>
        <p:spPr>
          <a:xfrm>
            <a:off x="5989320" y="2606040"/>
            <a:ext cx="2743200" cy="320040"/>
          </a:xfrm>
          <a:prstGeom prst="rect">
            <a:avLst/>
          </a:prstGeom>
          <a:noFill/>
          <a:ln/>
        </p:spPr>
        <p:txBody>
          <a:bodyPr wrap="square" lIns="0" tIns="0" rIns="0" bIns="0" rtlCol="0" anchor="t"/>
          <a:lstStyle/>
          <a:p>
            <a:pPr indent="0" marL="0">
              <a:buNone/>
            </a:pPr>
            <a:r>
              <a:rPr lang="en-US" sz="1400" b="1" dirty="0">
                <a:solidFill>
                  <a:schemeClr val="accent3"/>
                </a:solidFill>
              </a:rPr>
              <a:t># hold-ai</a:t>
            </a:r>
            <a:endParaRPr lang="en-US" sz="1400" dirty="0"/>
          </a:p>
        </p:txBody>
      </p:sp>
      <p:sp>
        <p:nvSpPr>
          <p:cNvPr id="17" name="Shape 15"/>
          <p:cNvSpPr/>
          <p:nvPr/>
        </p:nvSpPr>
        <p:spPr>
          <a:xfrm>
            <a:off x="5669280" y="3063240"/>
            <a:ext cx="5833872" cy="0"/>
          </a:xfrm>
          <a:prstGeom prst="line">
            <a:avLst/>
          </a:prstGeom>
          <a:noFill/>
          <a:ln w="9525">
            <a:solidFill>
              <a:schemeClr val="accent5"/>
            </a:solidFill>
            <a:prstDash val="solid"/>
          </a:ln>
        </p:spPr>
      </p:sp>
      <p:sp>
        <p:nvSpPr>
          <p:cNvPr id="18" name="Shape 16"/>
          <p:cNvSpPr/>
          <p:nvPr/>
        </p:nvSpPr>
        <p:spPr>
          <a:xfrm>
            <a:off x="5989320" y="3291840"/>
            <a:ext cx="457200" cy="457200"/>
          </a:xfrm>
          <a:prstGeom prst="roundRect">
            <a:avLst>
              <a:gd name="adj" fmla="val 20000"/>
            </a:avLst>
          </a:prstGeom>
          <a:solidFill>
            <a:srgbClr val="EE4B1A"/>
          </a:solidFill>
          <a:ln w="12700">
            <a:solidFill>
              <a:srgbClr val="EE4B1A"/>
            </a:solidFill>
            <a:prstDash val="solid"/>
          </a:ln>
        </p:spPr>
      </p:sp>
      <p:sp>
        <p:nvSpPr>
          <p:cNvPr id="19" name="Text 17"/>
          <p:cNvSpPr txBox="1"/>
          <p:nvPr/>
        </p:nvSpPr>
        <p:spPr>
          <a:xfrm>
            <a:off x="5989320" y="32918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AI</a:t>
            </a:r>
            <a:endParaRPr lang="en-US" sz="1300" dirty="0"/>
          </a:p>
        </p:txBody>
      </p:sp>
      <p:sp>
        <p:nvSpPr>
          <p:cNvPr id="20" name="Text 18"/>
          <p:cNvSpPr txBox="1"/>
          <p:nvPr/>
        </p:nvSpPr>
        <p:spPr>
          <a:xfrm>
            <a:off x="6629400" y="3273552"/>
            <a:ext cx="3657600" cy="274320"/>
          </a:xfrm>
          <a:prstGeom prst="rect">
            <a:avLst/>
          </a:prstGeom>
          <a:noFill/>
          <a:ln/>
        </p:spPr>
        <p:txBody>
          <a:bodyPr wrap="square" lIns="0" tIns="0" rIns="0" bIns="0" rtlCol="0" anchor="t"/>
          <a:lstStyle/>
          <a:p>
            <a:pPr indent="0" marL="0">
              <a:buNone/>
            </a:pPr>
            <a:r>
              <a:rPr lang="en-US" sz="1400" b="1" dirty="0">
                <a:solidFill>
                  <a:schemeClr val="bg1"/>
                </a:solidFill>
              </a:rPr>
              <a:t>Referat fra Pocket</a:t>
            </a:r>
            <a:endParaRPr lang="en-US" sz="1400" dirty="0"/>
          </a:p>
        </p:txBody>
      </p:sp>
      <p:sp>
        <p:nvSpPr>
          <p:cNvPr id="21" name="Text 19"/>
          <p:cNvSpPr txBox="1"/>
          <p:nvPr/>
        </p:nvSpPr>
        <p:spPr>
          <a:xfrm>
            <a:off x="6629400" y="3566160"/>
            <a:ext cx="4114800" cy="274320"/>
          </a:xfrm>
          <a:prstGeom prst="rect">
            <a:avLst/>
          </a:prstGeom>
          <a:noFill/>
          <a:ln/>
        </p:spPr>
        <p:txBody>
          <a:bodyPr wrap="square" lIns="0" tIns="0" rIns="0" bIns="0" rtlCol="0" anchor="t"/>
          <a:lstStyle/>
          <a:p>
            <a:pPr indent="0" marL="0">
              <a:buNone/>
            </a:pPr>
            <a:r>
              <a:rPr lang="en-US" sz="1400" dirty="0">
                <a:solidFill>
                  <a:schemeClr val="accent3"/>
                </a:solidFill>
              </a:rPr>
              <a:t>Tre pointer fra i dag</a:t>
            </a:r>
            <a:endParaRPr lang="en-US" sz="1400" dirty="0"/>
          </a:p>
        </p:txBody>
      </p:sp>
      <p:sp>
        <p:nvSpPr>
          <p:cNvPr id="22" name="Text 20"/>
          <p:cNvSpPr txBox="1"/>
          <p:nvPr/>
        </p:nvSpPr>
        <p:spPr>
          <a:xfrm>
            <a:off x="6629400" y="4069080"/>
            <a:ext cx="4663440" cy="365760"/>
          </a:xfrm>
          <a:prstGeom prst="rect">
            <a:avLst/>
          </a:prstGeom>
          <a:noFill/>
          <a:ln/>
        </p:spPr>
        <p:txBody>
          <a:bodyPr wrap="square" lIns="0" tIns="0" rIns="0" bIns="0" rtlCol="0" anchor="t"/>
          <a:lstStyle/>
          <a:p>
            <a:pPr indent="0" marL="0">
              <a:buNone/>
            </a:pPr>
            <a:r>
              <a:rPr lang="en-US" sz="1500" dirty="0">
                <a:solidFill>
                  <a:schemeClr val="bg1"/>
                </a:solidFill>
              </a:rPr>
              <a:t>1   Som studerende tænker AI med dig</a:t>
            </a:r>
            <a:endParaRPr lang="en-US" sz="1500" dirty="0"/>
          </a:p>
        </p:txBody>
      </p:sp>
      <p:sp>
        <p:nvSpPr>
          <p:cNvPr id="23" name="Text 21"/>
          <p:cNvSpPr txBox="1"/>
          <p:nvPr/>
        </p:nvSpPr>
        <p:spPr>
          <a:xfrm>
            <a:off x="6629400" y="4526280"/>
            <a:ext cx="4663440" cy="365760"/>
          </a:xfrm>
          <a:prstGeom prst="rect">
            <a:avLst/>
          </a:prstGeom>
          <a:noFill/>
          <a:ln/>
        </p:spPr>
        <p:txBody>
          <a:bodyPr wrap="square" lIns="0" tIns="0" rIns="0" bIns="0" rtlCol="0" anchor="t"/>
          <a:lstStyle/>
          <a:p>
            <a:pPr indent="0" marL="0">
              <a:buNone/>
            </a:pPr>
            <a:r>
              <a:rPr lang="en-US" sz="1500" dirty="0">
                <a:solidFill>
                  <a:schemeClr val="bg1"/>
                </a:solidFill>
              </a:rPr>
              <a:t>2   I jobbet arbejder AI for dig</a:t>
            </a:r>
            <a:endParaRPr lang="en-US" sz="1500" dirty="0"/>
          </a:p>
        </p:txBody>
      </p:sp>
      <p:sp>
        <p:nvSpPr>
          <p:cNvPr id="24" name="Text 22"/>
          <p:cNvSpPr txBox="1"/>
          <p:nvPr/>
        </p:nvSpPr>
        <p:spPr>
          <a:xfrm>
            <a:off x="6629400" y="4983480"/>
            <a:ext cx="4663440" cy="365760"/>
          </a:xfrm>
          <a:prstGeom prst="rect">
            <a:avLst/>
          </a:prstGeom>
          <a:noFill/>
          <a:ln/>
        </p:spPr>
        <p:txBody>
          <a:bodyPr wrap="square" lIns="0" tIns="0" rIns="0" bIns="0" rtlCol="0" anchor="t"/>
          <a:lstStyle/>
          <a:p>
            <a:pPr indent="0" marL="0">
              <a:buNone/>
            </a:pPr>
            <a:r>
              <a:rPr lang="en-US" sz="1500" dirty="0">
                <a:solidFill>
                  <a:schemeClr val="bg1"/>
                </a:solidFill>
              </a:rPr>
              <a:t>3   Skriv dine prompts med KRAFT</a:t>
            </a:r>
            <a:endParaRPr lang="en-US" sz="1500" dirty="0"/>
          </a:p>
        </p:txBody>
      </p:sp>
      <p:sp>
        <p:nvSpPr>
          <p:cNvPr id="25" name="Text 23"/>
          <p:cNvSpPr txBox="1"/>
          <p:nvPr/>
        </p:nvSpPr>
        <p:spPr>
          <a:xfrm>
            <a:off x="6629400" y="5486400"/>
            <a:ext cx="4754880" cy="320040"/>
          </a:xfrm>
          <a:prstGeom prst="rect">
            <a:avLst/>
          </a:prstGeom>
          <a:noFill/>
          <a:ln/>
        </p:spPr>
        <p:txBody>
          <a:bodyPr wrap="square" lIns="0" tIns="0" rIns="0" bIns="0" rtlCol="0" anchor="t"/>
          <a:lstStyle/>
          <a:p>
            <a:pPr indent="0" marL="0">
              <a:buNone/>
            </a:pPr>
            <a:r>
              <a:rPr lang="en-US" sz="1200" dirty="0">
                <a:solidFill>
                  <a:schemeClr val="accent3"/>
                </a:solidFill>
              </a:rPr>
              <a:t>Opgave  ·  Kør promptkortet på jeres datasæt</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DEMO  ·  CLAUDE DESIGN</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Ét design system. </a:t>
            </a:r>
            <a:pPr algn="l" indent="0" marL="0">
              <a:lnSpc>
                <a:spcPct val="93000"/>
              </a:lnSpc>
              <a:buNone/>
            </a:pPr>
            <a:r>
              <a:rPr lang="en-US" sz="3400" b="1" dirty="0">
                <a:solidFill>
                  <a:schemeClr val="accent1"/>
                </a:solidFill>
              </a:rPr>
              <a:t>Alt materiale</a:t>
            </a:r>
            <a:pPr algn="l" indent="0" marL="0">
              <a:lnSpc>
                <a:spcPct val="93000"/>
              </a:lnSpc>
              <a:buNone/>
            </a:pPr>
            <a:r>
              <a:rPr lang="en-US" sz="3400" b="1" dirty="0">
                <a:solidFill>
                  <a:schemeClr val="tx1"/>
                </a:solidFill>
              </a:rPr>
              <a:t> i samme stil</a:t>
            </a:r>
            <a:endParaRPr lang="en-US" sz="3400" dirty="0"/>
          </a:p>
        </p:txBody>
      </p:sp>
      <p:sp>
        <p:nvSpPr>
          <p:cNvPr id="4" name="Shape 2"/>
          <p:cNvSpPr/>
          <p:nvPr/>
        </p:nvSpPr>
        <p:spPr>
          <a:xfrm>
            <a:off x="685800" y="2606040"/>
            <a:ext cx="1097280" cy="1097280"/>
          </a:xfrm>
          <a:prstGeom prst="ellipse">
            <a:avLst/>
          </a:prstGeom>
          <a:solidFill>
            <a:srgbClr val="181818"/>
          </a:solidFill>
          <a:ln w="12700">
            <a:solidFill>
              <a:srgbClr val="181818"/>
            </a:solidFill>
            <a:prstDash val="solid"/>
          </a:ln>
        </p:spPr>
      </p:sp>
      <p:sp>
        <p:nvSpPr>
          <p:cNvPr id="5" name="Text 3"/>
          <p:cNvSpPr txBox="1"/>
          <p:nvPr/>
        </p:nvSpPr>
        <p:spPr>
          <a:xfrm>
            <a:off x="685800" y="3840480"/>
            <a:ext cx="1280160" cy="274320"/>
          </a:xfrm>
          <a:prstGeom prst="rect">
            <a:avLst/>
          </a:prstGeom>
          <a:noFill/>
          <a:ln/>
        </p:spPr>
        <p:txBody>
          <a:bodyPr wrap="square" lIns="0" tIns="0" rIns="0" bIns="0" rtlCol="0" anchor="t"/>
          <a:lstStyle/>
          <a:p>
            <a:pPr indent="0" marL="0">
              <a:buNone/>
            </a:pPr>
            <a:r>
              <a:rPr lang="en-US" sz="1400" b="1" dirty="0">
                <a:solidFill>
                  <a:schemeClr val="tx1"/>
                </a:solidFill>
              </a:rPr>
              <a:t>Sort</a:t>
            </a:r>
            <a:endParaRPr lang="en-US" sz="1400" dirty="0"/>
          </a:p>
        </p:txBody>
      </p:sp>
      <p:sp>
        <p:nvSpPr>
          <p:cNvPr id="6" name="Text 4"/>
          <p:cNvSpPr txBox="1"/>
          <p:nvPr/>
        </p:nvSpPr>
        <p:spPr>
          <a:xfrm>
            <a:off x="685800" y="4114800"/>
            <a:ext cx="1280160" cy="274320"/>
          </a:xfrm>
          <a:prstGeom prst="rect">
            <a:avLst/>
          </a:prstGeom>
          <a:noFill/>
          <a:ln/>
        </p:spPr>
        <p:txBody>
          <a:bodyPr wrap="square" lIns="0" tIns="0" rIns="0" bIns="0" rtlCol="0" anchor="t"/>
          <a:lstStyle/>
          <a:p>
            <a:pPr indent="0" marL="0">
              <a:buNone/>
            </a:pPr>
            <a:r>
              <a:rPr lang="en-US" sz="1200" dirty="0">
                <a:solidFill>
                  <a:schemeClr val="accent2"/>
                </a:solidFill>
              </a:rPr>
              <a:t>#181818</a:t>
            </a:r>
            <a:endParaRPr lang="en-US" sz="1200" dirty="0"/>
          </a:p>
        </p:txBody>
      </p:sp>
      <p:sp>
        <p:nvSpPr>
          <p:cNvPr id="7" name="Shape 5"/>
          <p:cNvSpPr/>
          <p:nvPr/>
        </p:nvSpPr>
        <p:spPr>
          <a:xfrm>
            <a:off x="2103120" y="2606040"/>
            <a:ext cx="1097280" cy="1097280"/>
          </a:xfrm>
          <a:prstGeom prst="ellipse">
            <a:avLst/>
          </a:prstGeom>
          <a:solidFill>
            <a:srgbClr val="FF442B"/>
          </a:solidFill>
          <a:ln w="12700">
            <a:solidFill>
              <a:srgbClr val="FF442B"/>
            </a:solidFill>
            <a:prstDash val="solid"/>
          </a:ln>
        </p:spPr>
      </p:sp>
      <p:sp>
        <p:nvSpPr>
          <p:cNvPr id="8" name="Text 6"/>
          <p:cNvSpPr txBox="1"/>
          <p:nvPr/>
        </p:nvSpPr>
        <p:spPr>
          <a:xfrm>
            <a:off x="2103120" y="3840480"/>
            <a:ext cx="1280160" cy="274320"/>
          </a:xfrm>
          <a:prstGeom prst="rect">
            <a:avLst/>
          </a:prstGeom>
          <a:noFill/>
          <a:ln/>
        </p:spPr>
        <p:txBody>
          <a:bodyPr wrap="square" lIns="0" tIns="0" rIns="0" bIns="0" rtlCol="0" anchor="t"/>
          <a:lstStyle/>
          <a:p>
            <a:pPr indent="0" marL="0">
              <a:buNone/>
            </a:pPr>
            <a:r>
              <a:rPr lang="en-US" sz="1400" b="1" dirty="0">
                <a:solidFill>
                  <a:schemeClr val="tx1"/>
                </a:solidFill>
              </a:rPr>
              <a:t>Signal</a:t>
            </a:r>
            <a:endParaRPr lang="en-US" sz="1400" dirty="0"/>
          </a:p>
        </p:txBody>
      </p:sp>
      <p:sp>
        <p:nvSpPr>
          <p:cNvPr id="9" name="Text 7"/>
          <p:cNvSpPr txBox="1"/>
          <p:nvPr/>
        </p:nvSpPr>
        <p:spPr>
          <a:xfrm>
            <a:off x="2103120" y="4114800"/>
            <a:ext cx="1280160" cy="274320"/>
          </a:xfrm>
          <a:prstGeom prst="rect">
            <a:avLst/>
          </a:prstGeom>
          <a:noFill/>
          <a:ln/>
        </p:spPr>
        <p:txBody>
          <a:bodyPr wrap="square" lIns="0" tIns="0" rIns="0" bIns="0" rtlCol="0" anchor="t"/>
          <a:lstStyle/>
          <a:p>
            <a:pPr indent="0" marL="0">
              <a:buNone/>
            </a:pPr>
            <a:r>
              <a:rPr lang="en-US" sz="1200" dirty="0">
                <a:solidFill>
                  <a:schemeClr val="accent2"/>
                </a:solidFill>
              </a:rPr>
              <a:t>#FF442B</a:t>
            </a:r>
            <a:endParaRPr lang="en-US" sz="1200" dirty="0"/>
          </a:p>
        </p:txBody>
      </p:sp>
      <p:sp>
        <p:nvSpPr>
          <p:cNvPr id="10" name="Shape 8"/>
          <p:cNvSpPr/>
          <p:nvPr/>
        </p:nvSpPr>
        <p:spPr>
          <a:xfrm>
            <a:off x="3520440" y="2606040"/>
            <a:ext cx="1097280" cy="1097280"/>
          </a:xfrm>
          <a:prstGeom prst="ellipse">
            <a:avLst/>
          </a:prstGeom>
          <a:solidFill>
            <a:srgbClr val="3355FF"/>
          </a:solidFill>
          <a:ln w="12700">
            <a:solidFill>
              <a:srgbClr val="3355FF"/>
            </a:solidFill>
            <a:prstDash val="solid"/>
          </a:ln>
        </p:spPr>
      </p:sp>
      <p:sp>
        <p:nvSpPr>
          <p:cNvPr id="11" name="Text 9"/>
          <p:cNvSpPr txBox="1"/>
          <p:nvPr/>
        </p:nvSpPr>
        <p:spPr>
          <a:xfrm>
            <a:off x="3520440" y="3840480"/>
            <a:ext cx="1280160" cy="274320"/>
          </a:xfrm>
          <a:prstGeom prst="rect">
            <a:avLst/>
          </a:prstGeom>
          <a:noFill/>
          <a:ln/>
        </p:spPr>
        <p:txBody>
          <a:bodyPr wrap="square" lIns="0" tIns="0" rIns="0" bIns="0" rtlCol="0" anchor="t"/>
          <a:lstStyle/>
          <a:p>
            <a:pPr indent="0" marL="0">
              <a:buNone/>
            </a:pPr>
            <a:r>
              <a:rPr lang="en-US" sz="1400" b="1" dirty="0">
                <a:solidFill>
                  <a:schemeClr val="tx1"/>
                </a:solidFill>
              </a:rPr>
              <a:t>Blå</a:t>
            </a:r>
            <a:endParaRPr lang="en-US" sz="1400" dirty="0"/>
          </a:p>
        </p:txBody>
      </p:sp>
      <p:sp>
        <p:nvSpPr>
          <p:cNvPr id="12" name="Text 10"/>
          <p:cNvSpPr txBox="1"/>
          <p:nvPr/>
        </p:nvSpPr>
        <p:spPr>
          <a:xfrm>
            <a:off x="3520440" y="4114800"/>
            <a:ext cx="1280160" cy="274320"/>
          </a:xfrm>
          <a:prstGeom prst="rect">
            <a:avLst/>
          </a:prstGeom>
          <a:noFill/>
          <a:ln/>
        </p:spPr>
        <p:txBody>
          <a:bodyPr wrap="square" lIns="0" tIns="0" rIns="0" bIns="0" rtlCol="0" anchor="t"/>
          <a:lstStyle/>
          <a:p>
            <a:pPr indent="0" marL="0">
              <a:buNone/>
            </a:pPr>
            <a:r>
              <a:rPr lang="en-US" sz="1200" dirty="0">
                <a:solidFill>
                  <a:schemeClr val="accent2"/>
                </a:solidFill>
              </a:rPr>
              <a:t>#3355FF</a:t>
            </a:r>
            <a:endParaRPr lang="en-US" sz="1200" dirty="0"/>
          </a:p>
        </p:txBody>
      </p:sp>
      <p:sp>
        <p:nvSpPr>
          <p:cNvPr id="13" name="Shape 11"/>
          <p:cNvSpPr/>
          <p:nvPr/>
        </p:nvSpPr>
        <p:spPr>
          <a:xfrm>
            <a:off x="4937760" y="2606040"/>
            <a:ext cx="1097280" cy="1097280"/>
          </a:xfrm>
          <a:prstGeom prst="ellipse">
            <a:avLst/>
          </a:prstGeom>
          <a:solidFill>
            <a:srgbClr val="F7F8F9"/>
          </a:solidFill>
          <a:ln w="12700">
            <a:solidFill>
              <a:srgbClr val="D2D2D7"/>
            </a:solidFill>
            <a:prstDash val="solid"/>
          </a:ln>
        </p:spPr>
      </p:sp>
      <p:sp>
        <p:nvSpPr>
          <p:cNvPr id="14" name="Text 12"/>
          <p:cNvSpPr txBox="1"/>
          <p:nvPr/>
        </p:nvSpPr>
        <p:spPr>
          <a:xfrm>
            <a:off x="4937760" y="3840480"/>
            <a:ext cx="1280160" cy="274320"/>
          </a:xfrm>
          <a:prstGeom prst="rect">
            <a:avLst/>
          </a:prstGeom>
          <a:noFill/>
          <a:ln/>
        </p:spPr>
        <p:txBody>
          <a:bodyPr wrap="square" lIns="0" tIns="0" rIns="0" bIns="0" rtlCol="0" anchor="t"/>
          <a:lstStyle/>
          <a:p>
            <a:pPr indent="0" marL="0">
              <a:buNone/>
            </a:pPr>
            <a:r>
              <a:rPr lang="en-US" sz="1400" b="1" dirty="0">
                <a:solidFill>
                  <a:schemeClr val="tx1"/>
                </a:solidFill>
              </a:rPr>
              <a:t>Lys</a:t>
            </a:r>
            <a:endParaRPr lang="en-US" sz="1400" dirty="0"/>
          </a:p>
        </p:txBody>
      </p:sp>
      <p:sp>
        <p:nvSpPr>
          <p:cNvPr id="15" name="Text 13"/>
          <p:cNvSpPr txBox="1"/>
          <p:nvPr/>
        </p:nvSpPr>
        <p:spPr>
          <a:xfrm>
            <a:off x="4937760" y="4114800"/>
            <a:ext cx="1280160" cy="274320"/>
          </a:xfrm>
          <a:prstGeom prst="rect">
            <a:avLst/>
          </a:prstGeom>
          <a:noFill/>
          <a:ln/>
        </p:spPr>
        <p:txBody>
          <a:bodyPr wrap="square" lIns="0" tIns="0" rIns="0" bIns="0" rtlCol="0" anchor="t"/>
          <a:lstStyle/>
          <a:p>
            <a:pPr indent="0" marL="0">
              <a:buNone/>
            </a:pPr>
            <a:r>
              <a:rPr lang="en-US" sz="1200" dirty="0">
                <a:solidFill>
                  <a:schemeClr val="accent2"/>
                </a:solidFill>
              </a:rPr>
              <a:t>#F7F8F9</a:t>
            </a:r>
            <a:endParaRPr lang="en-US" sz="1200" dirty="0"/>
          </a:p>
        </p:txBody>
      </p:sp>
      <p:sp>
        <p:nvSpPr>
          <p:cNvPr id="16" name="Shape 14"/>
          <p:cNvSpPr/>
          <p:nvPr/>
        </p:nvSpPr>
        <p:spPr>
          <a:xfrm>
            <a:off x="6629400" y="2377440"/>
            <a:ext cx="4873752" cy="3291840"/>
          </a:xfrm>
          <a:prstGeom prst="roundRect">
            <a:avLst>
              <a:gd name="adj" fmla="val 3889"/>
            </a:avLst>
          </a:prstGeom>
          <a:solidFill>
            <a:srgbClr val="181818"/>
          </a:solidFill>
          <a:ln w="12700">
            <a:solidFill>
              <a:srgbClr val="181818"/>
            </a:solidFill>
            <a:prstDash val="solid"/>
          </a:ln>
        </p:spPr>
      </p:sp>
      <p:sp>
        <p:nvSpPr>
          <p:cNvPr id="17" name="Text 15"/>
          <p:cNvSpPr txBox="1"/>
          <p:nvPr/>
        </p:nvSpPr>
        <p:spPr>
          <a:xfrm>
            <a:off x="7040880" y="2697480"/>
            <a:ext cx="3657600" cy="274320"/>
          </a:xfrm>
          <a:prstGeom prst="rect">
            <a:avLst/>
          </a:prstGeom>
          <a:noFill/>
          <a:ln/>
        </p:spPr>
        <p:txBody>
          <a:bodyPr wrap="square" lIns="0" tIns="0" rIns="0" bIns="0" rtlCol="0" anchor="t"/>
          <a:lstStyle/>
          <a:p>
            <a:pPr indent="0" marL="0">
              <a:buNone/>
            </a:pPr>
            <a:r>
              <a:rPr lang="en-US" sz="1200" b="1" spc="300" kern="0" dirty="0">
                <a:solidFill>
                  <a:srgbClr val="FFFFFF"/>
                </a:solidFill>
              </a:rPr>
              <a:t>THIRDBASE</a:t>
            </a:r>
            <a:endParaRPr lang="en-US" sz="1200" dirty="0"/>
          </a:p>
        </p:txBody>
      </p:sp>
      <p:sp>
        <p:nvSpPr>
          <p:cNvPr id="18" name="Text 16"/>
          <p:cNvSpPr txBox="1"/>
          <p:nvPr/>
        </p:nvSpPr>
        <p:spPr>
          <a:xfrm>
            <a:off x="7040880" y="3291840"/>
            <a:ext cx="4114800" cy="1371600"/>
          </a:xfrm>
          <a:prstGeom prst="rect">
            <a:avLst/>
          </a:prstGeom>
          <a:noFill/>
          <a:ln/>
        </p:spPr>
        <p:txBody>
          <a:bodyPr wrap="square" lIns="0" tIns="0" rIns="0" bIns="0" rtlCol="0" anchor="t"/>
          <a:lstStyle/>
          <a:p>
            <a:pPr indent="0" marL="0">
              <a:buNone/>
            </a:pPr>
            <a:r>
              <a:rPr lang="en-US" sz="3600" b="1" dirty="0">
                <a:solidFill>
                  <a:srgbClr val="FFFFFF"/>
                </a:solidFill>
              </a:rPr>
              <a:t>Fra synlighed </a:t>
            </a:r>
            <a:pPr indent="0" marL="0">
              <a:buNone/>
            </a:pPr>
            <a:r>
              <a:rPr lang="en-US" sz="3600" b="1" dirty="0">
                <a:solidFill>
                  <a:srgbClr val="FF442B"/>
                </a:solidFill>
              </a:rPr>
              <a:t>til salg</a:t>
            </a:r>
            <a:endParaRPr lang="en-US" sz="3600" dirty="0"/>
          </a:p>
        </p:txBody>
      </p:sp>
      <p:sp>
        <p:nvSpPr>
          <p:cNvPr id="19" name="Shape 17"/>
          <p:cNvSpPr/>
          <p:nvPr/>
        </p:nvSpPr>
        <p:spPr>
          <a:xfrm>
            <a:off x="7040880" y="4846320"/>
            <a:ext cx="1737360" cy="457200"/>
          </a:xfrm>
          <a:prstGeom prst="roundRect">
            <a:avLst>
              <a:gd name="adj" fmla="val 50000"/>
            </a:avLst>
          </a:prstGeom>
          <a:solidFill>
            <a:srgbClr val="3355FF"/>
          </a:solidFill>
          <a:ln w="12700">
            <a:solidFill>
              <a:srgbClr val="3355FF"/>
            </a:solidFill>
            <a:prstDash val="solid"/>
          </a:ln>
        </p:spPr>
      </p:sp>
      <p:sp>
        <p:nvSpPr>
          <p:cNvPr id="20" name="Text 18"/>
          <p:cNvSpPr txBox="1"/>
          <p:nvPr/>
        </p:nvSpPr>
        <p:spPr>
          <a:xfrm>
            <a:off x="7040880" y="4846320"/>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rPr>
              <a:t>Book et møde</a:t>
            </a:r>
            <a:endParaRPr lang="en-US" sz="1300" dirty="0"/>
          </a:p>
        </p:txBody>
      </p:sp>
      <p:sp>
        <p:nvSpPr>
          <p:cNvPr id="21" name="Text 19"/>
          <p:cNvSpPr txBox="1"/>
          <p:nvPr/>
        </p:nvSpPr>
        <p:spPr>
          <a:xfrm>
            <a:off x="685800" y="4800600"/>
            <a:ext cx="5303520" cy="822960"/>
          </a:xfrm>
          <a:prstGeom prst="rect">
            <a:avLst/>
          </a:prstGeom>
          <a:noFill/>
          <a:ln/>
        </p:spPr>
        <p:txBody>
          <a:bodyPr wrap="square" lIns="0" tIns="0" rIns="0" bIns="0" rtlCol="0" anchor="t"/>
          <a:lstStyle/>
          <a:p>
            <a:pPr indent="0" marL="0">
              <a:buNone/>
            </a:pPr>
            <a:r>
              <a:rPr lang="en-US" sz="1700" dirty="0">
                <a:solidFill>
                  <a:schemeClr val="accent2"/>
                </a:solidFill>
              </a:rPr>
              <a:t>Farver, typografi, komponenter og tone er defineret én gang.</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AFSLØRING</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5800" b="1" dirty="0">
                <a:solidFill>
                  <a:schemeClr val="bg1"/>
                </a:solidFill>
              </a:rPr>
              <a:t>Jeg har haft mine stikord </a:t>
            </a:r>
            <a:pPr indent="0" marL="0">
              <a:lnSpc>
                <a:spcPct val="95000"/>
              </a:lnSpc>
              <a:buNone/>
            </a:pPr>
            <a:r>
              <a:rPr lang="en-US" sz="5800" b="1" dirty="0">
                <a:solidFill>
                  <a:schemeClr val="accent1"/>
                </a:solidFill>
              </a:rPr>
              <a:t>i brillerne</a:t>
            </a:r>
            <a:pPr indent="0" marL="0">
              <a:lnSpc>
                <a:spcPct val="95000"/>
              </a:lnSpc>
              <a:buNone/>
            </a:pPr>
            <a:r>
              <a:rPr lang="en-US" sz="5800" b="1" dirty="0">
                <a:solidFill>
                  <a:schemeClr val="bg1"/>
                </a:solidFill>
              </a:rPr>
              <a:t> hele timen.</a:t>
            </a:r>
            <a:endParaRPr lang="en-US" sz="5800" dirty="0"/>
          </a:p>
        </p:txBody>
      </p:sp>
      <p:sp>
        <p:nvSpPr>
          <p:cNvPr id="4" name="Text 2"/>
          <p:cNvSpPr txBox="1"/>
          <p:nvPr/>
        </p:nvSpPr>
        <p:spPr>
          <a:xfrm>
            <a:off x="685800" y="4983480"/>
            <a:ext cx="9601200" cy="822960"/>
          </a:xfrm>
          <a:prstGeom prst="rect">
            <a:avLst/>
          </a:prstGeom>
          <a:noFill/>
          <a:ln/>
        </p:spPr>
        <p:txBody>
          <a:bodyPr wrap="square" lIns="0" tIns="0" rIns="0" bIns="0" rtlCol="0" anchor="t"/>
          <a:lstStyle/>
          <a:p>
            <a:pPr indent="0" marL="0">
              <a:buNone/>
            </a:pPr>
            <a:r>
              <a:rPr lang="en-US" sz="2200" dirty="0">
                <a:solidFill>
                  <a:schemeClr val="accent3"/>
                </a:solidFill>
              </a:rPr>
              <a:t>Even Realities. Tekst og AI-svar direkte i synsfeltet.</a:t>
            </a:r>
            <a:endParaRPr lang="en-US" sz="2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AI UDEN SKÆRM</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AI uden skærm sidder med i </a:t>
            </a:r>
            <a:pPr algn="l" indent="0" marL="0">
              <a:lnSpc>
                <a:spcPct val="93000"/>
              </a:lnSpc>
              <a:buNone/>
            </a:pPr>
            <a:r>
              <a:rPr lang="en-US" sz="3400" b="1" dirty="0">
                <a:solidFill>
                  <a:schemeClr val="accent1"/>
                </a:solidFill>
              </a:rPr>
              <a:t>salgsmødet</a:t>
            </a:r>
            <a:endParaRPr lang="en-US" sz="3400" dirty="0"/>
          </a:p>
        </p:txBody>
      </p:sp>
      <p:sp>
        <p:nvSpPr>
          <p:cNvPr id="4" name="Shape 2"/>
          <p:cNvSpPr/>
          <p:nvPr/>
        </p:nvSpPr>
        <p:spPr>
          <a:xfrm>
            <a:off x="685800" y="2560320"/>
            <a:ext cx="5120640" cy="0"/>
          </a:xfrm>
          <a:prstGeom prst="line">
            <a:avLst/>
          </a:prstGeom>
          <a:noFill/>
          <a:ln w="12700">
            <a:solidFill>
              <a:schemeClr val="accent5"/>
            </a:solidFill>
            <a:prstDash val="solid"/>
          </a:ln>
        </p:spPr>
      </p:sp>
      <p:sp>
        <p:nvSpPr>
          <p:cNvPr id="5" name="Text 3"/>
          <p:cNvSpPr txBox="1"/>
          <p:nvPr/>
        </p:nvSpPr>
        <p:spPr>
          <a:xfrm>
            <a:off x="685800" y="2788920"/>
            <a:ext cx="5120640" cy="457200"/>
          </a:xfrm>
          <a:prstGeom prst="rect">
            <a:avLst/>
          </a:prstGeom>
          <a:noFill/>
          <a:ln/>
        </p:spPr>
        <p:txBody>
          <a:bodyPr wrap="square" lIns="0" tIns="0" rIns="0" bIns="0" rtlCol="0" anchor="t"/>
          <a:lstStyle/>
          <a:p>
            <a:pPr indent="0" marL="0">
              <a:buNone/>
            </a:pPr>
            <a:r>
              <a:rPr lang="en-US" sz="2400" b="1" dirty="0">
                <a:solidFill>
                  <a:schemeClr val="bg1"/>
                </a:solidFill>
              </a:rPr>
              <a:t>Even Realities-briller</a:t>
            </a:r>
            <a:endParaRPr lang="en-US" sz="2400" dirty="0"/>
          </a:p>
        </p:txBody>
      </p:sp>
      <p:sp>
        <p:nvSpPr>
          <p:cNvPr id="6" name="Text 4"/>
          <p:cNvSpPr txBox="1"/>
          <p:nvPr/>
        </p:nvSpPr>
        <p:spPr>
          <a:xfrm>
            <a:off x="685800" y="3291840"/>
            <a:ext cx="4937760" cy="731520"/>
          </a:xfrm>
          <a:prstGeom prst="rect">
            <a:avLst/>
          </a:prstGeom>
          <a:noFill/>
          <a:ln/>
        </p:spPr>
        <p:txBody>
          <a:bodyPr wrap="square" lIns="0" tIns="0" rIns="0" bIns="0" rtlCol="0" anchor="t"/>
          <a:lstStyle/>
          <a:p>
            <a:pPr indent="0" marL="0">
              <a:buNone/>
            </a:pPr>
            <a:r>
              <a:rPr lang="en-US" sz="1800" dirty="0">
                <a:solidFill>
                  <a:schemeClr val="accent3"/>
                </a:solidFill>
              </a:rPr>
              <a:t>Stikord og kundedata i synsfeltet under mødet</a:t>
            </a:r>
            <a:endParaRPr lang="en-US" sz="1800" dirty="0"/>
          </a:p>
        </p:txBody>
      </p:sp>
      <p:sp>
        <p:nvSpPr>
          <p:cNvPr id="7" name="Shape 5"/>
          <p:cNvSpPr/>
          <p:nvPr/>
        </p:nvSpPr>
        <p:spPr>
          <a:xfrm>
            <a:off x="6217920" y="2560320"/>
            <a:ext cx="5120640" cy="0"/>
          </a:xfrm>
          <a:prstGeom prst="line">
            <a:avLst/>
          </a:prstGeom>
          <a:noFill/>
          <a:ln w="12700">
            <a:solidFill>
              <a:schemeClr val="accent5"/>
            </a:solidFill>
            <a:prstDash val="solid"/>
          </a:ln>
        </p:spPr>
      </p:sp>
      <p:sp>
        <p:nvSpPr>
          <p:cNvPr id="8" name="Text 6"/>
          <p:cNvSpPr txBox="1"/>
          <p:nvPr/>
        </p:nvSpPr>
        <p:spPr>
          <a:xfrm>
            <a:off x="6217920" y="2788920"/>
            <a:ext cx="5120640" cy="457200"/>
          </a:xfrm>
          <a:prstGeom prst="rect">
            <a:avLst/>
          </a:prstGeom>
          <a:noFill/>
          <a:ln/>
        </p:spPr>
        <p:txBody>
          <a:bodyPr wrap="square" lIns="0" tIns="0" rIns="0" bIns="0" rtlCol="0" anchor="t"/>
          <a:lstStyle/>
          <a:p>
            <a:pPr indent="0" marL="0">
              <a:buNone/>
            </a:pPr>
            <a:r>
              <a:rPr lang="en-US" sz="2400" b="1" dirty="0">
                <a:solidFill>
                  <a:schemeClr val="bg1"/>
                </a:solidFill>
              </a:rPr>
              <a:t>Pocket</a:t>
            </a:r>
            <a:endParaRPr lang="en-US" sz="2400" dirty="0"/>
          </a:p>
        </p:txBody>
      </p:sp>
      <p:sp>
        <p:nvSpPr>
          <p:cNvPr id="9" name="Text 7"/>
          <p:cNvSpPr txBox="1"/>
          <p:nvPr/>
        </p:nvSpPr>
        <p:spPr>
          <a:xfrm>
            <a:off x="6217920" y="3291840"/>
            <a:ext cx="4937760" cy="731520"/>
          </a:xfrm>
          <a:prstGeom prst="rect">
            <a:avLst/>
          </a:prstGeom>
          <a:noFill/>
          <a:ln/>
        </p:spPr>
        <p:txBody>
          <a:bodyPr wrap="square" lIns="0" tIns="0" rIns="0" bIns="0" rtlCol="0" anchor="t"/>
          <a:lstStyle/>
          <a:p>
            <a:pPr indent="0" marL="0">
              <a:buNone/>
            </a:pPr>
            <a:r>
              <a:rPr lang="en-US" sz="1800" dirty="0">
                <a:solidFill>
                  <a:schemeClr val="accent3"/>
                </a:solidFill>
              </a:rPr>
              <a:t>Kundebesøget bliver til referat og opfølgning</a:t>
            </a:r>
            <a:endParaRPr lang="en-US" sz="1800" dirty="0"/>
          </a:p>
        </p:txBody>
      </p:sp>
      <p:sp>
        <p:nvSpPr>
          <p:cNvPr id="10" name="Shape 8"/>
          <p:cNvSpPr/>
          <p:nvPr/>
        </p:nvSpPr>
        <p:spPr>
          <a:xfrm>
            <a:off x="685800" y="4251960"/>
            <a:ext cx="5120640" cy="0"/>
          </a:xfrm>
          <a:prstGeom prst="line">
            <a:avLst/>
          </a:prstGeom>
          <a:noFill/>
          <a:ln w="12700">
            <a:solidFill>
              <a:schemeClr val="accent5"/>
            </a:solidFill>
            <a:prstDash val="solid"/>
          </a:ln>
        </p:spPr>
      </p:sp>
      <p:sp>
        <p:nvSpPr>
          <p:cNvPr id="11" name="Text 9"/>
          <p:cNvSpPr txBox="1"/>
          <p:nvPr/>
        </p:nvSpPr>
        <p:spPr>
          <a:xfrm>
            <a:off x="685800" y="4480560"/>
            <a:ext cx="5120640" cy="457200"/>
          </a:xfrm>
          <a:prstGeom prst="rect">
            <a:avLst/>
          </a:prstGeom>
          <a:noFill/>
          <a:ln/>
        </p:spPr>
        <p:txBody>
          <a:bodyPr wrap="square" lIns="0" tIns="0" rIns="0" bIns="0" rtlCol="0" anchor="t"/>
          <a:lstStyle/>
          <a:p>
            <a:pPr indent="0" marL="0">
              <a:buNone/>
            </a:pPr>
            <a:r>
              <a:rPr lang="en-US" sz="2400" b="1" dirty="0">
                <a:solidFill>
                  <a:schemeClr val="bg1"/>
                </a:solidFill>
              </a:rPr>
              <a:t>Ultrahuman-ring</a:t>
            </a:r>
            <a:endParaRPr lang="en-US" sz="2400" dirty="0"/>
          </a:p>
        </p:txBody>
      </p:sp>
      <p:sp>
        <p:nvSpPr>
          <p:cNvPr id="12" name="Text 10"/>
          <p:cNvSpPr txBox="1"/>
          <p:nvPr/>
        </p:nvSpPr>
        <p:spPr>
          <a:xfrm>
            <a:off x="685800" y="4983480"/>
            <a:ext cx="4937760" cy="731520"/>
          </a:xfrm>
          <a:prstGeom prst="rect">
            <a:avLst/>
          </a:prstGeom>
          <a:noFill/>
          <a:ln/>
        </p:spPr>
        <p:txBody>
          <a:bodyPr wrap="square" lIns="0" tIns="0" rIns="0" bIns="0" rtlCol="0" anchor="t"/>
          <a:lstStyle/>
          <a:p>
            <a:pPr indent="0" marL="0">
              <a:buNone/>
            </a:pPr>
            <a:r>
              <a:rPr lang="en-US" sz="1800" dirty="0">
                <a:solidFill>
                  <a:schemeClr val="accent3"/>
                </a:solidFill>
              </a:rPr>
              <a:t>Energi og restitution i en travl salgsuge</a:t>
            </a:r>
            <a:endParaRPr lang="en-US" sz="1800" dirty="0"/>
          </a:p>
        </p:txBody>
      </p:sp>
      <p:sp>
        <p:nvSpPr>
          <p:cNvPr id="13" name="Shape 11"/>
          <p:cNvSpPr/>
          <p:nvPr/>
        </p:nvSpPr>
        <p:spPr>
          <a:xfrm>
            <a:off x="6217920" y="4251960"/>
            <a:ext cx="5120640" cy="0"/>
          </a:xfrm>
          <a:prstGeom prst="line">
            <a:avLst/>
          </a:prstGeom>
          <a:noFill/>
          <a:ln w="12700">
            <a:solidFill>
              <a:schemeClr val="accent5"/>
            </a:solidFill>
            <a:prstDash val="solid"/>
          </a:ln>
        </p:spPr>
      </p:sp>
      <p:sp>
        <p:nvSpPr>
          <p:cNvPr id="14" name="Text 12"/>
          <p:cNvSpPr txBox="1"/>
          <p:nvPr/>
        </p:nvSpPr>
        <p:spPr>
          <a:xfrm>
            <a:off x="6217920" y="4480560"/>
            <a:ext cx="5120640" cy="457200"/>
          </a:xfrm>
          <a:prstGeom prst="rect">
            <a:avLst/>
          </a:prstGeom>
          <a:noFill/>
          <a:ln/>
        </p:spPr>
        <p:txBody>
          <a:bodyPr wrap="square" lIns="0" tIns="0" rIns="0" bIns="0" rtlCol="0" anchor="t"/>
          <a:lstStyle/>
          <a:p>
            <a:pPr indent="0" marL="0">
              <a:buNone/>
            </a:pPr>
            <a:r>
              <a:rPr lang="en-US" sz="2400" b="1" dirty="0">
                <a:solidFill>
                  <a:schemeClr val="accent3"/>
                </a:solidFill>
              </a:rPr>
              <a:t>Lava Music-guitar</a:t>
            </a:r>
            <a:endParaRPr lang="en-US" sz="2400" dirty="0"/>
          </a:p>
        </p:txBody>
      </p:sp>
      <p:sp>
        <p:nvSpPr>
          <p:cNvPr id="15" name="Text 13"/>
          <p:cNvSpPr txBox="1"/>
          <p:nvPr/>
        </p:nvSpPr>
        <p:spPr>
          <a:xfrm>
            <a:off x="6217920" y="4983480"/>
            <a:ext cx="4937760" cy="731520"/>
          </a:xfrm>
          <a:prstGeom prst="rect">
            <a:avLst/>
          </a:prstGeom>
          <a:noFill/>
          <a:ln/>
        </p:spPr>
        <p:txBody>
          <a:bodyPr wrap="square" lIns="0" tIns="0" rIns="0" bIns="0" rtlCol="0" anchor="t"/>
          <a:lstStyle/>
          <a:p>
            <a:pPr indent="0" marL="0">
              <a:buNone/>
            </a:pPr>
            <a:r>
              <a:rPr lang="en-US" sz="1800" dirty="0">
                <a:solidFill>
                  <a:schemeClr val="accent3"/>
                </a:solidFill>
              </a:rPr>
              <a:t>En øvemakker, der lytter. Her gælder studiereglen</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POINTE</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6200" b="1" dirty="0">
                <a:solidFill>
                  <a:schemeClr val="bg1"/>
                </a:solidFill>
              </a:rPr>
              <a:t>I jobbet er AI din kollega. </a:t>
            </a:r>
            <a:pPr indent="0" marL="0">
              <a:lnSpc>
                <a:spcPct val="95000"/>
              </a:lnSpc>
              <a:buNone/>
            </a:pPr>
            <a:r>
              <a:rPr lang="en-US" sz="6200" b="1" dirty="0">
                <a:solidFill>
                  <a:schemeClr val="accent1"/>
                </a:solidFill>
              </a:rPr>
              <a:t>Lad den arbejde.</a:t>
            </a:r>
            <a:endParaRPr lang="en-US" sz="6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05  ·  VIBECODING</a:t>
            </a:r>
            <a:endParaRPr lang="en-US" sz="1200" dirty="0"/>
          </a:p>
        </p:txBody>
      </p:sp>
      <p:sp>
        <p:nvSpPr>
          <p:cNvPr id="3" name="Text 1"/>
          <p:cNvSpPr txBox="1"/>
          <p:nvPr/>
        </p:nvSpPr>
        <p:spPr>
          <a:xfrm>
            <a:off x="685800" y="1828800"/>
            <a:ext cx="10515600" cy="2194560"/>
          </a:xfrm>
          <a:prstGeom prst="rect">
            <a:avLst/>
          </a:prstGeom>
          <a:noFill/>
          <a:ln/>
        </p:spPr>
        <p:txBody>
          <a:bodyPr wrap="square" lIns="0" tIns="0" rIns="0" bIns="0" rtlCol="0" anchor="b"/>
          <a:lstStyle/>
          <a:p>
            <a:pPr indent="0" marL="0">
              <a:lnSpc>
                <a:spcPct val="90000"/>
              </a:lnSpc>
              <a:buNone/>
            </a:pPr>
            <a:r>
              <a:rPr lang="en-US" sz="9600" b="1" dirty="0">
                <a:solidFill>
                  <a:schemeClr val="bg1"/>
                </a:solidFill>
              </a:rPr>
              <a:t>Byg </a:t>
            </a:r>
            <a:pPr indent="0" marL="0">
              <a:lnSpc>
                <a:spcPct val="90000"/>
              </a:lnSpc>
              <a:buNone/>
            </a:pPr>
            <a:r>
              <a:rPr lang="en-US" sz="9600" b="1" dirty="0">
                <a:solidFill>
                  <a:schemeClr val="accent1"/>
                </a:solidFill>
              </a:rPr>
              <a:t>selv.</a:t>
            </a:r>
            <a:endParaRPr lang="en-US" sz="9600" dirty="0"/>
          </a:p>
        </p:txBody>
      </p:sp>
      <p:sp>
        <p:nvSpPr>
          <p:cNvPr id="4" name="Text 2"/>
          <p:cNvSpPr txBox="1"/>
          <p:nvPr/>
        </p:nvSpPr>
        <p:spPr>
          <a:xfrm>
            <a:off x="685800" y="4206240"/>
            <a:ext cx="9144000" cy="548640"/>
          </a:xfrm>
          <a:prstGeom prst="rect">
            <a:avLst/>
          </a:prstGeom>
          <a:noFill/>
          <a:ln/>
        </p:spPr>
        <p:txBody>
          <a:bodyPr wrap="square" lIns="0" tIns="0" rIns="0" bIns="0" rtlCol="0" anchor="t"/>
          <a:lstStyle/>
          <a:p>
            <a:pPr indent="0" marL="0">
              <a:buNone/>
            </a:pPr>
            <a:r>
              <a:rPr lang="en-US" sz="2400" dirty="0">
                <a:solidFill>
                  <a:schemeClr val="accent3"/>
                </a:solidFill>
              </a:rPr>
              <a:t>Du behøver ikke være udvikler for at lave dit eget værktøj.</a:t>
            </a:r>
            <a:endParaRPr lang="en-US" sz="2400" dirty="0"/>
          </a:p>
        </p:txBody>
      </p:sp>
      <p:sp>
        <p:nvSpPr>
          <p:cNvPr id="5" name="Shape 3"/>
          <p:cNvSpPr/>
          <p:nvPr/>
        </p:nvSpPr>
        <p:spPr>
          <a:xfrm>
            <a:off x="685800" y="5943600"/>
            <a:ext cx="10820095" cy="0"/>
          </a:xfrm>
          <a:prstGeom prst="line">
            <a:avLst/>
          </a:prstGeom>
          <a:noFill/>
          <a:ln w="12700">
            <a:solidFill>
              <a:schemeClr val="accent5"/>
            </a:solidFill>
            <a:prstDash val="solid"/>
          </a:ln>
        </p:spPr>
      </p:sp>
      <p:sp>
        <p:nvSpPr>
          <p:cNvPr id="6" name="Shape 4"/>
          <p:cNvSpPr/>
          <p:nvPr/>
        </p:nvSpPr>
        <p:spPr>
          <a:xfrm>
            <a:off x="9341876" y="5943600"/>
            <a:ext cx="2164019" cy="0"/>
          </a:xfrm>
          <a:prstGeom prst="line">
            <a:avLst/>
          </a:prstGeom>
          <a:noFill/>
          <a:ln w="38100">
            <a:solidFill>
              <a:schemeClr val="accent1"/>
            </a:solidFill>
            <a:prstDash val="solid"/>
          </a:ln>
        </p:spPr>
      </p:sp>
      <p:sp>
        <p:nvSpPr>
          <p:cNvPr id="7" name="Text 5"/>
          <p:cNvSpPr txBox="1"/>
          <p:nvPr/>
        </p:nvSpPr>
        <p:spPr>
          <a:xfrm>
            <a:off x="685800"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Som studerende</a:t>
            </a:r>
            <a:endParaRPr lang="en-US" sz="1200" dirty="0"/>
          </a:p>
        </p:txBody>
      </p:sp>
      <p:sp>
        <p:nvSpPr>
          <p:cNvPr id="8" name="Text 6"/>
          <p:cNvSpPr txBox="1"/>
          <p:nvPr/>
        </p:nvSpPr>
        <p:spPr>
          <a:xfrm>
            <a:off x="2849819"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Prompting</a:t>
            </a:r>
            <a:endParaRPr lang="en-US" sz="1200" dirty="0"/>
          </a:p>
        </p:txBody>
      </p:sp>
      <p:sp>
        <p:nvSpPr>
          <p:cNvPr id="9" name="Text 7"/>
          <p:cNvSpPr txBox="1"/>
          <p:nvPr/>
        </p:nvSpPr>
        <p:spPr>
          <a:xfrm>
            <a:off x="5013838"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Excel og data</a:t>
            </a:r>
            <a:endParaRPr lang="en-US" sz="1200" dirty="0"/>
          </a:p>
        </p:txBody>
      </p:sp>
      <p:sp>
        <p:nvSpPr>
          <p:cNvPr id="10" name="Text 8"/>
          <p:cNvSpPr txBox="1"/>
          <p:nvPr/>
        </p:nvSpPr>
        <p:spPr>
          <a:xfrm>
            <a:off x="7177857"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AI i jobbet</a:t>
            </a:r>
            <a:endParaRPr lang="en-US" sz="1200" dirty="0"/>
          </a:p>
        </p:txBody>
      </p:sp>
      <p:sp>
        <p:nvSpPr>
          <p:cNvPr id="11" name="Text 9"/>
          <p:cNvSpPr txBox="1"/>
          <p:nvPr/>
        </p:nvSpPr>
        <p:spPr>
          <a:xfrm>
            <a:off x="9341876" y="6089904"/>
            <a:ext cx="2072579" cy="274320"/>
          </a:xfrm>
          <a:prstGeom prst="rect">
            <a:avLst/>
          </a:prstGeom>
          <a:noFill/>
          <a:ln/>
        </p:spPr>
        <p:txBody>
          <a:bodyPr wrap="square" lIns="0" tIns="0" rIns="0" bIns="0" rtlCol="0" anchor="t"/>
          <a:lstStyle/>
          <a:p>
            <a:pPr indent="0" marL="0">
              <a:buNone/>
            </a:pPr>
            <a:r>
              <a:rPr lang="en-US" sz="1200" b="1" dirty="0">
                <a:solidFill>
                  <a:schemeClr val="bg1"/>
                </a:solidFill>
              </a:rPr>
              <a:t>Vibecoding</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VIBECODING</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6000" b="1" dirty="0">
                <a:solidFill>
                  <a:schemeClr val="bg1"/>
                </a:solidFill>
              </a:rPr>
              <a:t>Du beskriver. </a:t>
            </a:r>
            <a:pPr indent="0" marL="0">
              <a:lnSpc>
                <a:spcPct val="95000"/>
              </a:lnSpc>
              <a:buNone/>
            </a:pPr>
            <a:r>
              <a:rPr lang="en-US" sz="6000" b="1" dirty="0">
                <a:solidFill>
                  <a:schemeClr val="accent1"/>
                </a:solidFill>
              </a:rPr>
              <a:t>AI koder.</a:t>
            </a:r>
            <a:pPr indent="0" marL="0">
              <a:lnSpc>
                <a:spcPct val="95000"/>
              </a:lnSpc>
              <a:buNone/>
            </a:pPr>
            <a:r>
              <a:rPr lang="en-US" sz="6000" b="1" dirty="0">
                <a:solidFill>
                  <a:schemeClr val="bg1"/>
                </a:solidFill>
              </a:rPr>
              <a:t> Du bedømmer resultatet.</a:t>
            </a:r>
            <a:endParaRPr lang="en-US" sz="6000" dirty="0"/>
          </a:p>
        </p:txBody>
      </p:sp>
      <p:sp>
        <p:nvSpPr>
          <p:cNvPr id="4" name="Text 2"/>
          <p:cNvSpPr txBox="1"/>
          <p:nvPr/>
        </p:nvSpPr>
        <p:spPr>
          <a:xfrm>
            <a:off x="685800" y="4983480"/>
            <a:ext cx="9601200" cy="822960"/>
          </a:xfrm>
          <a:prstGeom prst="rect">
            <a:avLst/>
          </a:prstGeom>
          <a:noFill/>
          <a:ln/>
        </p:spPr>
        <p:txBody>
          <a:bodyPr wrap="square" lIns="0" tIns="0" rIns="0" bIns="0" rtlCol="0" anchor="t"/>
          <a:lstStyle/>
          <a:p>
            <a:pPr indent="0" marL="0">
              <a:buNone/>
            </a:pPr>
            <a:r>
              <a:rPr lang="en-US" sz="2200" dirty="0">
                <a:solidFill>
                  <a:schemeClr val="accent3"/>
                </a:solidFill>
              </a:rPr>
              <a:t>Begrebet vibecoding blev lanceret af Andrej Karpathy i februar 2025.</a:t>
            </a:r>
            <a:endParaRPr lang="en-US" sz="2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MIN VÆRKTØJSKÆDE</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Fem værktøjer fra </a:t>
            </a:r>
            <a:pPr algn="l" indent="0" marL="0">
              <a:lnSpc>
                <a:spcPct val="93000"/>
              </a:lnSpc>
              <a:buNone/>
            </a:pPr>
            <a:r>
              <a:rPr lang="en-US" sz="3400" b="1" dirty="0">
                <a:solidFill>
                  <a:schemeClr val="accent1"/>
                </a:solidFill>
              </a:rPr>
              <a:t>skitse til rigtig adresse</a:t>
            </a:r>
            <a:endParaRPr lang="en-US" sz="3400" dirty="0"/>
          </a:p>
        </p:txBody>
      </p:sp>
      <p:sp>
        <p:nvSpPr>
          <p:cNvPr id="4" name="Shape 2"/>
          <p:cNvSpPr/>
          <p:nvPr/>
        </p:nvSpPr>
        <p:spPr>
          <a:xfrm>
            <a:off x="795528" y="3401568"/>
            <a:ext cx="8656076" cy="0"/>
          </a:xfrm>
          <a:prstGeom prst="line">
            <a:avLst/>
          </a:prstGeom>
          <a:noFill/>
          <a:ln w="19050">
            <a:solidFill>
              <a:schemeClr val="accent5"/>
            </a:solidFill>
            <a:prstDash val="solid"/>
          </a:ln>
        </p:spPr>
      </p:sp>
      <p:sp>
        <p:nvSpPr>
          <p:cNvPr id="5" name="Shape 3"/>
          <p:cNvSpPr/>
          <p:nvPr/>
        </p:nvSpPr>
        <p:spPr>
          <a:xfrm>
            <a:off x="685800" y="3291840"/>
            <a:ext cx="219456" cy="219456"/>
          </a:xfrm>
          <a:prstGeom prst="ellipse">
            <a:avLst/>
          </a:prstGeom>
          <a:solidFill>
            <a:srgbClr val="FFFFFF"/>
          </a:solidFill>
          <a:ln w="12700">
            <a:solidFill>
              <a:srgbClr val="FFFFFF"/>
            </a:solidFill>
            <a:prstDash val="solid"/>
          </a:ln>
        </p:spPr>
      </p:sp>
      <p:sp>
        <p:nvSpPr>
          <p:cNvPr id="6" name="Text 4"/>
          <p:cNvSpPr txBox="1"/>
          <p:nvPr/>
        </p:nvSpPr>
        <p:spPr>
          <a:xfrm>
            <a:off x="685800" y="3749040"/>
            <a:ext cx="1981139" cy="457200"/>
          </a:xfrm>
          <a:prstGeom prst="rect">
            <a:avLst/>
          </a:prstGeom>
          <a:noFill/>
          <a:ln/>
        </p:spPr>
        <p:txBody>
          <a:bodyPr wrap="square" lIns="0" tIns="0" rIns="0" bIns="0" rtlCol="0" anchor="t"/>
          <a:lstStyle/>
          <a:p>
            <a:pPr indent="0" marL="0">
              <a:buNone/>
            </a:pPr>
            <a:r>
              <a:rPr lang="en-US" sz="2100" b="1" dirty="0">
                <a:solidFill>
                  <a:schemeClr val="bg1"/>
                </a:solidFill>
              </a:rPr>
              <a:t>Claude Design</a:t>
            </a:r>
            <a:endParaRPr lang="en-US" sz="2100" dirty="0"/>
          </a:p>
        </p:txBody>
      </p:sp>
      <p:sp>
        <p:nvSpPr>
          <p:cNvPr id="7" name="Text 5"/>
          <p:cNvSpPr txBox="1"/>
          <p:nvPr/>
        </p:nvSpPr>
        <p:spPr>
          <a:xfrm>
            <a:off x="685800" y="4206240"/>
            <a:ext cx="1843979" cy="822960"/>
          </a:xfrm>
          <a:prstGeom prst="rect">
            <a:avLst/>
          </a:prstGeom>
          <a:noFill/>
          <a:ln/>
        </p:spPr>
        <p:txBody>
          <a:bodyPr wrap="square" lIns="0" tIns="0" rIns="0" bIns="0" rtlCol="0" anchor="t"/>
          <a:lstStyle/>
          <a:p>
            <a:pPr indent="0" marL="0">
              <a:buNone/>
            </a:pPr>
            <a:r>
              <a:rPr lang="en-US" sz="1600" dirty="0">
                <a:solidFill>
                  <a:schemeClr val="accent3"/>
                </a:solidFill>
              </a:rPr>
              <a:t>udseende og brand</a:t>
            </a:r>
            <a:endParaRPr lang="en-US" sz="1600" dirty="0"/>
          </a:p>
        </p:txBody>
      </p:sp>
      <p:sp>
        <p:nvSpPr>
          <p:cNvPr id="8" name="Shape 6"/>
          <p:cNvSpPr/>
          <p:nvPr/>
        </p:nvSpPr>
        <p:spPr>
          <a:xfrm>
            <a:off x="2849819" y="3291840"/>
            <a:ext cx="219456" cy="219456"/>
          </a:xfrm>
          <a:prstGeom prst="ellipse">
            <a:avLst/>
          </a:prstGeom>
          <a:solidFill>
            <a:srgbClr val="EE4B1A"/>
          </a:solidFill>
          <a:ln w="12700">
            <a:solidFill>
              <a:srgbClr val="EE4B1A"/>
            </a:solidFill>
            <a:prstDash val="solid"/>
          </a:ln>
        </p:spPr>
      </p:sp>
      <p:sp>
        <p:nvSpPr>
          <p:cNvPr id="9" name="Text 7"/>
          <p:cNvSpPr txBox="1"/>
          <p:nvPr/>
        </p:nvSpPr>
        <p:spPr>
          <a:xfrm>
            <a:off x="2849819" y="3749040"/>
            <a:ext cx="1981139" cy="457200"/>
          </a:xfrm>
          <a:prstGeom prst="rect">
            <a:avLst/>
          </a:prstGeom>
          <a:noFill/>
          <a:ln/>
        </p:spPr>
        <p:txBody>
          <a:bodyPr wrap="square" lIns="0" tIns="0" rIns="0" bIns="0" rtlCol="0" anchor="t"/>
          <a:lstStyle/>
          <a:p>
            <a:pPr indent="0" marL="0">
              <a:buNone/>
            </a:pPr>
            <a:r>
              <a:rPr lang="en-US" sz="2100" b="1" dirty="0">
                <a:solidFill>
                  <a:schemeClr val="bg1"/>
                </a:solidFill>
              </a:rPr>
              <a:t>Claude Code</a:t>
            </a:r>
            <a:endParaRPr lang="en-US" sz="2100" dirty="0"/>
          </a:p>
        </p:txBody>
      </p:sp>
      <p:sp>
        <p:nvSpPr>
          <p:cNvPr id="10" name="Text 8"/>
          <p:cNvSpPr txBox="1"/>
          <p:nvPr/>
        </p:nvSpPr>
        <p:spPr>
          <a:xfrm>
            <a:off x="2849819" y="4206240"/>
            <a:ext cx="1843979" cy="822960"/>
          </a:xfrm>
          <a:prstGeom prst="rect">
            <a:avLst/>
          </a:prstGeom>
          <a:noFill/>
          <a:ln/>
        </p:spPr>
        <p:txBody>
          <a:bodyPr wrap="square" lIns="0" tIns="0" rIns="0" bIns="0" rtlCol="0" anchor="t"/>
          <a:lstStyle/>
          <a:p>
            <a:pPr indent="0" marL="0">
              <a:buNone/>
            </a:pPr>
            <a:r>
              <a:rPr lang="en-US" sz="1600" dirty="0">
                <a:solidFill>
                  <a:schemeClr val="accent3"/>
                </a:solidFill>
              </a:rPr>
              <a:t>skriver og retter koden</a:t>
            </a:r>
            <a:endParaRPr lang="en-US" sz="1600" dirty="0"/>
          </a:p>
        </p:txBody>
      </p:sp>
      <p:sp>
        <p:nvSpPr>
          <p:cNvPr id="11" name="Shape 9"/>
          <p:cNvSpPr/>
          <p:nvPr/>
        </p:nvSpPr>
        <p:spPr>
          <a:xfrm>
            <a:off x="5013838" y="3291840"/>
            <a:ext cx="219456" cy="219456"/>
          </a:xfrm>
          <a:prstGeom prst="ellipse">
            <a:avLst/>
          </a:prstGeom>
          <a:solidFill>
            <a:srgbClr val="FFFFFF"/>
          </a:solidFill>
          <a:ln w="12700">
            <a:solidFill>
              <a:srgbClr val="FFFFFF"/>
            </a:solidFill>
            <a:prstDash val="solid"/>
          </a:ln>
        </p:spPr>
      </p:sp>
      <p:sp>
        <p:nvSpPr>
          <p:cNvPr id="12" name="Text 10"/>
          <p:cNvSpPr txBox="1"/>
          <p:nvPr/>
        </p:nvSpPr>
        <p:spPr>
          <a:xfrm>
            <a:off x="5013838" y="3749040"/>
            <a:ext cx="1981139" cy="457200"/>
          </a:xfrm>
          <a:prstGeom prst="rect">
            <a:avLst/>
          </a:prstGeom>
          <a:noFill/>
          <a:ln/>
        </p:spPr>
        <p:txBody>
          <a:bodyPr wrap="square" lIns="0" tIns="0" rIns="0" bIns="0" rtlCol="0" anchor="t"/>
          <a:lstStyle/>
          <a:p>
            <a:pPr indent="0" marL="0">
              <a:buNone/>
            </a:pPr>
            <a:r>
              <a:rPr lang="en-US" sz="2100" b="1" dirty="0">
                <a:solidFill>
                  <a:schemeClr val="bg1"/>
                </a:solidFill>
              </a:rPr>
              <a:t>GitHub</a:t>
            </a:r>
            <a:endParaRPr lang="en-US" sz="2100" dirty="0"/>
          </a:p>
        </p:txBody>
      </p:sp>
      <p:sp>
        <p:nvSpPr>
          <p:cNvPr id="13" name="Text 11"/>
          <p:cNvSpPr txBox="1"/>
          <p:nvPr/>
        </p:nvSpPr>
        <p:spPr>
          <a:xfrm>
            <a:off x="5013838" y="4206240"/>
            <a:ext cx="1843979" cy="822960"/>
          </a:xfrm>
          <a:prstGeom prst="rect">
            <a:avLst/>
          </a:prstGeom>
          <a:noFill/>
          <a:ln/>
        </p:spPr>
        <p:txBody>
          <a:bodyPr wrap="square" lIns="0" tIns="0" rIns="0" bIns="0" rtlCol="0" anchor="t"/>
          <a:lstStyle/>
          <a:p>
            <a:pPr indent="0" marL="0">
              <a:buNone/>
            </a:pPr>
            <a:r>
              <a:rPr lang="en-US" sz="1600" dirty="0">
                <a:solidFill>
                  <a:schemeClr val="accent3"/>
                </a:solidFill>
              </a:rPr>
              <a:t>versionsstyring og fortryd-knap</a:t>
            </a:r>
            <a:endParaRPr lang="en-US" sz="1600" dirty="0"/>
          </a:p>
        </p:txBody>
      </p:sp>
      <p:sp>
        <p:nvSpPr>
          <p:cNvPr id="14" name="Shape 12"/>
          <p:cNvSpPr/>
          <p:nvPr/>
        </p:nvSpPr>
        <p:spPr>
          <a:xfrm>
            <a:off x="7177857" y="3291840"/>
            <a:ext cx="219456" cy="219456"/>
          </a:xfrm>
          <a:prstGeom prst="ellipse">
            <a:avLst/>
          </a:prstGeom>
          <a:solidFill>
            <a:srgbClr val="FFFFFF"/>
          </a:solidFill>
          <a:ln w="12700">
            <a:solidFill>
              <a:srgbClr val="FFFFFF"/>
            </a:solidFill>
            <a:prstDash val="solid"/>
          </a:ln>
        </p:spPr>
      </p:sp>
      <p:sp>
        <p:nvSpPr>
          <p:cNvPr id="15" name="Text 13"/>
          <p:cNvSpPr txBox="1"/>
          <p:nvPr/>
        </p:nvSpPr>
        <p:spPr>
          <a:xfrm>
            <a:off x="7177857" y="3749040"/>
            <a:ext cx="1981139" cy="457200"/>
          </a:xfrm>
          <a:prstGeom prst="rect">
            <a:avLst/>
          </a:prstGeom>
          <a:noFill/>
          <a:ln/>
        </p:spPr>
        <p:txBody>
          <a:bodyPr wrap="square" lIns="0" tIns="0" rIns="0" bIns="0" rtlCol="0" anchor="t"/>
          <a:lstStyle/>
          <a:p>
            <a:pPr indent="0" marL="0">
              <a:buNone/>
            </a:pPr>
            <a:r>
              <a:rPr lang="en-US" sz="2100" b="1" dirty="0">
                <a:solidFill>
                  <a:schemeClr val="bg1"/>
                </a:solidFill>
              </a:rPr>
              <a:t>Vercel</a:t>
            </a:r>
            <a:endParaRPr lang="en-US" sz="2100" dirty="0"/>
          </a:p>
        </p:txBody>
      </p:sp>
      <p:sp>
        <p:nvSpPr>
          <p:cNvPr id="16" name="Text 14"/>
          <p:cNvSpPr txBox="1"/>
          <p:nvPr/>
        </p:nvSpPr>
        <p:spPr>
          <a:xfrm>
            <a:off x="7177857" y="4206240"/>
            <a:ext cx="1843979" cy="822960"/>
          </a:xfrm>
          <a:prstGeom prst="rect">
            <a:avLst/>
          </a:prstGeom>
          <a:noFill/>
          <a:ln/>
        </p:spPr>
        <p:txBody>
          <a:bodyPr wrap="square" lIns="0" tIns="0" rIns="0" bIns="0" rtlCol="0" anchor="t"/>
          <a:lstStyle/>
          <a:p>
            <a:pPr indent="0" marL="0">
              <a:buNone/>
            </a:pPr>
            <a:r>
              <a:rPr lang="en-US" sz="1600" dirty="0">
                <a:solidFill>
                  <a:schemeClr val="accent3"/>
                </a:solidFill>
              </a:rPr>
              <a:t>online på en rigtig adresse</a:t>
            </a:r>
            <a:endParaRPr lang="en-US" sz="1600" dirty="0"/>
          </a:p>
        </p:txBody>
      </p:sp>
      <p:sp>
        <p:nvSpPr>
          <p:cNvPr id="17" name="Shape 15"/>
          <p:cNvSpPr/>
          <p:nvPr/>
        </p:nvSpPr>
        <p:spPr>
          <a:xfrm>
            <a:off x="9341876" y="3291840"/>
            <a:ext cx="219456" cy="219456"/>
          </a:xfrm>
          <a:prstGeom prst="ellipse">
            <a:avLst/>
          </a:prstGeom>
          <a:solidFill>
            <a:srgbClr val="FFFFFF"/>
          </a:solidFill>
          <a:ln w="12700">
            <a:solidFill>
              <a:srgbClr val="FFFFFF"/>
            </a:solidFill>
            <a:prstDash val="solid"/>
          </a:ln>
        </p:spPr>
      </p:sp>
      <p:sp>
        <p:nvSpPr>
          <p:cNvPr id="18" name="Text 16"/>
          <p:cNvSpPr txBox="1"/>
          <p:nvPr/>
        </p:nvSpPr>
        <p:spPr>
          <a:xfrm>
            <a:off x="9341876" y="3749040"/>
            <a:ext cx="1981139" cy="457200"/>
          </a:xfrm>
          <a:prstGeom prst="rect">
            <a:avLst/>
          </a:prstGeom>
          <a:noFill/>
          <a:ln/>
        </p:spPr>
        <p:txBody>
          <a:bodyPr wrap="square" lIns="0" tIns="0" rIns="0" bIns="0" rtlCol="0" anchor="t"/>
          <a:lstStyle/>
          <a:p>
            <a:pPr indent="0" marL="0">
              <a:buNone/>
            </a:pPr>
            <a:r>
              <a:rPr lang="en-US" sz="2100" b="1" dirty="0">
                <a:solidFill>
                  <a:schemeClr val="bg1"/>
                </a:solidFill>
              </a:rPr>
              <a:t>Cursor</a:t>
            </a:r>
            <a:endParaRPr lang="en-US" sz="2100" dirty="0"/>
          </a:p>
        </p:txBody>
      </p:sp>
      <p:sp>
        <p:nvSpPr>
          <p:cNvPr id="19" name="Text 17"/>
          <p:cNvSpPr txBox="1"/>
          <p:nvPr/>
        </p:nvSpPr>
        <p:spPr>
          <a:xfrm>
            <a:off x="9341876" y="4206240"/>
            <a:ext cx="1843979" cy="822960"/>
          </a:xfrm>
          <a:prstGeom prst="rect">
            <a:avLst/>
          </a:prstGeom>
          <a:noFill/>
          <a:ln/>
        </p:spPr>
        <p:txBody>
          <a:bodyPr wrap="square" lIns="0" tIns="0" rIns="0" bIns="0" rtlCol="0" anchor="t"/>
          <a:lstStyle/>
          <a:p>
            <a:pPr indent="0" marL="0">
              <a:buNone/>
            </a:pPr>
            <a:r>
              <a:rPr lang="en-US" sz="1600" dirty="0">
                <a:solidFill>
                  <a:schemeClr val="accent3"/>
                </a:solidFill>
              </a:rPr>
              <a:t>når jeg selv vil ind i koden</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MINE PROJEKTER</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Bygget af </a:t>
            </a:r>
            <a:pPr algn="l" indent="0" marL="0">
              <a:lnSpc>
                <a:spcPct val="93000"/>
              </a:lnSpc>
              <a:buNone/>
            </a:pPr>
            <a:r>
              <a:rPr lang="en-US" sz="3400" b="1" dirty="0">
                <a:solidFill>
                  <a:schemeClr val="accent1"/>
                </a:solidFill>
              </a:rPr>
              <a:t>én person</a:t>
            </a:r>
            <a:pPr algn="l" indent="0" marL="0">
              <a:lnSpc>
                <a:spcPct val="93000"/>
              </a:lnSpc>
              <a:buNone/>
            </a:pPr>
            <a:r>
              <a:rPr lang="en-US" sz="3400" b="1" dirty="0">
                <a:solidFill>
                  <a:schemeClr val="bg1"/>
                </a:solidFill>
              </a:rPr>
              <a:t> med AI</a:t>
            </a:r>
            <a:endParaRPr lang="en-US" sz="3400" dirty="0"/>
          </a:p>
        </p:txBody>
      </p:sp>
      <p:sp>
        <p:nvSpPr>
          <p:cNvPr id="4" name="Shape 2"/>
          <p:cNvSpPr/>
          <p:nvPr/>
        </p:nvSpPr>
        <p:spPr>
          <a:xfrm>
            <a:off x="685800" y="2514600"/>
            <a:ext cx="10820095" cy="0"/>
          </a:xfrm>
          <a:prstGeom prst="line">
            <a:avLst/>
          </a:prstGeom>
          <a:noFill/>
          <a:ln w="12700">
            <a:solidFill>
              <a:schemeClr val="accent5"/>
            </a:solidFill>
            <a:prstDash val="solid"/>
          </a:ln>
        </p:spPr>
      </p:sp>
      <p:sp>
        <p:nvSpPr>
          <p:cNvPr id="5" name="Text 3"/>
          <p:cNvSpPr txBox="1"/>
          <p:nvPr/>
        </p:nvSpPr>
        <p:spPr>
          <a:xfrm>
            <a:off x="685800" y="2788920"/>
            <a:ext cx="4206240" cy="548640"/>
          </a:xfrm>
          <a:prstGeom prst="rect">
            <a:avLst/>
          </a:prstGeom>
          <a:noFill/>
          <a:ln/>
        </p:spPr>
        <p:txBody>
          <a:bodyPr wrap="square" lIns="0" tIns="0" rIns="0" bIns="0" rtlCol="0" anchor="t"/>
          <a:lstStyle/>
          <a:p>
            <a:pPr indent="0" marL="0">
              <a:buNone/>
            </a:pPr>
            <a:r>
              <a:rPr lang="en-US" sz="2800" b="1" dirty="0">
                <a:solidFill>
                  <a:schemeClr val="bg1"/>
                </a:solidFill>
              </a:rPr>
              <a:t>Projektstyring</a:t>
            </a:r>
            <a:endParaRPr lang="en-US" sz="2800" dirty="0"/>
          </a:p>
        </p:txBody>
      </p:sp>
      <p:sp>
        <p:nvSpPr>
          <p:cNvPr id="6" name="Text 4"/>
          <p:cNvSpPr txBox="1"/>
          <p:nvPr/>
        </p:nvSpPr>
        <p:spPr>
          <a:xfrm>
            <a:off x="5257800" y="2843784"/>
            <a:ext cx="6217920" cy="548640"/>
          </a:xfrm>
          <a:prstGeom prst="rect">
            <a:avLst/>
          </a:prstGeom>
          <a:noFill/>
          <a:ln/>
        </p:spPr>
        <p:txBody>
          <a:bodyPr wrap="square" lIns="0" tIns="0" rIns="0" bIns="0" rtlCol="0" anchor="t"/>
          <a:lstStyle/>
          <a:p>
            <a:pPr indent="0" marL="0">
              <a:buNone/>
            </a:pPr>
            <a:r>
              <a:rPr lang="en-US" sz="1900" dirty="0">
                <a:solidFill>
                  <a:schemeClr val="accent3"/>
                </a:solidFill>
              </a:rPr>
              <a:t>Login, projekter, opgaver, deadlines og mails til Thirdbase</a:t>
            </a:r>
            <a:endParaRPr lang="en-US" sz="1900" dirty="0"/>
          </a:p>
        </p:txBody>
      </p:sp>
      <p:sp>
        <p:nvSpPr>
          <p:cNvPr id="7" name="Shape 5"/>
          <p:cNvSpPr/>
          <p:nvPr/>
        </p:nvSpPr>
        <p:spPr>
          <a:xfrm>
            <a:off x="685800" y="3703320"/>
            <a:ext cx="10820095" cy="0"/>
          </a:xfrm>
          <a:prstGeom prst="line">
            <a:avLst/>
          </a:prstGeom>
          <a:noFill/>
          <a:ln w="12700">
            <a:solidFill>
              <a:schemeClr val="accent5"/>
            </a:solidFill>
            <a:prstDash val="solid"/>
          </a:ln>
        </p:spPr>
      </p:sp>
      <p:sp>
        <p:nvSpPr>
          <p:cNvPr id="8" name="Text 6"/>
          <p:cNvSpPr txBox="1"/>
          <p:nvPr/>
        </p:nvSpPr>
        <p:spPr>
          <a:xfrm>
            <a:off x="685800" y="3977640"/>
            <a:ext cx="4206240" cy="548640"/>
          </a:xfrm>
          <a:prstGeom prst="rect">
            <a:avLst/>
          </a:prstGeom>
          <a:noFill/>
          <a:ln/>
        </p:spPr>
        <p:txBody>
          <a:bodyPr wrap="square" lIns="0" tIns="0" rIns="0" bIns="0" rtlCol="0" anchor="t"/>
          <a:lstStyle/>
          <a:p>
            <a:pPr indent="0" marL="0">
              <a:buNone/>
            </a:pPr>
            <a:r>
              <a:rPr lang="en-US" sz="2800" b="1" dirty="0">
                <a:solidFill>
                  <a:schemeClr val="bg1"/>
                </a:solidFill>
              </a:rPr>
              <a:t>Synlighedsscanner</a:t>
            </a:r>
            <a:endParaRPr lang="en-US" sz="2800" dirty="0"/>
          </a:p>
        </p:txBody>
      </p:sp>
      <p:sp>
        <p:nvSpPr>
          <p:cNvPr id="9" name="Text 7"/>
          <p:cNvSpPr txBox="1"/>
          <p:nvPr/>
        </p:nvSpPr>
        <p:spPr>
          <a:xfrm>
            <a:off x="5257800" y="4032504"/>
            <a:ext cx="6217920" cy="548640"/>
          </a:xfrm>
          <a:prstGeom prst="rect">
            <a:avLst/>
          </a:prstGeom>
          <a:noFill/>
          <a:ln/>
        </p:spPr>
        <p:txBody>
          <a:bodyPr wrap="square" lIns="0" tIns="0" rIns="0" bIns="0" rtlCol="0" anchor="t"/>
          <a:lstStyle/>
          <a:p>
            <a:pPr indent="0" marL="0">
              <a:buNone/>
            </a:pPr>
            <a:r>
              <a:rPr lang="en-US" sz="1900" dirty="0">
                <a:solidFill>
                  <a:schemeClr val="accent3"/>
                </a:solidFill>
              </a:rPr>
              <a:t>Lead magnet, der sender leads direkte i HubSpot</a:t>
            </a:r>
            <a:endParaRPr lang="en-US" sz="1900" dirty="0"/>
          </a:p>
        </p:txBody>
      </p:sp>
      <p:sp>
        <p:nvSpPr>
          <p:cNvPr id="10" name="Shape 8"/>
          <p:cNvSpPr/>
          <p:nvPr/>
        </p:nvSpPr>
        <p:spPr>
          <a:xfrm>
            <a:off x="685800" y="4892040"/>
            <a:ext cx="10820095" cy="0"/>
          </a:xfrm>
          <a:prstGeom prst="line">
            <a:avLst/>
          </a:prstGeom>
          <a:noFill/>
          <a:ln w="12700">
            <a:solidFill>
              <a:schemeClr val="accent5"/>
            </a:solidFill>
            <a:prstDash val="solid"/>
          </a:ln>
        </p:spPr>
      </p:sp>
      <p:sp>
        <p:nvSpPr>
          <p:cNvPr id="11" name="Text 9"/>
          <p:cNvSpPr txBox="1"/>
          <p:nvPr/>
        </p:nvSpPr>
        <p:spPr>
          <a:xfrm>
            <a:off x="685800" y="5166360"/>
            <a:ext cx="4206240" cy="548640"/>
          </a:xfrm>
          <a:prstGeom prst="rect">
            <a:avLst/>
          </a:prstGeom>
          <a:noFill/>
          <a:ln/>
        </p:spPr>
        <p:txBody>
          <a:bodyPr wrap="square" lIns="0" tIns="0" rIns="0" bIns="0" rtlCol="0" anchor="t"/>
          <a:lstStyle/>
          <a:p>
            <a:pPr indent="0" marL="0">
              <a:buNone/>
            </a:pPr>
            <a:r>
              <a:rPr lang="en-US" sz="2800" b="1" dirty="0">
                <a:solidFill>
                  <a:schemeClr val="bg1"/>
                </a:solidFill>
              </a:rPr>
              <a:t>Bilinfo til HubSpot</a:t>
            </a:r>
            <a:endParaRPr lang="en-US" sz="2800" dirty="0"/>
          </a:p>
        </p:txBody>
      </p:sp>
      <p:sp>
        <p:nvSpPr>
          <p:cNvPr id="12" name="Text 10"/>
          <p:cNvSpPr txBox="1"/>
          <p:nvPr/>
        </p:nvSpPr>
        <p:spPr>
          <a:xfrm>
            <a:off x="5257800" y="5221224"/>
            <a:ext cx="6217920" cy="548640"/>
          </a:xfrm>
          <a:prstGeom prst="rect">
            <a:avLst/>
          </a:prstGeom>
          <a:noFill/>
          <a:ln/>
        </p:spPr>
        <p:txBody>
          <a:bodyPr wrap="square" lIns="0" tIns="0" rIns="0" bIns="0" rtlCol="0" anchor="t"/>
          <a:lstStyle/>
          <a:p>
            <a:pPr indent="0" marL="0">
              <a:buNone/>
            </a:pPr>
            <a:r>
              <a:rPr lang="en-US" sz="1900" dirty="0">
                <a:solidFill>
                  <a:schemeClr val="accent3"/>
                </a:solidFill>
              </a:rPr>
              <a:t>Henter biler ind i CRM for en bilforhandler</a:t>
            </a:r>
            <a:endParaRPr lang="en-US" sz="1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LIVE BUILD</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I dag bygger vi </a:t>
            </a:r>
            <a:pPr algn="l" indent="0" marL="0">
              <a:lnSpc>
                <a:spcPct val="93000"/>
              </a:lnSpc>
              <a:buNone/>
            </a:pPr>
            <a:r>
              <a:rPr lang="en-US" sz="3400" b="1" dirty="0">
                <a:solidFill>
                  <a:schemeClr val="accent1"/>
                </a:solidFill>
              </a:rPr>
              <a:t>Rabatregneren</a:t>
            </a:r>
            <a:endParaRPr lang="en-US" sz="3400" dirty="0"/>
          </a:p>
        </p:txBody>
      </p:sp>
      <p:sp>
        <p:nvSpPr>
          <p:cNvPr id="4" name="Text 2"/>
          <p:cNvSpPr txBox="1"/>
          <p:nvPr/>
        </p:nvSpPr>
        <p:spPr>
          <a:xfrm>
            <a:off x="685800" y="2560320"/>
            <a:ext cx="731520" cy="457200"/>
          </a:xfrm>
          <a:prstGeom prst="rect">
            <a:avLst/>
          </a:prstGeom>
          <a:noFill/>
          <a:ln/>
        </p:spPr>
        <p:txBody>
          <a:bodyPr wrap="square" lIns="0" tIns="0" rIns="0" bIns="0" rtlCol="0" anchor="t"/>
          <a:lstStyle/>
          <a:p>
            <a:pPr indent="0" marL="0">
              <a:buNone/>
            </a:pPr>
            <a:r>
              <a:rPr lang="en-US" sz="1800" b="1" dirty="0">
                <a:solidFill>
                  <a:schemeClr val="accent1"/>
                </a:solidFill>
              </a:rPr>
              <a:t>01</a:t>
            </a:r>
            <a:endParaRPr lang="en-US" sz="1800" dirty="0"/>
          </a:p>
        </p:txBody>
      </p:sp>
      <p:sp>
        <p:nvSpPr>
          <p:cNvPr id="5" name="Text 3"/>
          <p:cNvSpPr txBox="1"/>
          <p:nvPr/>
        </p:nvSpPr>
        <p:spPr>
          <a:xfrm>
            <a:off x="1508760" y="2523744"/>
            <a:ext cx="6035040" cy="822960"/>
          </a:xfrm>
          <a:prstGeom prst="rect">
            <a:avLst/>
          </a:prstGeom>
          <a:noFill/>
          <a:ln/>
        </p:spPr>
        <p:txBody>
          <a:bodyPr wrap="square" lIns="0" tIns="0" rIns="0" bIns="0" rtlCol="0" anchor="t"/>
          <a:lstStyle/>
          <a:p>
            <a:pPr indent="0" marL="0">
              <a:buNone/>
            </a:pPr>
            <a:r>
              <a:rPr lang="en-US" sz="2200" dirty="0">
                <a:solidFill>
                  <a:schemeClr val="bg1"/>
                </a:solidFill>
              </a:rPr>
              <a:t>Salgspris, kostpris, afsætning og rabat ind</a:t>
            </a:r>
            <a:endParaRPr lang="en-US" sz="2200" dirty="0"/>
          </a:p>
        </p:txBody>
      </p:sp>
      <p:sp>
        <p:nvSpPr>
          <p:cNvPr id="6" name="Text 4"/>
          <p:cNvSpPr txBox="1"/>
          <p:nvPr/>
        </p:nvSpPr>
        <p:spPr>
          <a:xfrm>
            <a:off x="685800" y="3474720"/>
            <a:ext cx="731520" cy="457200"/>
          </a:xfrm>
          <a:prstGeom prst="rect">
            <a:avLst/>
          </a:prstGeom>
          <a:noFill/>
          <a:ln/>
        </p:spPr>
        <p:txBody>
          <a:bodyPr wrap="square" lIns="0" tIns="0" rIns="0" bIns="0" rtlCol="0" anchor="t"/>
          <a:lstStyle/>
          <a:p>
            <a:pPr indent="0" marL="0">
              <a:buNone/>
            </a:pPr>
            <a:r>
              <a:rPr lang="en-US" sz="1800" b="1" dirty="0">
                <a:solidFill>
                  <a:schemeClr val="accent1"/>
                </a:solidFill>
              </a:rPr>
              <a:t>02</a:t>
            </a:r>
            <a:endParaRPr lang="en-US" sz="1800" dirty="0"/>
          </a:p>
        </p:txBody>
      </p:sp>
      <p:sp>
        <p:nvSpPr>
          <p:cNvPr id="7" name="Text 5"/>
          <p:cNvSpPr txBox="1"/>
          <p:nvPr/>
        </p:nvSpPr>
        <p:spPr>
          <a:xfrm>
            <a:off x="1508760" y="3438144"/>
            <a:ext cx="6035040" cy="822960"/>
          </a:xfrm>
          <a:prstGeom prst="rect">
            <a:avLst/>
          </a:prstGeom>
          <a:noFill/>
          <a:ln/>
        </p:spPr>
        <p:txBody>
          <a:bodyPr wrap="square" lIns="0" tIns="0" rIns="0" bIns="0" rtlCol="0" anchor="t"/>
          <a:lstStyle/>
          <a:p>
            <a:pPr indent="0" marL="0">
              <a:buNone/>
            </a:pPr>
            <a:r>
              <a:rPr lang="en-US" sz="2200" dirty="0">
                <a:solidFill>
                  <a:schemeClr val="bg1"/>
                </a:solidFill>
              </a:rPr>
              <a:t>Dækningsbidrag og dækningsgrad før og efter</a:t>
            </a:r>
            <a:endParaRPr lang="en-US" sz="2200" dirty="0"/>
          </a:p>
        </p:txBody>
      </p:sp>
      <p:sp>
        <p:nvSpPr>
          <p:cNvPr id="8" name="Text 6"/>
          <p:cNvSpPr txBox="1"/>
          <p:nvPr/>
        </p:nvSpPr>
        <p:spPr>
          <a:xfrm>
            <a:off x="685800" y="4389120"/>
            <a:ext cx="731520" cy="457200"/>
          </a:xfrm>
          <a:prstGeom prst="rect">
            <a:avLst/>
          </a:prstGeom>
          <a:noFill/>
          <a:ln/>
        </p:spPr>
        <p:txBody>
          <a:bodyPr wrap="square" lIns="0" tIns="0" rIns="0" bIns="0" rtlCol="0" anchor="t"/>
          <a:lstStyle/>
          <a:p>
            <a:pPr indent="0" marL="0">
              <a:buNone/>
            </a:pPr>
            <a:r>
              <a:rPr lang="en-US" sz="1800" b="1" dirty="0">
                <a:solidFill>
                  <a:schemeClr val="accent1"/>
                </a:solidFill>
              </a:rPr>
              <a:t>03</a:t>
            </a:r>
            <a:endParaRPr lang="en-US" sz="1800" dirty="0"/>
          </a:p>
        </p:txBody>
      </p:sp>
      <p:sp>
        <p:nvSpPr>
          <p:cNvPr id="9" name="Text 7"/>
          <p:cNvSpPr txBox="1"/>
          <p:nvPr/>
        </p:nvSpPr>
        <p:spPr>
          <a:xfrm>
            <a:off x="1508760" y="4352544"/>
            <a:ext cx="6035040" cy="822960"/>
          </a:xfrm>
          <a:prstGeom prst="rect">
            <a:avLst/>
          </a:prstGeom>
          <a:noFill/>
          <a:ln/>
        </p:spPr>
        <p:txBody>
          <a:bodyPr wrap="square" lIns="0" tIns="0" rIns="0" bIns="0" rtlCol="0" anchor="t"/>
          <a:lstStyle/>
          <a:p>
            <a:pPr indent="0" marL="0">
              <a:buNone/>
            </a:pPr>
            <a:r>
              <a:rPr lang="en-US" sz="2200" dirty="0">
                <a:solidFill>
                  <a:schemeClr val="bg1"/>
                </a:solidFill>
              </a:rPr>
              <a:t>Nødvendigt mersalg i procent og stk.</a:t>
            </a:r>
            <a:endParaRPr lang="en-US" sz="2200" dirty="0"/>
          </a:p>
        </p:txBody>
      </p:sp>
      <p:sp>
        <p:nvSpPr>
          <p:cNvPr id="10" name="Shape 8"/>
          <p:cNvSpPr/>
          <p:nvPr/>
        </p:nvSpPr>
        <p:spPr>
          <a:xfrm>
            <a:off x="7726680" y="2468880"/>
            <a:ext cx="3776472" cy="2286000"/>
          </a:xfrm>
          <a:prstGeom prst="roundRect">
            <a:avLst>
              <a:gd name="adj" fmla="val 4800"/>
            </a:avLst>
          </a:prstGeom>
          <a:solidFill>
            <a:srgbClr val="1C1C1E"/>
          </a:solidFill>
          <a:ln w="12700">
            <a:solidFill>
              <a:srgbClr val="1C1C1E"/>
            </a:solidFill>
            <a:prstDash val="solid"/>
          </a:ln>
        </p:spPr>
      </p:sp>
      <p:sp>
        <p:nvSpPr>
          <p:cNvPr id="11" name="Text 9"/>
          <p:cNvSpPr txBox="1"/>
          <p:nvPr/>
        </p:nvSpPr>
        <p:spPr>
          <a:xfrm>
            <a:off x="8046720" y="2724912"/>
            <a:ext cx="2743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TESTEN</a:t>
            </a:r>
            <a:endParaRPr lang="en-US" sz="1200" dirty="0"/>
          </a:p>
        </p:txBody>
      </p:sp>
      <p:sp>
        <p:nvSpPr>
          <p:cNvPr id="12" name="Text 10"/>
          <p:cNvSpPr txBox="1"/>
          <p:nvPr/>
        </p:nvSpPr>
        <p:spPr>
          <a:xfrm>
            <a:off x="8046720" y="3108960"/>
            <a:ext cx="3200400" cy="1463040"/>
          </a:xfrm>
          <a:prstGeom prst="rect">
            <a:avLst/>
          </a:prstGeom>
          <a:noFill/>
          <a:ln/>
        </p:spPr>
        <p:txBody>
          <a:bodyPr wrap="square" lIns="0" tIns="0" rIns="0" bIns="0" rtlCol="0" anchor="t"/>
          <a:lstStyle/>
          <a:p>
            <a:pPr indent="0" marL="0">
              <a:buNone/>
            </a:pPr>
            <a:r>
              <a:rPr lang="en-US" sz="2000" b="1" dirty="0">
                <a:solidFill>
                  <a:schemeClr val="bg1"/>
                </a:solidFill>
              </a:rPr>
              <a:t>100 kr., 60 kr. og 10 % rabat giver 33,3 % mersalg</a:t>
            </a:r>
            <a:endParaRPr lang="en-US" sz="2000" dirty="0"/>
          </a:p>
        </p:txBody>
      </p:sp>
      <p:sp>
        <p:nvSpPr>
          <p:cNvPr id="13" name="Text 11"/>
          <p:cNvSpPr txBox="1"/>
          <p:nvPr/>
        </p:nvSpPr>
        <p:spPr>
          <a:xfrm>
            <a:off x="685800" y="5486400"/>
            <a:ext cx="10058400" cy="548640"/>
          </a:xfrm>
          <a:prstGeom prst="rect">
            <a:avLst/>
          </a:prstGeom>
          <a:noFill/>
          <a:ln/>
        </p:spPr>
        <p:txBody>
          <a:bodyPr wrap="square" lIns="0" tIns="0" rIns="0" bIns="0" rtlCol="0" anchor="t"/>
          <a:lstStyle/>
          <a:p>
            <a:pPr indent="0" marL="0">
              <a:buNone/>
            </a:pPr>
            <a:r>
              <a:rPr lang="en-US" sz="2400" b="1" dirty="0">
                <a:solidFill>
                  <a:schemeClr val="accent3"/>
                </a:solidFill>
              </a:rPr>
              <a:t>Prompt. Byg. Gennemgå. Push. Test.</a:t>
            </a:r>
            <a:endParaRPr 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LIVE BUILD</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Scan koden, og test appen, </a:t>
            </a:r>
            <a:pPr algn="l" indent="0" marL="0">
              <a:lnSpc>
                <a:spcPct val="93000"/>
              </a:lnSpc>
              <a:buNone/>
            </a:pPr>
            <a:r>
              <a:rPr lang="en-US" sz="3400" b="1" dirty="0">
                <a:solidFill>
                  <a:schemeClr val="accent1"/>
                </a:solidFill>
              </a:rPr>
              <a:t>når den er online</a:t>
            </a:r>
            <a:endParaRPr lang="en-US" sz="3400" dirty="0"/>
          </a:p>
        </p:txBody>
      </p:sp>
      <p:sp>
        <p:nvSpPr>
          <p:cNvPr id="4" name="Text 2"/>
          <p:cNvSpPr txBox="1"/>
          <p:nvPr/>
        </p:nvSpPr>
        <p:spPr>
          <a:xfrm>
            <a:off x="685800" y="2560320"/>
            <a:ext cx="5669280" cy="1280160"/>
          </a:xfrm>
          <a:prstGeom prst="rect">
            <a:avLst/>
          </a:prstGeom>
          <a:noFill/>
          <a:ln/>
        </p:spPr>
        <p:txBody>
          <a:bodyPr wrap="square" lIns="0" tIns="0" rIns="0" bIns="0" rtlCol="0" anchor="t"/>
          <a:lstStyle/>
          <a:p>
            <a:pPr indent="0" marL="0">
              <a:buNone/>
            </a:pPr>
            <a:r>
              <a:rPr lang="en-US" sz="2400" dirty="0">
                <a:solidFill>
                  <a:schemeClr val="bg1"/>
                </a:solidFill>
              </a:rPr>
              <a:t>Find en fejl, eller foreslå en forbedring. Så bygger vi én runde mere.</a:t>
            </a:r>
            <a:endParaRPr lang="en-US" sz="2400" dirty="0"/>
          </a:p>
        </p:txBody>
      </p:sp>
      <p:sp>
        <p:nvSpPr>
          <p:cNvPr id="5" name="Shape 3"/>
          <p:cNvSpPr/>
          <p:nvPr/>
        </p:nvSpPr>
        <p:spPr>
          <a:xfrm>
            <a:off x="7863840" y="2240280"/>
            <a:ext cx="3291840" cy="3291840"/>
          </a:xfrm>
          <a:prstGeom prst="roundRect">
            <a:avLst>
              <a:gd name="adj" fmla="val 3333"/>
            </a:avLst>
          </a:prstGeom>
          <a:solidFill>
            <a:srgbClr val="1C1C1E"/>
          </a:solidFill>
          <a:ln w="15875">
            <a:solidFill>
              <a:srgbClr val="A1A1A6"/>
            </a:solidFill>
            <a:prstDash val="dash"/>
          </a:ln>
        </p:spPr>
      </p:sp>
      <p:sp>
        <p:nvSpPr>
          <p:cNvPr id="6" name="Text 4"/>
          <p:cNvSpPr txBox="1"/>
          <p:nvPr/>
        </p:nvSpPr>
        <p:spPr>
          <a:xfrm>
            <a:off x="8138160" y="3383280"/>
            <a:ext cx="2743200" cy="914400"/>
          </a:xfrm>
          <a:prstGeom prst="rect">
            <a:avLst/>
          </a:prstGeom>
          <a:noFill/>
          <a:ln/>
        </p:spPr>
        <p:txBody>
          <a:bodyPr wrap="square" lIns="0" tIns="0" rIns="0" bIns="0" rtlCol="0" anchor="ctr"/>
          <a:lstStyle/>
          <a:p>
            <a:pPr algn="ctr" indent="0" marL="0">
              <a:buNone/>
            </a:pPr>
            <a:r>
              <a:rPr lang="en-US" sz="1500" dirty="0">
                <a:solidFill>
                  <a:schemeClr val="accent3"/>
                </a:solidFill>
              </a:rPr>
              <a:t>Indsæt QR-kode til Vercel-adressen</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6095848" y="0"/>
            <a:ext cx="6095848" cy="6858000"/>
          </a:xfrm>
          <a:prstGeom prst="rect">
            <a:avLst/>
          </a:prstGeom>
          <a:solidFill>
            <a:srgbClr val="0B0B0C"/>
          </a:solidFill>
          <a:ln w="12700">
            <a:solidFill>
              <a:srgbClr val="0B0B0C"/>
            </a:solidFill>
            <a:prstDash val="solid"/>
          </a:ln>
        </p:spPr>
      </p:sp>
      <p:sp>
        <p:nvSpPr>
          <p:cNvPr id="3" name="Text 1"/>
          <p:cNvSpPr txBox="1"/>
          <p:nvPr/>
        </p:nvSpPr>
        <p:spPr>
          <a:xfrm>
            <a:off x="685800" y="1737360"/>
            <a:ext cx="45720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SOM STUDERENDE</a:t>
            </a:r>
            <a:endParaRPr lang="en-US" sz="1200" dirty="0"/>
          </a:p>
        </p:txBody>
      </p:sp>
      <p:sp>
        <p:nvSpPr>
          <p:cNvPr id="4" name="Text 2"/>
          <p:cNvSpPr txBox="1"/>
          <p:nvPr/>
        </p:nvSpPr>
        <p:spPr>
          <a:xfrm>
            <a:off x="685800" y="2103120"/>
            <a:ext cx="5044288" cy="2194560"/>
          </a:xfrm>
          <a:prstGeom prst="rect">
            <a:avLst/>
          </a:prstGeom>
          <a:noFill/>
          <a:ln/>
        </p:spPr>
        <p:txBody>
          <a:bodyPr wrap="square" lIns="0" tIns="0" rIns="0" bIns="0" rtlCol="0" anchor="t"/>
          <a:lstStyle/>
          <a:p>
            <a:pPr indent="0" marL="0">
              <a:lnSpc>
                <a:spcPct val="90000"/>
              </a:lnSpc>
              <a:buNone/>
            </a:pPr>
            <a:r>
              <a:rPr lang="en-US" sz="6400" b="1" dirty="0">
                <a:solidFill>
                  <a:schemeClr val="tx1"/>
                </a:solidFill>
              </a:rPr>
              <a:t>Tænk</a:t>
            </a:r>
            <a:endParaRPr lang="en-US" sz="6400" dirty="0"/>
          </a:p>
          <a:p>
            <a:pPr indent="0" marL="0">
              <a:lnSpc>
                <a:spcPct val="90000"/>
              </a:lnSpc>
              <a:buNone/>
            </a:pPr>
            <a:r>
              <a:rPr lang="en-US" sz="6400" b="1" dirty="0">
                <a:solidFill>
                  <a:schemeClr val="tx1"/>
                </a:solidFill>
              </a:rPr>
              <a:t>selv.</a:t>
            </a:r>
            <a:endParaRPr lang="en-US" sz="6400" dirty="0"/>
          </a:p>
        </p:txBody>
      </p:sp>
      <p:sp>
        <p:nvSpPr>
          <p:cNvPr id="5" name="Text 3"/>
          <p:cNvSpPr txBox="1"/>
          <p:nvPr/>
        </p:nvSpPr>
        <p:spPr>
          <a:xfrm>
            <a:off x="685800" y="4526280"/>
            <a:ext cx="4678528" cy="914400"/>
          </a:xfrm>
          <a:prstGeom prst="rect">
            <a:avLst/>
          </a:prstGeom>
          <a:noFill/>
          <a:ln/>
        </p:spPr>
        <p:txBody>
          <a:bodyPr wrap="square" lIns="0" tIns="0" rIns="0" bIns="0" rtlCol="0" anchor="t"/>
          <a:lstStyle/>
          <a:p>
            <a:pPr indent="0" marL="0">
              <a:buNone/>
            </a:pPr>
            <a:r>
              <a:rPr lang="en-US" sz="1900" dirty="0">
                <a:solidFill>
                  <a:schemeClr val="accent2"/>
                </a:solidFill>
              </a:rPr>
              <a:t>Lær det først. Brug AI som sparringspartner.</a:t>
            </a:r>
            <a:endParaRPr lang="en-US" sz="1900" dirty="0"/>
          </a:p>
        </p:txBody>
      </p:sp>
      <p:sp>
        <p:nvSpPr>
          <p:cNvPr id="6" name="Text 4"/>
          <p:cNvSpPr txBox="1"/>
          <p:nvPr/>
        </p:nvSpPr>
        <p:spPr>
          <a:xfrm>
            <a:off x="6644488" y="1737360"/>
            <a:ext cx="4572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I JOBBET</a:t>
            </a:r>
            <a:endParaRPr lang="en-US" sz="1200" dirty="0"/>
          </a:p>
        </p:txBody>
      </p:sp>
      <p:sp>
        <p:nvSpPr>
          <p:cNvPr id="7" name="Text 5"/>
          <p:cNvSpPr txBox="1"/>
          <p:nvPr/>
        </p:nvSpPr>
        <p:spPr>
          <a:xfrm>
            <a:off x="6644488" y="2103120"/>
            <a:ext cx="4998568" cy="2194560"/>
          </a:xfrm>
          <a:prstGeom prst="rect">
            <a:avLst/>
          </a:prstGeom>
          <a:noFill/>
          <a:ln/>
        </p:spPr>
        <p:txBody>
          <a:bodyPr wrap="square" lIns="0" tIns="0" rIns="0" bIns="0" rtlCol="0" anchor="t"/>
          <a:lstStyle/>
          <a:p>
            <a:pPr indent="0" marL="0">
              <a:lnSpc>
                <a:spcPct val="90000"/>
              </a:lnSpc>
              <a:buNone/>
            </a:pPr>
            <a:r>
              <a:rPr lang="en-US" sz="6400" b="1" dirty="0">
                <a:solidFill>
                  <a:schemeClr val="bg1"/>
                </a:solidFill>
              </a:rPr>
              <a:t>Brug AI</a:t>
            </a:r>
            <a:endParaRPr lang="en-US" sz="6400" dirty="0"/>
          </a:p>
          <a:p>
            <a:pPr indent="0" marL="0">
              <a:lnSpc>
                <a:spcPct val="90000"/>
              </a:lnSpc>
              <a:buNone/>
            </a:pPr>
            <a:r>
              <a:rPr lang="en-US" sz="6400" b="1" dirty="0">
                <a:solidFill>
                  <a:schemeClr val="accent1"/>
                </a:solidFill>
              </a:rPr>
              <a:t>fuldt ud.</a:t>
            </a:r>
            <a:endParaRPr lang="en-US" sz="6400" dirty="0"/>
          </a:p>
        </p:txBody>
      </p:sp>
      <p:sp>
        <p:nvSpPr>
          <p:cNvPr id="8" name="Text 6"/>
          <p:cNvSpPr txBox="1"/>
          <p:nvPr/>
        </p:nvSpPr>
        <p:spPr>
          <a:xfrm>
            <a:off x="6644488" y="4526280"/>
            <a:ext cx="4815688" cy="914400"/>
          </a:xfrm>
          <a:prstGeom prst="rect">
            <a:avLst/>
          </a:prstGeom>
          <a:noFill/>
          <a:ln/>
        </p:spPr>
        <p:txBody>
          <a:bodyPr wrap="square" lIns="0" tIns="0" rIns="0" bIns="0" rtlCol="0" anchor="t"/>
          <a:lstStyle/>
          <a:p>
            <a:pPr indent="0" marL="0">
              <a:buNone/>
            </a:pPr>
            <a:r>
              <a:rPr lang="en-US" sz="1900" dirty="0">
                <a:solidFill>
                  <a:schemeClr val="accent3"/>
                </a:solidFill>
              </a:rPr>
              <a:t>Tag svarene. Kør arbejdsgangene. Byg dine egne værktøjer.</a:t>
            </a:r>
            <a:endParaRPr lang="en-US" sz="1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EXIT TICKET</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Skriv </a:t>
            </a:r>
            <a:pPr algn="l" indent="0" marL="0">
              <a:lnSpc>
                <a:spcPct val="93000"/>
              </a:lnSpc>
              <a:buNone/>
            </a:pPr>
            <a:r>
              <a:rPr lang="en-US" sz="3400" b="1" dirty="0">
                <a:solidFill>
                  <a:schemeClr val="accent1"/>
                </a:solidFill>
              </a:rPr>
              <a:t>to ting</a:t>
            </a:r>
            <a:pPr algn="l" indent="0" marL="0">
              <a:lnSpc>
                <a:spcPct val="93000"/>
              </a:lnSpc>
              <a:buNone/>
            </a:pPr>
            <a:r>
              <a:rPr lang="en-US" sz="3400" b="1" dirty="0">
                <a:solidFill>
                  <a:schemeClr val="tx1"/>
                </a:solidFill>
              </a:rPr>
              <a:t>, før du går</a:t>
            </a:r>
            <a:endParaRPr lang="en-US" sz="3400" dirty="0"/>
          </a:p>
        </p:txBody>
      </p:sp>
      <p:sp>
        <p:nvSpPr>
          <p:cNvPr id="4" name="Text 2"/>
          <p:cNvSpPr txBox="1"/>
          <p:nvPr/>
        </p:nvSpPr>
        <p:spPr>
          <a:xfrm>
            <a:off x="685800" y="2377440"/>
            <a:ext cx="914400" cy="1097280"/>
          </a:xfrm>
          <a:prstGeom prst="rect">
            <a:avLst/>
          </a:prstGeom>
          <a:noFill/>
          <a:ln/>
        </p:spPr>
        <p:txBody>
          <a:bodyPr wrap="square" lIns="0" tIns="0" rIns="0" bIns="0" rtlCol="0" anchor="t"/>
          <a:lstStyle/>
          <a:p>
            <a:pPr indent="0" marL="0">
              <a:buNone/>
            </a:pPr>
            <a:r>
              <a:rPr lang="en-US" sz="8000" b="1" dirty="0">
                <a:solidFill>
                  <a:schemeClr val="accent1"/>
                </a:solidFill>
              </a:rPr>
              <a:t>1</a:t>
            </a:r>
            <a:endParaRPr lang="en-US" sz="8000" dirty="0"/>
          </a:p>
        </p:txBody>
      </p:sp>
      <p:sp>
        <p:nvSpPr>
          <p:cNvPr id="5" name="Text 3"/>
          <p:cNvSpPr txBox="1"/>
          <p:nvPr/>
        </p:nvSpPr>
        <p:spPr>
          <a:xfrm>
            <a:off x="1874520" y="2606040"/>
            <a:ext cx="8686800" cy="1097280"/>
          </a:xfrm>
          <a:prstGeom prst="rect">
            <a:avLst/>
          </a:prstGeom>
          <a:noFill/>
          <a:ln/>
        </p:spPr>
        <p:txBody>
          <a:bodyPr wrap="square" lIns="0" tIns="0" rIns="0" bIns="0" rtlCol="0" anchor="t"/>
          <a:lstStyle/>
          <a:p>
            <a:pPr indent="0" marL="0">
              <a:buNone/>
            </a:pPr>
            <a:r>
              <a:rPr lang="en-US" sz="2800" b="1" dirty="0">
                <a:solidFill>
                  <a:schemeClr val="tx1"/>
                </a:solidFill>
              </a:rPr>
              <a:t>Én arbejdsgang fra i dag, du vil bruge i dit studiejob eller din praktik.</a:t>
            </a:r>
            <a:endParaRPr lang="en-US" sz="2800" dirty="0"/>
          </a:p>
        </p:txBody>
      </p:sp>
      <p:sp>
        <p:nvSpPr>
          <p:cNvPr id="6" name="Text 4"/>
          <p:cNvSpPr txBox="1"/>
          <p:nvPr/>
        </p:nvSpPr>
        <p:spPr>
          <a:xfrm>
            <a:off x="685800" y="3977640"/>
            <a:ext cx="914400" cy="1097280"/>
          </a:xfrm>
          <a:prstGeom prst="rect">
            <a:avLst/>
          </a:prstGeom>
          <a:noFill/>
          <a:ln/>
        </p:spPr>
        <p:txBody>
          <a:bodyPr wrap="square" lIns="0" tIns="0" rIns="0" bIns="0" rtlCol="0" anchor="t"/>
          <a:lstStyle/>
          <a:p>
            <a:pPr indent="0" marL="0">
              <a:buNone/>
            </a:pPr>
            <a:r>
              <a:rPr lang="en-US" sz="8000" b="1" dirty="0">
                <a:solidFill>
                  <a:schemeClr val="accent1"/>
                </a:solidFill>
              </a:rPr>
              <a:t>2</a:t>
            </a:r>
            <a:endParaRPr lang="en-US" sz="8000" dirty="0"/>
          </a:p>
        </p:txBody>
      </p:sp>
      <p:sp>
        <p:nvSpPr>
          <p:cNvPr id="7" name="Text 5"/>
          <p:cNvSpPr txBox="1"/>
          <p:nvPr/>
        </p:nvSpPr>
        <p:spPr>
          <a:xfrm>
            <a:off x="1874520" y="4206240"/>
            <a:ext cx="8686800" cy="1097280"/>
          </a:xfrm>
          <a:prstGeom prst="rect">
            <a:avLst/>
          </a:prstGeom>
          <a:noFill/>
          <a:ln/>
        </p:spPr>
        <p:txBody>
          <a:bodyPr wrap="square" lIns="0" tIns="0" rIns="0" bIns="0" rtlCol="0" anchor="t"/>
          <a:lstStyle/>
          <a:p>
            <a:pPr indent="0" marL="0">
              <a:buNone/>
            </a:pPr>
            <a:r>
              <a:rPr lang="en-US" sz="2800" b="1" dirty="0">
                <a:solidFill>
                  <a:schemeClr val="tx1"/>
                </a:solidFill>
              </a:rPr>
              <a:t>Én ting, du vil lære selv, før du lader AI gøre det.</a:t>
            </a:r>
            <a:endParaRPr lang="en-US" sz="2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1371600"/>
            <a:ext cx="10058400" cy="3291840"/>
          </a:xfrm>
          <a:prstGeom prst="rect">
            <a:avLst/>
          </a:prstGeom>
          <a:noFill/>
          <a:ln/>
        </p:spPr>
        <p:txBody>
          <a:bodyPr wrap="square" lIns="0" tIns="0" rIns="0" bIns="0" rtlCol="0" anchor="b"/>
          <a:lstStyle/>
          <a:p>
            <a:pPr indent="0" marL="0">
              <a:lnSpc>
                <a:spcPct val="88000"/>
              </a:lnSpc>
              <a:buNone/>
            </a:pPr>
            <a:r>
              <a:rPr lang="en-US" sz="11000" b="1" dirty="0">
                <a:solidFill>
                  <a:schemeClr val="bg1"/>
                </a:solidFill>
              </a:rPr>
              <a:t>Tænk selv.</a:t>
            </a:r>
            <a:endParaRPr lang="en-US" sz="11000" dirty="0"/>
          </a:p>
          <a:p>
            <a:pPr indent="0" marL="0">
              <a:lnSpc>
                <a:spcPct val="88000"/>
              </a:lnSpc>
              <a:buNone/>
            </a:pPr>
            <a:r>
              <a:rPr lang="en-US" sz="11000" b="1" dirty="0">
                <a:solidFill>
                  <a:schemeClr val="accent1"/>
                </a:solidFill>
              </a:rPr>
              <a:t>Brug AI.</a:t>
            </a:r>
            <a:endParaRPr lang="en-US" sz="11000" dirty="0"/>
          </a:p>
        </p:txBody>
      </p:sp>
      <p:sp>
        <p:nvSpPr>
          <p:cNvPr id="3" name="Text 1"/>
          <p:cNvSpPr txBox="1"/>
          <p:nvPr/>
        </p:nvSpPr>
        <p:spPr>
          <a:xfrm>
            <a:off x="685800" y="5029200"/>
            <a:ext cx="9144000" cy="365760"/>
          </a:xfrm>
          <a:prstGeom prst="rect">
            <a:avLst/>
          </a:prstGeom>
          <a:noFill/>
          <a:ln/>
        </p:spPr>
        <p:txBody>
          <a:bodyPr wrap="square" lIns="0" tIns="0" rIns="0" bIns="0" rtlCol="0" anchor="t"/>
          <a:lstStyle/>
          <a:p>
            <a:pPr indent="0" marL="0">
              <a:buNone/>
            </a:pPr>
            <a:r>
              <a:rPr lang="en-US" sz="1800" dirty="0">
                <a:solidFill>
                  <a:schemeClr val="accent3"/>
                </a:solidFill>
              </a:rPr>
              <a:t>Andreas Riis Nielsen  ·  UCL Vejle  ·  Handelsøkonom</a:t>
            </a:r>
            <a:endParaRPr lang="en-US" sz="1800" dirty="0"/>
          </a:p>
        </p:txBody>
      </p:sp>
    </p:spTree>
  </p:cSld>
  <p:clrMapOvr>
    <a:masterClrMapping/>
  </p:clrMapOvr>
</p:sld>
</file>

<file path=ppt/theme/theme1.xml><?xml version="1.0" encoding="utf-8"?>
<a:theme xmlns:a="http://schemas.openxmlformats.org/drawingml/2006/main" name="Tænk selv Handelsøkonom">
  <a:themeElements>
    <a:clrScheme name="Tænk selv Handelsøkonom">
      <a:dk1>
        <a:srgbClr val="1D1D1F"/>
      </a:dk1>
      <a:lt1>
        <a:srgbClr val="FFFFFF"/>
      </a:lt1>
      <a:dk2>
        <a:srgbClr val="0B0B0C"/>
      </a:dk2>
      <a:lt2>
        <a:srgbClr val="F5F5F7"/>
      </a:lt2>
      <a:accent1>
        <a:srgbClr val="EE4B1A"/>
      </a:accent1>
      <a:accent2>
        <a:srgbClr val="6E6E73"/>
      </a:accent2>
      <a:accent3>
        <a:srgbClr val="A1A1A6"/>
      </a:accent3>
      <a:accent4>
        <a:srgbClr val="D2D2D7"/>
      </a:accent4>
      <a:accent5>
        <a:srgbClr val="3A3A3C"/>
      </a:accent5>
      <a:accent6>
        <a:srgbClr val="1C1C1E"/>
      </a:accent6>
      <a:hlink>
        <a:srgbClr val="EE4B1A"/>
      </a:hlink>
      <a:folHlink>
        <a:srgbClr val="6E6E73"/>
      </a:folHlink>
    </a:clrScheme>
    <a:fontScheme name="Tænk selv Handelsøkonom">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Tænk selv. Brug AI. Handelsøkonom</dc:title>
  <dc:subject>PptxGenJS Presentation</dc:subject>
  <dc:creator>Andreas Riis Nielsen</dc:creator>
  <cp:lastModifiedBy>Andreas Riis Nielsen</cp:lastModifiedBy>
  <cp:revision>1</cp:revision>
  <dcterms:created xsi:type="dcterms:W3CDTF">2026-10-08T12:52:04Z</dcterms:created>
  <dcterms:modified xsi:type="dcterms:W3CDTF">2026-10-08T12:52:04Z</dcterms:modified>
</cp:coreProperties>
</file>